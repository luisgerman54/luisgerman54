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embeddedFontLst>
    <p:embeddedFont>
      <p:font typeface="Sorts Mill Goudy" charset="-122" pitchFamily="34"/>
      <p:regular r:id="rId30"/>
    </p:embeddedFont>
    <p:embeddedFont>
      <p:font typeface="MiSans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Relationship Id="rId3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centerresources.com/70c0cc1376aa7428b0f3f4e9ed3f9de04c62e2e3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5538" r="1553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2990850" cy="342900"/>
          </a:xfrm>
          <a:custGeom>
            <a:avLst/>
            <a:gdLst/>
            <a:ahLst/>
            <a:cxnLst/>
            <a:rect l="l" t="t" r="r" b="b"/>
            <a:pathLst>
              <a:path w="2990850" h="342900">
                <a:moveTo>
                  <a:pt x="0" y="0"/>
                </a:moveTo>
                <a:lnTo>
                  <a:pt x="2990850" y="0"/>
                </a:lnTo>
                <a:lnTo>
                  <a:pt x="29908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30575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BENCHMARK STUDY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11840" y="3810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Version 1.0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11840" y="5715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March 25,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3907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ML Inference Microservice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0481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31482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vs Spring Boot — Comparative Benchmark Study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8384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23888" y="6286500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Regression Model (20 features)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79671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3303508" y="6286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 Load Scenarios (1K-10K Users)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6604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5689878" y="62865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4-Core Test Environment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66850"/>
            <a:ext cx="5467350" cy="1238250"/>
          </a:xfrm>
          <a:custGeom>
            <a:avLst/>
            <a:gdLst/>
            <a:ahLst/>
            <a:cxnLst/>
            <a:rect l="l" t="t" r="r" b="b"/>
            <a:pathLst>
              <a:path w="5467350" h="1238250">
                <a:moveTo>
                  <a:pt x="0" y="0"/>
                </a:moveTo>
                <a:lnTo>
                  <a:pt x="5467350" y="0"/>
                </a:lnTo>
                <a:lnTo>
                  <a:pt x="54673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668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1657350"/>
            <a:ext cx="23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155" y="1657350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155" y="200025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findings, overall verdict, and production recommendation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3650" y="1466850"/>
            <a:ext cx="5467350" cy="1238250"/>
          </a:xfrm>
          <a:custGeom>
            <a:avLst/>
            <a:gdLst/>
            <a:ahLst/>
            <a:cxnLst/>
            <a:rect l="l" t="t" r="r" b="b"/>
            <a:pathLst>
              <a:path w="5467350" h="1238250">
                <a:moveTo>
                  <a:pt x="0" y="0"/>
                </a:moveTo>
                <a:lnTo>
                  <a:pt x="5467350" y="0"/>
                </a:lnTo>
                <a:lnTo>
                  <a:pt x="54673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43650" y="146685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1657350"/>
            <a:ext cx="27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39426" y="165735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Environment &amp;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39426" y="2000250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Hardware specs, framework configurations, and concurrency models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931080"/>
            <a:ext cx="5467350" cy="1466850"/>
          </a:xfrm>
          <a:custGeom>
            <a:avLst/>
            <a:gdLst/>
            <a:ahLst/>
            <a:cxnLst/>
            <a:rect l="l" t="t" r="r" b="b"/>
            <a:pathLst>
              <a:path w="5467350" h="1466850">
                <a:moveTo>
                  <a:pt x="0" y="0"/>
                </a:moveTo>
                <a:lnTo>
                  <a:pt x="5467350" y="0"/>
                </a:lnTo>
                <a:lnTo>
                  <a:pt x="54673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293108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3121580"/>
            <a:ext cx="257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491" y="312158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Load Test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491" y="346448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Throughput, latency percentiles, and resource utilization across 4 scenarios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43650" y="2931080"/>
            <a:ext cx="5467350" cy="1466850"/>
          </a:xfrm>
          <a:custGeom>
            <a:avLst/>
            <a:gdLst/>
            <a:ahLst/>
            <a:cxnLst/>
            <a:rect l="l" t="t" r="r" b="b"/>
            <a:pathLst>
              <a:path w="5467350" h="1466850">
                <a:moveTo>
                  <a:pt x="0" y="0"/>
                </a:moveTo>
                <a:lnTo>
                  <a:pt x="5467350" y="0"/>
                </a:lnTo>
                <a:lnTo>
                  <a:pt x="54673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43650" y="293108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200" y="3121580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9666" y="3121580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Scaling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49666" y="346448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ceiling, latency degradation, and memory stability under load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4624031"/>
            <a:ext cx="5467350" cy="1238250"/>
          </a:xfrm>
          <a:custGeom>
            <a:avLst/>
            <a:gdLst/>
            <a:ahLst/>
            <a:cxnLst/>
            <a:rect l="l" t="t" r="r" b="b"/>
            <a:pathLst>
              <a:path w="5467350" h="1238250">
                <a:moveTo>
                  <a:pt x="0" y="0"/>
                </a:moveTo>
                <a:lnTo>
                  <a:pt x="5467350" y="0"/>
                </a:lnTo>
                <a:lnTo>
                  <a:pt x="54673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4624031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09600" y="4814531"/>
            <a:ext cx="23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750" y="4814531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750" y="5157431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explanations for performance differences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3650" y="4624031"/>
            <a:ext cx="5467350" cy="1238250"/>
          </a:xfrm>
          <a:custGeom>
            <a:avLst/>
            <a:gdLst/>
            <a:ahLst/>
            <a:cxnLst/>
            <a:rect l="l" t="t" r="r" b="b"/>
            <a:pathLst>
              <a:path w="5467350" h="1238250">
                <a:moveTo>
                  <a:pt x="0" y="0"/>
                </a:moveTo>
                <a:lnTo>
                  <a:pt x="5467350" y="0"/>
                </a:lnTo>
                <a:lnTo>
                  <a:pt x="546735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43650" y="4624031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553200" y="4814531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47642" y="4814531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 Recommendations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47642" y="5157431"/>
            <a:ext cx="484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configurations and use case guidance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6092191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" y="6263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 based on Locust load testing with 180-second duration per scenario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ultimatevs.co.uk/8c704dcfa8be29c55e8a340d9ad3b32a7d28f7f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4" b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Executive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findings and overall verdict from the comparative benchmark study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1.1 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Overall Verdict: Spring Boot Emerges as Clear Winner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38250"/>
            <a:ext cx="5600700" cy="1524000"/>
          </a:xfrm>
          <a:custGeom>
            <a:avLst/>
            <a:gdLst/>
            <a:ahLst/>
            <a:cxnLst/>
            <a:rect l="l" t="t" r="r" b="b"/>
            <a:pathLst>
              <a:path w="5600700" h="15240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85900"/>
                </a:lnTo>
                <a:cubicBezTo>
                  <a:pt x="5600700" y="1506928"/>
                  <a:pt x="5583628" y="1524000"/>
                  <a:pt x="55626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524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4287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733431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+ ONNX Runtime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76331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Recommended for production deployment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 financial trading systems requiring low-latency ML inference at scale.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914531"/>
            <a:ext cx="38100" cy="3562350"/>
          </a:xfrm>
          <a:custGeom>
            <a:avLst/>
            <a:gdLst/>
            <a:ahLst/>
            <a:cxnLst/>
            <a:rect l="l" t="t" r="r" b="b"/>
            <a:pathLst>
              <a:path w="38100" h="3562350">
                <a:moveTo>
                  <a:pt x="0" y="0"/>
                </a:moveTo>
                <a:lnTo>
                  <a:pt x="38100" y="0"/>
                </a:lnTo>
                <a:lnTo>
                  <a:pt x="38100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3590806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Performance Advantages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40099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738" y="400990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48%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4009906"/>
            <a:ext cx="390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Throughput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4276606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Consistently outperforms FastAPI across all load scenarios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6576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738" y="465760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2-3×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" y="4657606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P99 Tail Latency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" y="4924306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for SLA-guaranteed services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53053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738" y="530530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5305306"/>
            <a:ext cx="361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5572006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 failures across all tested load levels (1K-10K users)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238250"/>
            <a:ext cx="5581650" cy="1847850"/>
          </a:xfrm>
          <a:custGeom>
            <a:avLst/>
            <a:gdLst/>
            <a:ahLst/>
            <a:cxnLst/>
            <a:rect l="l" t="t" r="r" b="b"/>
            <a:pathLst>
              <a:path w="5581650" h="1847850">
                <a:moveTo>
                  <a:pt x="0" y="0"/>
                </a:moveTo>
                <a:lnTo>
                  <a:pt x="5581650" y="0"/>
                </a:lnTo>
                <a:lnTo>
                  <a:pt x="5581650" y="1847850"/>
                </a:lnTo>
                <a:lnTo>
                  <a:pt x="0" y="1847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12382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0" y="18478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438900" y="142875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Stable Memory Footprint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8900" y="18097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maintains predictable memory consumption (~750-800MB) under extreme load, while FastAPI memory grows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3.9×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as processes accumulate queued connections.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2667000"/>
            <a:ext cx="15240" cy="228600"/>
          </a:xfrm>
          <a:custGeom>
            <a:avLst/>
            <a:gdLst/>
            <a:ahLst/>
            <a:cxnLst/>
            <a:rect l="l" t="t" r="r" b="b"/>
            <a:pathLst>
              <a:path w="15240" h="228600">
                <a:moveTo>
                  <a:pt x="0" y="0"/>
                </a:moveTo>
                <a:lnTo>
                  <a:pt x="15240" y="0"/>
                </a:lnTo>
                <a:lnTo>
                  <a:pt x="1524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900" y="2667000"/>
            <a:ext cx="5238750" cy="228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for Kubernetes resource limits and auto-scaling configurations.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0300" y="3238500"/>
            <a:ext cx="5600700" cy="3238500"/>
          </a:xfrm>
          <a:custGeom>
            <a:avLst/>
            <a:gdLst/>
            <a:ahLst/>
            <a:cxnLst/>
            <a:rect l="l" t="t" r="r" b="b"/>
            <a:pathLst>
              <a:path w="5600700" h="3238500">
                <a:moveTo>
                  <a:pt x="0" y="0"/>
                </a:moveTo>
                <a:lnTo>
                  <a:pt x="5600700" y="0"/>
                </a:lnTo>
                <a:lnTo>
                  <a:pt x="56007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24613" y="4210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2" name="Text 30"/>
          <p:cNvSpPr/>
          <p:nvPr/>
        </p:nvSpPr>
        <p:spPr>
          <a:xfrm>
            <a:off x="6638925" y="417195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 Recommendation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4552950"/>
            <a:ext cx="5295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loan/CLO trading platforms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requiring low-latency ML inference at scale,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+ ONNX Runtime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 the superior choice. It delivers superior throughput, significantly lower tail latency, and demonstrates exceptional resilience under extreme load conditions.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bytebytego.com/40675ce2bb90d85e5d3e43d80544e3d8c15769b9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9764" b="2976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Environment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&amp; Architecture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Hardware specifications and framework configurations under test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2.1 TEST ENVIRONMENT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Environment Configuration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00150"/>
            <a:ext cx="38100" cy="2009775"/>
          </a:xfrm>
          <a:custGeom>
            <a:avLst/>
            <a:gdLst/>
            <a:ahLst/>
            <a:cxnLst/>
            <a:rect l="l" t="t" r="r" b="b"/>
            <a:pathLst>
              <a:path w="38100" h="2009775">
                <a:moveTo>
                  <a:pt x="0" y="0"/>
                </a:moveTo>
                <a:lnTo>
                  <a:pt x="38100" y="0"/>
                </a:lnTo>
                <a:lnTo>
                  <a:pt x="38100" y="2009775"/>
                </a:lnTo>
                <a:lnTo>
                  <a:pt x="0" y="20097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45319" y="1238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20015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Hardware &amp;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927860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63830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5764" y="16383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ctadev-vd-58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354580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06502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73034" y="206502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Windows NT 10.0.26100.0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2781301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2491741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CPU Cores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2491741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 cores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208019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2918459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PowerShell Version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02186" y="2918459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5.1.26100.7462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364232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33413" y="34023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7725" y="3364232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Model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3745232"/>
            <a:ext cx="5372100" cy="1409700"/>
          </a:xfrm>
          <a:custGeom>
            <a:avLst/>
            <a:gdLst/>
            <a:ahLst/>
            <a:cxnLst/>
            <a:rect l="l" t="t" r="r" b="b"/>
            <a:pathLst>
              <a:path w="5372100" h="1409700">
                <a:moveTo>
                  <a:pt x="0" y="0"/>
                </a:moveTo>
                <a:lnTo>
                  <a:pt x="5372100" y="0"/>
                </a:lnTo>
                <a:lnTo>
                  <a:pt x="5372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3897632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Regression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4240532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 input features — representative of typical ML inference workloads in financial risk assessment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1050" y="48406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887" y="4812032"/>
            <a:ext cx="3514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complexity simulates real-world production scenarios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9350" y="120015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2713" y="1238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7025" y="120015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Load Testing Methodology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7950" y="1619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43700" y="15811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Tool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3700" y="18097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Locust 2.43.3 — industry-standard load testing framework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2190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743700" y="215265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Duration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43700" y="238125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180 seconds per phase — sufficient for steady-state measurement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7950" y="2762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743700" y="27241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Spawn Rate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43700" y="295275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Users ramped up over 10 seconds, then held steady for 180s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3333750"/>
            <a:ext cx="5600700" cy="2676525"/>
          </a:xfrm>
          <a:custGeom>
            <a:avLst/>
            <a:gdLst/>
            <a:ahLst/>
            <a:cxnLst/>
            <a:rect l="l" t="t" r="r" b="b"/>
            <a:pathLst>
              <a:path w="5600700" h="2676525">
                <a:moveTo>
                  <a:pt x="0" y="0"/>
                </a:moveTo>
                <a:lnTo>
                  <a:pt x="5600700" y="0"/>
                </a:lnTo>
                <a:lnTo>
                  <a:pt x="5600700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594734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Load Test Scenarios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4360544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4051934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Normal Load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0413" y="4051934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1,000 users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4825367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516757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Stress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01006" y="4516757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DC7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2,000 users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0" y="5290185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98157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Stress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20174" y="4981575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90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5,000 users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00800" y="5446398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Overwhelmed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39807" y="5446398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10,000 users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61683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4" name="Shape 52"/>
          <p:cNvSpPr/>
          <p:nvPr/>
        </p:nvSpPr>
        <p:spPr>
          <a:xfrm>
            <a:off x="408384" y="630935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609600" y="6164582"/>
            <a:ext cx="11268075" cy="304800"/>
          </a:xfrm>
          <a:prstGeom prst="rect">
            <a:avLst/>
          </a:prstGeom>
          <a:noFill/>
          <a:ln/>
        </p:spPr>
        <p:txBody>
          <a:bodyPr wrap="square" lIns="0" tIns="11430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Date: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March 25, 2026 |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 Version: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1.0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2.2 ARCHITECTURE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vs Spring Boot: Architectural Differences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207770"/>
            <a:ext cx="5587365" cy="4625340"/>
          </a:xfrm>
          <a:custGeom>
            <a:avLst/>
            <a:gdLst/>
            <a:ahLst/>
            <a:cxnLst/>
            <a:rect l="l" t="t" r="r" b="b"/>
            <a:pathLst>
              <a:path w="5587365" h="4625340">
                <a:moveTo>
                  <a:pt x="0" y="0"/>
                </a:moveTo>
                <a:lnTo>
                  <a:pt x="5587365" y="0"/>
                </a:lnTo>
                <a:lnTo>
                  <a:pt x="5587365" y="4625340"/>
                </a:lnTo>
                <a:lnTo>
                  <a:pt x="0" y="4625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B82F6"/>
            </a:solidFill>
            <a:prstDash val="solid"/>
          </a:ln>
        </p:spPr>
      </p:sp>
      <p:pic>
        <p:nvPicPr>
          <p:cNvPr id="6" name="Image 0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1"/>
          <a:srcRect l="76" r="76" t="0" b="0"/>
          <a:stretch/>
        </p:blipFill>
        <p:spPr>
          <a:xfrm>
            <a:off x="586740" y="1443870"/>
            <a:ext cx="1266825" cy="4572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969770" y="1405891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9770" y="171057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3.14 + Uvicorn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5790" y="20915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739140" y="20915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9140" y="23201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XGBoost (Python C-extension binding)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5790" y="266307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9140" y="26630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Concurrency Model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9140" y="28916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 worker processes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(multi-process, avoids GIL)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9140" y="315837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Threads per worker: 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9140" y="334887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XGBoost threads: 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5790" y="36536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739140" y="36536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CPU Affinity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9140" y="38822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~4 cores shared across 8 processes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5790" y="42251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739140" y="42251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Port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9140" y="44537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8000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6740" y="5025270"/>
            <a:ext cx="5191125" cy="609600"/>
          </a:xfrm>
          <a:custGeom>
            <a:avLst/>
            <a:gdLst/>
            <a:ahLst/>
            <a:cxnLst/>
            <a:rect l="l" t="t" r="r" b="b"/>
            <a:pathLst>
              <a:path w="5191125" h="609600">
                <a:moveTo>
                  <a:pt x="0" y="0"/>
                </a:moveTo>
                <a:lnTo>
                  <a:pt x="5191125" y="0"/>
                </a:lnTo>
                <a:lnTo>
                  <a:pt x="5191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4" name="Text 21"/>
          <p:cNvSpPr/>
          <p:nvPr/>
        </p:nvSpPr>
        <p:spPr>
          <a:xfrm>
            <a:off x="586740" y="5025270"/>
            <a:ext cx="525780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Characteristic: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Multi-process architecture circumvents Python's GIL but introduces IPC overhead and memory duplication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17920" y="1207770"/>
            <a:ext cx="5587365" cy="4625340"/>
          </a:xfrm>
          <a:custGeom>
            <a:avLst/>
            <a:gdLst/>
            <a:ahLst/>
            <a:cxnLst/>
            <a:rect l="l" t="t" r="r" b="b"/>
            <a:pathLst>
              <a:path w="5587365" h="4625340">
                <a:moveTo>
                  <a:pt x="0" y="0"/>
                </a:moveTo>
                <a:lnTo>
                  <a:pt x="5587365" y="0"/>
                </a:lnTo>
                <a:lnTo>
                  <a:pt x="5587365" y="4625340"/>
                </a:lnTo>
                <a:lnTo>
                  <a:pt x="0" y="4625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16040" y="14438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0340" y="1558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987540" y="1405891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87540" y="171057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(JVM) + Tomcat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35090" y="20915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6568440" y="20915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68440" y="23201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ONNX Runtime (native JNI, no GIL equivalent)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35090" y="266307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568440" y="26630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Concurrency Model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568440" y="28916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 Tomcat threads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(shared-memory, no GIL)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68440" y="315837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Max threads: 50 | Min spare: 10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68440" y="334887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ONNX intra-op threads: 4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568440" y="353937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ONNX inter-op threads: 1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35090" y="38441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6568440" y="38441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JVM Configuration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68440" y="40727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Heap: 4GB | GC: G1GC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35090" y="44156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0"/>
          <p:cNvSpPr/>
          <p:nvPr/>
        </p:nvSpPr>
        <p:spPr>
          <a:xfrm>
            <a:off x="6568440" y="44156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Port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68440" y="464427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8080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16040" y="5025270"/>
            <a:ext cx="5191125" cy="609600"/>
          </a:xfrm>
          <a:custGeom>
            <a:avLst/>
            <a:gdLst/>
            <a:ahLst/>
            <a:cxnLst/>
            <a:rect l="l" t="t" r="r" b="b"/>
            <a:pathLst>
              <a:path w="5191125" h="609600">
                <a:moveTo>
                  <a:pt x="0" y="0"/>
                </a:moveTo>
                <a:lnTo>
                  <a:pt x="5191125" y="0"/>
                </a:lnTo>
                <a:lnTo>
                  <a:pt x="5191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6" name="Text 43"/>
          <p:cNvSpPr/>
          <p:nvPr/>
        </p:nvSpPr>
        <p:spPr>
          <a:xfrm>
            <a:off x="6416040" y="5025270"/>
            <a:ext cx="525780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Characteristic: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Shared-memory threading with JIT compilation enables true concurrent execution without process-switching overhead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400050" y="5993011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0" y="0"/>
                </a:moveTo>
                <a:lnTo>
                  <a:pt x="11410950" y="0"/>
                </a:lnTo>
                <a:lnTo>
                  <a:pt x="11410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8" name="Shape 45"/>
          <p:cNvSpPr/>
          <p:nvPr/>
        </p:nvSpPr>
        <p:spPr>
          <a:xfrm>
            <a:off x="400050" y="599301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Text 46"/>
          <p:cNvSpPr/>
          <p:nvPr/>
        </p:nvSpPr>
        <p:spPr>
          <a:xfrm>
            <a:off x="571500" y="6145411"/>
            <a:ext cx="1116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Fundamental Difference: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FastAPI uses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highlight>
                  <a:srgbClr val="DBEAFE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multi-process parallelism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 avoid Python's GIL, while Spring Boot leverages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highlight>
                  <a:srgbClr val="FFE2E2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multi-threading within a single JVM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zero GIL constraints. This architectural distinction drives the performance gap observed in testing.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ultimatevs.co.uk/8c704dcfa8be29c55e8a340d9ad3b32a7d28f7f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4" b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Load Test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Results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metrics across four load scenarios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3.1 LOAD TEST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Comparison Across Load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5" name="Image 0" descr="https://kimi-img.moonshot.cn/pub/slides/26-03-26-10:24:20-d729hl3kc07par9fajb0.png">    </p:cNvPr>
          <p:cNvPicPr>
            <a:picLocks noChangeAspect="1"/>
          </p:cNvPicPr>
          <p:nvPr/>
        </p:nvPicPr>
        <p:blipFill>
          <a:blip r:embed="rId1"/>
          <a:srcRect l="0" r="0" t="28" b="28"/>
          <a:stretch/>
        </p:blipFill>
        <p:spPr>
          <a:xfrm>
            <a:off x="381000" y="1200150"/>
            <a:ext cx="6724650" cy="40005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34250" y="1200150"/>
            <a:ext cx="4476750" cy="1390650"/>
          </a:xfrm>
          <a:custGeom>
            <a:avLst/>
            <a:gdLst/>
            <a:ahLst/>
            <a:cxnLst/>
            <a:rect l="l" t="t" r="r" b="b"/>
            <a:pathLst>
              <a:path w="4476750" h="1390650">
                <a:moveTo>
                  <a:pt x="0" y="0"/>
                </a:moveTo>
                <a:lnTo>
                  <a:pt x="4476750" y="0"/>
                </a:lnTo>
                <a:lnTo>
                  <a:pt x="44767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7486650" y="135255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86650" y="1695450"/>
            <a:ext cx="4248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maintains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consistent ~48% throughput advantage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all load levels, from normal operation to extreme overload.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53300" y="27051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524750" y="2705100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Ceiling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24750" y="3048000"/>
            <a:ext cx="4286250" cy="381000"/>
          </a:xfrm>
          <a:custGeom>
            <a:avLst/>
            <a:gdLst/>
            <a:ahLst/>
            <a:cxnLst/>
            <a:rect l="l" t="t" r="r" b="b"/>
            <a:pathLst>
              <a:path w="4286250" h="381000">
                <a:moveTo>
                  <a:pt x="0" y="0"/>
                </a:moveTo>
                <a:lnTo>
                  <a:pt x="4286250" y="0"/>
                </a:lnTo>
                <a:lnTo>
                  <a:pt x="4286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Text 9"/>
          <p:cNvSpPr/>
          <p:nvPr/>
        </p:nvSpPr>
        <p:spPr>
          <a:xfrm>
            <a:off x="7600950" y="31242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Ceiling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07316" y="31242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~530-564 RPS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24750" y="3505200"/>
            <a:ext cx="4286250" cy="381000"/>
          </a:xfrm>
          <a:custGeom>
            <a:avLst/>
            <a:gdLst/>
            <a:ahLst/>
            <a:cxnLst/>
            <a:rect l="l" t="t" r="r" b="b"/>
            <a:pathLst>
              <a:path w="4286250" h="381000">
                <a:moveTo>
                  <a:pt x="0" y="0"/>
                </a:moveTo>
                <a:lnTo>
                  <a:pt x="4286250" y="0"/>
                </a:lnTo>
                <a:lnTo>
                  <a:pt x="4286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Text 12"/>
          <p:cNvSpPr/>
          <p:nvPr/>
        </p:nvSpPr>
        <p:spPr>
          <a:xfrm>
            <a:off x="7600950" y="358140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Ceiling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890290" y="35814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~765-839 RPS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524750" y="3962400"/>
            <a:ext cx="4286250" cy="381000"/>
          </a:xfrm>
          <a:custGeom>
            <a:avLst/>
            <a:gdLst/>
            <a:ahLst/>
            <a:cxnLst/>
            <a:rect l="l" t="t" r="r" b="b"/>
            <a:pathLst>
              <a:path w="4286250" h="381000">
                <a:moveTo>
                  <a:pt x="0" y="0"/>
                </a:moveTo>
                <a:lnTo>
                  <a:pt x="4286250" y="0"/>
                </a:lnTo>
                <a:lnTo>
                  <a:pt x="42862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Text 15"/>
          <p:cNvSpPr/>
          <p:nvPr/>
        </p:nvSpPr>
        <p:spPr>
          <a:xfrm>
            <a:off x="7600950" y="40386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Advantage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012210" y="40386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+47.7% avg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34250" y="5029200"/>
            <a:ext cx="4476750" cy="609600"/>
          </a:xfrm>
          <a:custGeom>
            <a:avLst/>
            <a:gdLst/>
            <a:ahLst/>
            <a:cxnLst/>
            <a:rect l="l" t="t" r="r" b="b"/>
            <a:pathLst>
              <a:path w="4476750" h="609600">
                <a:moveTo>
                  <a:pt x="0" y="0"/>
                </a:moveTo>
                <a:lnTo>
                  <a:pt x="4476750" y="0"/>
                </a:lnTo>
                <a:lnTo>
                  <a:pt x="44767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1" name="Shape 18"/>
          <p:cNvSpPr/>
          <p:nvPr/>
        </p:nvSpPr>
        <p:spPr>
          <a:xfrm>
            <a:off x="7467600" y="51663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7562850" y="5029200"/>
            <a:ext cx="4314825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frameworks show ~8.5% throughput degradation from 1K to 10K users, indicating CPU saturation at ~1,000 concurrent users.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57531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0" y="0"/>
                </a:moveTo>
                <a:lnTo>
                  <a:pt x="2743200" y="0"/>
                </a:lnTo>
                <a:lnTo>
                  <a:pt x="27432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4" name="Text 21"/>
          <p:cNvSpPr/>
          <p:nvPr/>
        </p:nvSpPr>
        <p:spPr>
          <a:xfrm>
            <a:off x="423863" y="5829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Normal Load (1K)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3863" y="60198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564.35 RPS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23863" y="6210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vs 839.47 RPS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276600" y="57531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0" y="0"/>
                </a:moveTo>
                <a:lnTo>
                  <a:pt x="2743200" y="0"/>
                </a:lnTo>
                <a:lnTo>
                  <a:pt x="27432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8" name="Text 25"/>
          <p:cNvSpPr/>
          <p:nvPr/>
        </p:nvSpPr>
        <p:spPr>
          <a:xfrm>
            <a:off x="3319463" y="5829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Stress (2K)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319463" y="60198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547.02 RPS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319463" y="6210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vs 798.30 RPS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72200" y="57531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0" y="0"/>
                </a:moveTo>
                <a:lnTo>
                  <a:pt x="2743200" y="0"/>
                </a:lnTo>
                <a:lnTo>
                  <a:pt x="27432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32" name="Text 29"/>
          <p:cNvSpPr/>
          <p:nvPr/>
        </p:nvSpPr>
        <p:spPr>
          <a:xfrm>
            <a:off x="6215063" y="5829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Stress (5K)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215063" y="60198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531.45 RPS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215063" y="6210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vs 789.86 RPS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067800" y="5753100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743200" h="723900">
                <a:moveTo>
                  <a:pt x="0" y="0"/>
                </a:moveTo>
                <a:lnTo>
                  <a:pt x="2743200" y="0"/>
                </a:lnTo>
                <a:lnTo>
                  <a:pt x="27432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36" name="Text 33"/>
          <p:cNvSpPr/>
          <p:nvPr/>
        </p:nvSpPr>
        <p:spPr>
          <a:xfrm>
            <a:off x="9110663" y="5829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Overwhelmed (10K)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110663" y="60198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517.99 RPS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110663" y="62103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vs 765.16 RPS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75" y="369175"/>
            <a:ext cx="1151825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spc="51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 LOAD TEST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175" y="590680"/>
            <a:ext cx="11592091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Latency Analysis: Percentile Distribution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75" y="996772"/>
            <a:ext cx="590680" cy="18459"/>
          </a:xfrm>
          <a:custGeom>
            <a:avLst/>
            <a:gdLst/>
            <a:ahLst/>
            <a:cxnLst/>
            <a:rect l="l" t="t" r="r" b="b"/>
            <a:pathLst>
              <a:path w="590680" h="18459">
                <a:moveTo>
                  <a:pt x="0" y="0"/>
                </a:moveTo>
                <a:lnTo>
                  <a:pt x="590680" y="0"/>
                </a:lnTo>
                <a:lnTo>
                  <a:pt x="590680" y="18459"/>
                </a:lnTo>
                <a:lnTo>
                  <a:pt x="0" y="1845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5" name="Image 0" descr="https://kimi-img.moonshot.cn/pub/slides/26-03-26-10:24:20-d729hl72ekfmrvq6eg5g.png">    </p:cNvPr>
          <p:cNvPicPr>
            <a:picLocks noChangeAspect="1"/>
          </p:cNvPicPr>
          <p:nvPr/>
        </p:nvPicPr>
        <p:blipFill>
          <a:blip r:embed="rId1"/>
          <a:srcRect l="0" r="0" t="28" b="28"/>
          <a:stretch/>
        </p:blipFill>
        <p:spPr>
          <a:xfrm>
            <a:off x="369175" y="1162901"/>
            <a:ext cx="6515936" cy="3876336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29390" y="1162901"/>
            <a:ext cx="4494704" cy="1107525"/>
          </a:xfrm>
          <a:custGeom>
            <a:avLst/>
            <a:gdLst/>
            <a:ahLst/>
            <a:cxnLst/>
            <a:rect l="l" t="t" r="r" b="b"/>
            <a:pathLst>
              <a:path w="4494704" h="1107525">
                <a:moveTo>
                  <a:pt x="0" y="0"/>
                </a:moveTo>
                <a:lnTo>
                  <a:pt x="4494704" y="0"/>
                </a:lnTo>
                <a:lnTo>
                  <a:pt x="4494704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7477060" y="1310571"/>
            <a:ext cx="428242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 Latency Critical Finding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77060" y="1642828"/>
            <a:ext cx="4273199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Under 10× load increase, FastAPI P99 latency grew </a:t>
            </a:r>
            <a:pPr>
              <a:lnSpc>
                <a:spcPct val="14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5.2×</a:t>
            </a:r>
            <a:pPr>
              <a:lnSpc>
                <a:spcPct val="140000"/>
              </a:lnSpc>
            </a:pPr>
            <a:r>
              <a:rPr lang="en-US" sz="1163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(2.5s → 13s), while Spring Boot grew only </a:t>
            </a:r>
            <a:pPr>
              <a:lnSpc>
                <a:spcPct val="140000"/>
              </a:lnSpc>
            </a:pPr>
            <a:r>
              <a:rPr lang="en-US" sz="1163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2.4×</a:t>
            </a:r>
            <a:pPr>
              <a:lnSpc>
                <a:spcPct val="140000"/>
              </a:lnSpc>
            </a:pPr>
            <a:r>
              <a:rPr lang="en-US" sz="1163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(1.2s → 2.9s).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47849" y="2381178"/>
            <a:ext cx="36917" cy="1772039"/>
          </a:xfrm>
          <a:custGeom>
            <a:avLst/>
            <a:gdLst/>
            <a:ahLst/>
            <a:cxnLst/>
            <a:rect l="l" t="t" r="r" b="b"/>
            <a:pathLst>
              <a:path w="36917" h="1772039">
                <a:moveTo>
                  <a:pt x="0" y="0"/>
                </a:moveTo>
                <a:lnTo>
                  <a:pt x="36917" y="0"/>
                </a:lnTo>
                <a:lnTo>
                  <a:pt x="36917" y="1772039"/>
                </a:lnTo>
                <a:lnTo>
                  <a:pt x="0" y="177203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513978" y="2381178"/>
            <a:ext cx="4393181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P99 Latency Growth Factor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13978" y="2713435"/>
            <a:ext cx="4310117" cy="590680"/>
          </a:xfrm>
          <a:custGeom>
            <a:avLst/>
            <a:gdLst/>
            <a:ahLst/>
            <a:cxnLst/>
            <a:rect l="l" t="t" r="r" b="b"/>
            <a:pathLst>
              <a:path w="4310117" h="590680">
                <a:moveTo>
                  <a:pt x="0" y="0"/>
                </a:moveTo>
                <a:lnTo>
                  <a:pt x="4310117" y="0"/>
                </a:lnTo>
                <a:lnTo>
                  <a:pt x="4310117" y="590680"/>
                </a:lnTo>
                <a:lnTo>
                  <a:pt x="0" y="59068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Text 9"/>
          <p:cNvSpPr/>
          <p:nvPr/>
        </p:nvSpPr>
        <p:spPr>
          <a:xfrm>
            <a:off x="7587813" y="2787270"/>
            <a:ext cx="131057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(1K → 10K)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25984" y="2787270"/>
            <a:ext cx="793726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5.2× growth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7813" y="3045693"/>
            <a:ext cx="4227052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2,500ms → 13,000ms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13978" y="3377950"/>
            <a:ext cx="4310117" cy="590680"/>
          </a:xfrm>
          <a:custGeom>
            <a:avLst/>
            <a:gdLst/>
            <a:ahLst/>
            <a:cxnLst/>
            <a:rect l="l" t="t" r="r" b="b"/>
            <a:pathLst>
              <a:path w="4310117" h="590680">
                <a:moveTo>
                  <a:pt x="0" y="0"/>
                </a:moveTo>
                <a:lnTo>
                  <a:pt x="4310117" y="0"/>
                </a:lnTo>
                <a:lnTo>
                  <a:pt x="4310117" y="590680"/>
                </a:lnTo>
                <a:lnTo>
                  <a:pt x="0" y="590680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7587813" y="3451785"/>
            <a:ext cx="156899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(1K → 10K)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01988" y="3451785"/>
            <a:ext cx="821414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2.4× growth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7813" y="3710207"/>
            <a:ext cx="4227052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1,200ms → 2,900ms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29390" y="4263970"/>
            <a:ext cx="4494704" cy="775267"/>
          </a:xfrm>
          <a:custGeom>
            <a:avLst/>
            <a:gdLst/>
            <a:ahLst/>
            <a:cxnLst/>
            <a:rect l="l" t="t" r="r" b="b"/>
            <a:pathLst>
              <a:path w="4494704" h="775267">
                <a:moveTo>
                  <a:pt x="0" y="0"/>
                </a:moveTo>
                <a:lnTo>
                  <a:pt x="4494704" y="0"/>
                </a:lnTo>
                <a:lnTo>
                  <a:pt x="4494704" y="775267"/>
                </a:lnTo>
                <a:lnTo>
                  <a:pt x="0" y="77526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0" name="Shape 17"/>
          <p:cNvSpPr/>
          <p:nvPr/>
        </p:nvSpPr>
        <p:spPr>
          <a:xfrm>
            <a:off x="7458601" y="4396872"/>
            <a:ext cx="129211" cy="129211"/>
          </a:xfrm>
          <a:custGeom>
            <a:avLst/>
            <a:gdLst/>
            <a:ahLst/>
            <a:cxnLst/>
            <a:rect l="l" t="t" r="r" b="b"/>
            <a:pathLst>
              <a:path w="129211" h="129211">
                <a:moveTo>
                  <a:pt x="64606" y="0"/>
                </a:moveTo>
                <a:cubicBezTo>
                  <a:pt x="68315" y="0"/>
                  <a:pt x="71722" y="2044"/>
                  <a:pt x="73489" y="5300"/>
                </a:cubicBezTo>
                <a:lnTo>
                  <a:pt x="128000" y="106246"/>
                </a:lnTo>
                <a:cubicBezTo>
                  <a:pt x="129691" y="109375"/>
                  <a:pt x="129615" y="113161"/>
                  <a:pt x="127798" y="116214"/>
                </a:cubicBezTo>
                <a:cubicBezTo>
                  <a:pt x="125981" y="119268"/>
                  <a:pt x="122675" y="121136"/>
                  <a:pt x="119117" y="121136"/>
                </a:cubicBezTo>
                <a:lnTo>
                  <a:pt x="10095" y="121136"/>
                </a:lnTo>
                <a:cubicBezTo>
                  <a:pt x="6536" y="121136"/>
                  <a:pt x="3256" y="119268"/>
                  <a:pt x="1413" y="116214"/>
                </a:cubicBezTo>
                <a:cubicBezTo>
                  <a:pt x="-429" y="113161"/>
                  <a:pt x="-479" y="109375"/>
                  <a:pt x="1211" y="106246"/>
                </a:cubicBezTo>
                <a:lnTo>
                  <a:pt x="55722" y="5300"/>
                </a:lnTo>
                <a:cubicBezTo>
                  <a:pt x="57489" y="2044"/>
                  <a:pt x="60896" y="0"/>
                  <a:pt x="64606" y="0"/>
                </a:cubicBezTo>
                <a:close/>
                <a:moveTo>
                  <a:pt x="64606" y="42397"/>
                </a:moveTo>
                <a:cubicBezTo>
                  <a:pt x="61249" y="42397"/>
                  <a:pt x="58549" y="45098"/>
                  <a:pt x="58549" y="48454"/>
                </a:cubicBezTo>
                <a:lnTo>
                  <a:pt x="58549" y="76719"/>
                </a:lnTo>
                <a:cubicBezTo>
                  <a:pt x="58549" y="80076"/>
                  <a:pt x="61249" y="82776"/>
                  <a:pt x="64606" y="82776"/>
                </a:cubicBezTo>
                <a:cubicBezTo>
                  <a:pt x="67962" y="82776"/>
                  <a:pt x="70662" y="80076"/>
                  <a:pt x="70662" y="76719"/>
                </a:cubicBezTo>
                <a:lnTo>
                  <a:pt x="70662" y="48454"/>
                </a:lnTo>
                <a:cubicBezTo>
                  <a:pt x="70662" y="45098"/>
                  <a:pt x="67962" y="42397"/>
                  <a:pt x="64606" y="42397"/>
                </a:cubicBezTo>
                <a:close/>
                <a:moveTo>
                  <a:pt x="71344" y="96908"/>
                </a:moveTo>
                <a:cubicBezTo>
                  <a:pt x="71497" y="94407"/>
                  <a:pt x="70250" y="92028"/>
                  <a:pt x="68106" y="90731"/>
                </a:cubicBezTo>
                <a:cubicBezTo>
                  <a:pt x="65962" y="89434"/>
                  <a:pt x="63275" y="89434"/>
                  <a:pt x="61131" y="90731"/>
                </a:cubicBezTo>
                <a:cubicBezTo>
                  <a:pt x="58987" y="92028"/>
                  <a:pt x="57739" y="94407"/>
                  <a:pt x="57893" y="96908"/>
                </a:cubicBezTo>
                <a:cubicBezTo>
                  <a:pt x="57739" y="99410"/>
                  <a:pt x="58987" y="101789"/>
                  <a:pt x="61131" y="103086"/>
                </a:cubicBezTo>
                <a:cubicBezTo>
                  <a:pt x="63275" y="104383"/>
                  <a:pt x="65962" y="104383"/>
                  <a:pt x="68106" y="103086"/>
                </a:cubicBezTo>
                <a:cubicBezTo>
                  <a:pt x="70250" y="101789"/>
                  <a:pt x="71497" y="99410"/>
                  <a:pt x="71344" y="9690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49176" y="4263970"/>
            <a:ext cx="4339523" cy="775267"/>
          </a:xfrm>
          <a:prstGeom prst="rect">
            <a:avLst/>
          </a:prstGeom>
          <a:noFill/>
          <a:ln/>
        </p:spPr>
        <p:txBody>
          <a:bodyPr wrap="square" lIns="110752" tIns="110752" rIns="110752" bIns="110752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GIL Contention Impact:</a:t>
            </a:r>
            <a:pPr>
              <a:lnSpc>
                <a:spcPct val="120000"/>
              </a:lnSpc>
            </a:pPr>
            <a:r>
              <a:rPr lang="en-US" sz="101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Python's multi-process model causes disproportionate queue buildup in overload conditions, explaining the dramatic tail latency explosion.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9175" y="5149989"/>
          <a:ext cx="11453650" cy="1707434"/>
        </p:xfrm>
        <a:graphic>
          <a:graphicData uri="http://schemas.openxmlformats.org/drawingml/2006/table">
            <a:tbl>
              <a:tblPr/>
              <a:tblGrid>
                <a:gridCol w="2983491"/>
                <a:gridCol w="1847363"/>
                <a:gridCol w="1884310"/>
                <a:gridCol w="2355388"/>
                <a:gridCol w="2383098"/>
              </a:tblGrid>
              <a:tr h="341487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Scenario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P50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P99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 P50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 P99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148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Normal Load (1K)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1,300ms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2,500ms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1,000ms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1,200ms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148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Moderate Stress (2K)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1,900ms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4,900ms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1,400ms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2,500ms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148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Stress (5K)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2,500ms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7,800ms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1,400ms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2,900ms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148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Overwhelmed (10K)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3,600ms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13,000ms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1,400ms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2,900ms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835" marR="73835" marT="73835" marB="73835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spc="51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3.3 LOAD TEST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617" y="589787"/>
            <a:ext cx="1159299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Resource Utilization &amp; Failure Rates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995265"/>
            <a:ext cx="589787" cy="18431"/>
          </a:xfrm>
          <a:custGeom>
            <a:avLst/>
            <a:gdLst/>
            <a:ahLst/>
            <a:cxnLst/>
            <a:rect l="l" t="t" r="r" b="b"/>
            <a:pathLst>
              <a:path w="589787" h="18431">
                <a:moveTo>
                  <a:pt x="0" y="0"/>
                </a:moveTo>
                <a:lnTo>
                  <a:pt x="589787" y="0"/>
                </a:lnTo>
                <a:lnTo>
                  <a:pt x="589787" y="18431"/>
                </a:lnTo>
                <a:lnTo>
                  <a:pt x="0" y="1843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7048" y="1161143"/>
            <a:ext cx="36862" cy="3077950"/>
          </a:xfrm>
          <a:custGeom>
            <a:avLst/>
            <a:gdLst/>
            <a:ahLst/>
            <a:cxnLst/>
            <a:rect l="l" t="t" r="r" b="b"/>
            <a:pathLst>
              <a:path w="36862" h="3077950">
                <a:moveTo>
                  <a:pt x="0" y="0"/>
                </a:moveTo>
                <a:lnTo>
                  <a:pt x="36862" y="0"/>
                </a:lnTo>
                <a:lnTo>
                  <a:pt x="36862" y="3077950"/>
                </a:lnTo>
                <a:lnTo>
                  <a:pt x="0" y="30779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52925" y="1161143"/>
            <a:ext cx="552003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Consumption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2925" y="1529760"/>
            <a:ext cx="5427882" cy="1299374"/>
          </a:xfrm>
          <a:custGeom>
            <a:avLst/>
            <a:gdLst/>
            <a:ahLst/>
            <a:cxnLst/>
            <a:rect l="l" t="t" r="r" b="b"/>
            <a:pathLst>
              <a:path w="5427882" h="1299374">
                <a:moveTo>
                  <a:pt x="0" y="0"/>
                </a:moveTo>
                <a:lnTo>
                  <a:pt x="5427882" y="0"/>
                </a:lnTo>
                <a:lnTo>
                  <a:pt x="5427882" y="1299374"/>
                </a:lnTo>
                <a:lnTo>
                  <a:pt x="0" y="129937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Text 6"/>
          <p:cNvSpPr/>
          <p:nvPr/>
        </p:nvSpPr>
        <p:spPr>
          <a:xfrm>
            <a:off x="663510" y="1640345"/>
            <a:ext cx="528043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Memory Growth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3510" y="1935238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Working Set (1K users)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3510" y="2119546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258.41 MB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05225" y="1935238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Working Set (10K users)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5225" y="2119546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1,008.20 MB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3510" y="2381264"/>
            <a:ext cx="5206712" cy="7372"/>
          </a:xfrm>
          <a:custGeom>
            <a:avLst/>
            <a:gdLst/>
            <a:ahLst/>
            <a:cxnLst/>
            <a:rect l="l" t="t" r="r" b="b"/>
            <a:pathLst>
              <a:path w="5206712" h="7372">
                <a:moveTo>
                  <a:pt x="0" y="0"/>
                </a:moveTo>
                <a:lnTo>
                  <a:pt x="5206712" y="0"/>
                </a:lnTo>
                <a:lnTo>
                  <a:pt x="5206712" y="7372"/>
                </a:lnTo>
                <a:lnTo>
                  <a:pt x="0" y="73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663510" y="2477107"/>
            <a:ext cx="101369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Growth Factor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96409" y="2458677"/>
            <a:ext cx="35940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3.9×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925" y="2937878"/>
            <a:ext cx="5427882" cy="1299374"/>
          </a:xfrm>
          <a:custGeom>
            <a:avLst/>
            <a:gdLst/>
            <a:ahLst/>
            <a:cxnLst/>
            <a:rect l="l" t="t" r="r" b="b"/>
            <a:pathLst>
              <a:path w="5427882" h="1299374">
                <a:moveTo>
                  <a:pt x="0" y="0"/>
                </a:moveTo>
                <a:lnTo>
                  <a:pt x="5427882" y="0"/>
                </a:lnTo>
                <a:lnTo>
                  <a:pt x="5427882" y="1299374"/>
                </a:lnTo>
                <a:lnTo>
                  <a:pt x="0" y="129937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63510" y="3048463"/>
            <a:ext cx="5280435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Memory Stability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3510" y="3343357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Working Set (1K users)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510" y="3527665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796.22 MB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5225" y="3343357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Working Set (10K users)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05225" y="3527665"/>
            <a:ext cx="2635610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746.78 MB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3510" y="3789383"/>
            <a:ext cx="5206712" cy="7372"/>
          </a:xfrm>
          <a:custGeom>
            <a:avLst/>
            <a:gdLst/>
            <a:ahLst/>
            <a:cxnLst/>
            <a:rect l="l" t="t" r="r" b="b"/>
            <a:pathLst>
              <a:path w="5206712" h="7372">
                <a:moveTo>
                  <a:pt x="0" y="0"/>
                </a:moveTo>
                <a:lnTo>
                  <a:pt x="5206712" y="0"/>
                </a:lnTo>
                <a:lnTo>
                  <a:pt x="5206712" y="7372"/>
                </a:lnTo>
                <a:lnTo>
                  <a:pt x="0" y="73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63510" y="3885222"/>
            <a:ext cx="101369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Growth Factor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92045" y="3866791"/>
            <a:ext cx="46077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0.94×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8617" y="4382854"/>
            <a:ext cx="5612190" cy="1345451"/>
          </a:xfrm>
          <a:custGeom>
            <a:avLst/>
            <a:gdLst/>
            <a:ahLst/>
            <a:cxnLst/>
            <a:rect l="l" t="t" r="r" b="b"/>
            <a:pathLst>
              <a:path w="5612190" h="1345451">
                <a:moveTo>
                  <a:pt x="0" y="0"/>
                </a:moveTo>
                <a:lnTo>
                  <a:pt x="5612190" y="0"/>
                </a:lnTo>
                <a:lnTo>
                  <a:pt x="5612190" y="1345451"/>
                </a:lnTo>
                <a:lnTo>
                  <a:pt x="0" y="1345451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102" y="4576378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20735" y="20735"/>
                </a:moveTo>
                <a:cubicBezTo>
                  <a:pt x="9298" y="20735"/>
                  <a:pt x="0" y="30033"/>
                  <a:pt x="0" y="41469"/>
                </a:cubicBezTo>
                <a:lnTo>
                  <a:pt x="0" y="43867"/>
                </a:lnTo>
                <a:cubicBezTo>
                  <a:pt x="0" y="46070"/>
                  <a:pt x="1426" y="47949"/>
                  <a:pt x="3272" y="49148"/>
                </a:cubicBezTo>
                <a:cubicBezTo>
                  <a:pt x="7549" y="51934"/>
                  <a:pt x="10367" y="56729"/>
                  <a:pt x="10367" y="62204"/>
                </a:cubicBezTo>
                <a:cubicBezTo>
                  <a:pt x="10367" y="67679"/>
                  <a:pt x="7549" y="72474"/>
                  <a:pt x="3272" y="75260"/>
                </a:cubicBezTo>
                <a:cubicBezTo>
                  <a:pt x="1426" y="76459"/>
                  <a:pt x="0" y="78338"/>
                  <a:pt x="0" y="80541"/>
                </a:cubicBezTo>
                <a:lnTo>
                  <a:pt x="0" y="98490"/>
                </a:lnTo>
                <a:lnTo>
                  <a:pt x="165878" y="98490"/>
                </a:lnTo>
                <a:lnTo>
                  <a:pt x="165878" y="80541"/>
                </a:lnTo>
                <a:cubicBezTo>
                  <a:pt x="165878" y="78338"/>
                  <a:pt x="164452" y="76459"/>
                  <a:pt x="162605" y="75260"/>
                </a:cubicBezTo>
                <a:cubicBezTo>
                  <a:pt x="158329" y="72474"/>
                  <a:pt x="155510" y="67679"/>
                  <a:pt x="155510" y="62204"/>
                </a:cubicBezTo>
                <a:cubicBezTo>
                  <a:pt x="155510" y="56729"/>
                  <a:pt x="158329" y="51934"/>
                  <a:pt x="162605" y="49148"/>
                </a:cubicBezTo>
                <a:cubicBezTo>
                  <a:pt x="164452" y="47949"/>
                  <a:pt x="165878" y="46070"/>
                  <a:pt x="165878" y="43867"/>
                </a:cubicBezTo>
                <a:lnTo>
                  <a:pt x="165878" y="41469"/>
                </a:lnTo>
                <a:cubicBezTo>
                  <a:pt x="165878" y="30033"/>
                  <a:pt x="156579" y="20735"/>
                  <a:pt x="145143" y="20735"/>
                </a:cubicBezTo>
                <a:lnTo>
                  <a:pt x="20735" y="20735"/>
                </a:lnTo>
                <a:close/>
                <a:moveTo>
                  <a:pt x="165878" y="134776"/>
                </a:moveTo>
                <a:lnTo>
                  <a:pt x="165878" y="114041"/>
                </a:lnTo>
                <a:lnTo>
                  <a:pt x="0" y="114041"/>
                </a:lnTo>
                <a:lnTo>
                  <a:pt x="0" y="134776"/>
                </a:lnTo>
                <a:cubicBezTo>
                  <a:pt x="0" y="140510"/>
                  <a:pt x="4633" y="145143"/>
                  <a:pt x="10367" y="145143"/>
                </a:cubicBezTo>
                <a:lnTo>
                  <a:pt x="31102" y="145143"/>
                </a:lnTo>
                <a:lnTo>
                  <a:pt x="31102" y="137367"/>
                </a:lnTo>
                <a:cubicBezTo>
                  <a:pt x="31102" y="133058"/>
                  <a:pt x="34569" y="129592"/>
                  <a:pt x="38878" y="129592"/>
                </a:cubicBezTo>
                <a:cubicBezTo>
                  <a:pt x="43186" y="129592"/>
                  <a:pt x="46653" y="133058"/>
                  <a:pt x="46653" y="137367"/>
                </a:cubicBezTo>
                <a:lnTo>
                  <a:pt x="46653" y="145143"/>
                </a:lnTo>
                <a:lnTo>
                  <a:pt x="75163" y="145143"/>
                </a:lnTo>
                <a:lnTo>
                  <a:pt x="75163" y="137367"/>
                </a:lnTo>
                <a:cubicBezTo>
                  <a:pt x="75163" y="133058"/>
                  <a:pt x="78630" y="129592"/>
                  <a:pt x="82939" y="129592"/>
                </a:cubicBezTo>
                <a:cubicBezTo>
                  <a:pt x="87248" y="129592"/>
                  <a:pt x="90714" y="133058"/>
                  <a:pt x="90714" y="137367"/>
                </a:cubicBezTo>
                <a:lnTo>
                  <a:pt x="90714" y="145143"/>
                </a:lnTo>
                <a:lnTo>
                  <a:pt x="119224" y="145143"/>
                </a:lnTo>
                <a:lnTo>
                  <a:pt x="119224" y="137367"/>
                </a:lnTo>
                <a:cubicBezTo>
                  <a:pt x="119224" y="133058"/>
                  <a:pt x="122691" y="129592"/>
                  <a:pt x="127000" y="129592"/>
                </a:cubicBezTo>
                <a:cubicBezTo>
                  <a:pt x="131309" y="129592"/>
                  <a:pt x="134776" y="133058"/>
                  <a:pt x="134776" y="137367"/>
                </a:cubicBezTo>
                <a:lnTo>
                  <a:pt x="134776" y="145143"/>
                </a:lnTo>
                <a:lnTo>
                  <a:pt x="155510" y="145143"/>
                </a:lnTo>
                <a:cubicBezTo>
                  <a:pt x="161245" y="145143"/>
                  <a:pt x="165878" y="140510"/>
                  <a:pt x="165878" y="134776"/>
                </a:cubicBezTo>
                <a:close/>
                <a:moveTo>
                  <a:pt x="51837" y="51837"/>
                </a:moveTo>
                <a:lnTo>
                  <a:pt x="51837" y="72571"/>
                </a:lnTo>
                <a:cubicBezTo>
                  <a:pt x="51837" y="78306"/>
                  <a:pt x="47204" y="82939"/>
                  <a:pt x="41469" y="82939"/>
                </a:cubicBezTo>
                <a:cubicBezTo>
                  <a:pt x="35735" y="82939"/>
                  <a:pt x="31102" y="78306"/>
                  <a:pt x="31102" y="72571"/>
                </a:cubicBezTo>
                <a:lnTo>
                  <a:pt x="31102" y="51837"/>
                </a:lnTo>
                <a:cubicBezTo>
                  <a:pt x="31102" y="46102"/>
                  <a:pt x="35735" y="41469"/>
                  <a:pt x="41469" y="41469"/>
                </a:cubicBezTo>
                <a:cubicBezTo>
                  <a:pt x="47204" y="41469"/>
                  <a:pt x="51837" y="46102"/>
                  <a:pt x="51837" y="51837"/>
                </a:cubicBezTo>
                <a:close/>
                <a:moveTo>
                  <a:pt x="93306" y="51837"/>
                </a:moveTo>
                <a:lnTo>
                  <a:pt x="93306" y="72571"/>
                </a:lnTo>
                <a:cubicBezTo>
                  <a:pt x="93306" y="78306"/>
                  <a:pt x="88673" y="82939"/>
                  <a:pt x="82939" y="82939"/>
                </a:cubicBezTo>
                <a:cubicBezTo>
                  <a:pt x="77204" y="82939"/>
                  <a:pt x="72571" y="78306"/>
                  <a:pt x="72571" y="72571"/>
                </a:cubicBezTo>
                <a:lnTo>
                  <a:pt x="72571" y="51837"/>
                </a:lnTo>
                <a:cubicBezTo>
                  <a:pt x="72571" y="46102"/>
                  <a:pt x="77204" y="41469"/>
                  <a:pt x="82939" y="41469"/>
                </a:cubicBezTo>
                <a:cubicBezTo>
                  <a:pt x="88673" y="41469"/>
                  <a:pt x="93306" y="46102"/>
                  <a:pt x="93306" y="51837"/>
                </a:cubicBezTo>
                <a:close/>
                <a:moveTo>
                  <a:pt x="134776" y="51837"/>
                </a:moveTo>
                <a:lnTo>
                  <a:pt x="134776" y="72571"/>
                </a:lnTo>
                <a:cubicBezTo>
                  <a:pt x="134776" y="78306"/>
                  <a:pt x="130143" y="82939"/>
                  <a:pt x="124408" y="82939"/>
                </a:cubicBezTo>
                <a:cubicBezTo>
                  <a:pt x="118674" y="82939"/>
                  <a:pt x="114041" y="78306"/>
                  <a:pt x="114041" y="72571"/>
                </a:cubicBezTo>
                <a:lnTo>
                  <a:pt x="114041" y="51837"/>
                </a:lnTo>
                <a:cubicBezTo>
                  <a:pt x="114041" y="46102"/>
                  <a:pt x="118674" y="41469"/>
                  <a:pt x="124408" y="41469"/>
                </a:cubicBezTo>
                <a:cubicBezTo>
                  <a:pt x="130143" y="41469"/>
                  <a:pt x="134776" y="46102"/>
                  <a:pt x="134776" y="5183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28018" y="4530301"/>
            <a:ext cx="51882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Stability Conclusion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063" y="4862056"/>
            <a:ext cx="5391020" cy="718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memory stays flat under load — </a:t>
            </a:r>
            <a:pPr>
              <a:lnSpc>
                <a:spcPct val="140000"/>
              </a:lnSpc>
            </a:pPr>
            <a:r>
              <a:rPr lang="en-US" sz="116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G1GC bounds the JVM heap</a:t>
            </a:r>
            <a:pPr>
              <a:lnSpc>
                <a:spcPct val="140000"/>
              </a:lnSpc>
            </a:pPr>
            <a:r>
              <a:rPr lang="en-US" sz="116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FastAPI memory grew 3.9× as 8 Python processes accumulate queued connections. </a:t>
            </a:r>
            <a:pPr>
              <a:lnSpc>
                <a:spcPct val="140000"/>
              </a:lnSpc>
            </a:pPr>
            <a:r>
              <a:rPr lang="en-US" sz="1161" dirty="0">
                <a:solidFill>
                  <a:srgbClr val="FF646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will OOM before Spring Boot under sustained overload.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3519" y="1161143"/>
            <a:ext cx="36862" cy="2783057"/>
          </a:xfrm>
          <a:custGeom>
            <a:avLst/>
            <a:gdLst/>
            <a:ahLst/>
            <a:cxnLst/>
            <a:rect l="l" t="t" r="r" b="b"/>
            <a:pathLst>
              <a:path w="36862" h="2783057">
                <a:moveTo>
                  <a:pt x="0" y="0"/>
                </a:moveTo>
                <a:lnTo>
                  <a:pt x="36862" y="0"/>
                </a:lnTo>
                <a:lnTo>
                  <a:pt x="36862" y="2783057"/>
                </a:lnTo>
                <a:lnTo>
                  <a:pt x="0" y="278305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389396" y="1161143"/>
            <a:ext cx="552003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CPU Utilization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89396" y="1902063"/>
            <a:ext cx="5427882" cy="7372"/>
          </a:xfrm>
          <a:custGeom>
            <a:avLst/>
            <a:gdLst/>
            <a:ahLst/>
            <a:cxnLst/>
            <a:rect l="l" t="t" r="r" b="b"/>
            <a:pathLst>
              <a:path w="5427882" h="7372">
                <a:moveTo>
                  <a:pt x="0" y="0"/>
                </a:moveTo>
                <a:lnTo>
                  <a:pt x="5427882" y="0"/>
                </a:lnTo>
                <a:lnTo>
                  <a:pt x="5427882" y="7372"/>
                </a:lnTo>
                <a:lnTo>
                  <a:pt x="0" y="73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6389396" y="1603483"/>
            <a:ext cx="2128762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Avg CPU (all scenarios)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11057" y="1603483"/>
            <a:ext cx="98605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~7% on 4 cores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9396" y="2351778"/>
            <a:ext cx="5427882" cy="7372"/>
          </a:xfrm>
          <a:custGeom>
            <a:avLst/>
            <a:gdLst/>
            <a:ahLst/>
            <a:cxnLst/>
            <a:rect l="l" t="t" r="r" b="b"/>
            <a:pathLst>
              <a:path w="5427882" h="7372">
                <a:moveTo>
                  <a:pt x="0" y="0"/>
                </a:moveTo>
                <a:lnTo>
                  <a:pt x="5427882" y="0"/>
                </a:lnTo>
                <a:lnTo>
                  <a:pt x="5427882" y="7372"/>
                </a:lnTo>
                <a:lnTo>
                  <a:pt x="0" y="73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89396" y="2053198"/>
            <a:ext cx="125329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Max CPU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85727" y="2053198"/>
            <a:ext cx="110585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81.21% (1K users)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9396" y="2801488"/>
            <a:ext cx="5427882" cy="7372"/>
          </a:xfrm>
          <a:custGeom>
            <a:avLst/>
            <a:gdLst/>
            <a:ahLst/>
            <a:cxnLst/>
            <a:rect l="l" t="t" r="r" b="b"/>
            <a:pathLst>
              <a:path w="5427882" h="7372">
                <a:moveTo>
                  <a:pt x="0" y="0"/>
                </a:moveTo>
                <a:lnTo>
                  <a:pt x="5427882" y="0"/>
                </a:lnTo>
                <a:lnTo>
                  <a:pt x="5427882" y="7372"/>
                </a:lnTo>
                <a:lnTo>
                  <a:pt x="0" y="73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6389396" y="2502909"/>
            <a:ext cx="238679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Avg CPU (all scenarios)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11173" y="2502909"/>
            <a:ext cx="986050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~8% on 4 cores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9396" y="2952620"/>
            <a:ext cx="150211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Max CPU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73056" y="2952620"/>
            <a:ext cx="112428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49.31% (1K users)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9396" y="3358098"/>
            <a:ext cx="5427882" cy="589787"/>
          </a:xfrm>
          <a:custGeom>
            <a:avLst/>
            <a:gdLst/>
            <a:ahLst/>
            <a:cxnLst/>
            <a:rect l="l" t="t" r="r" b="b"/>
            <a:pathLst>
              <a:path w="5427882" h="589787">
                <a:moveTo>
                  <a:pt x="0" y="0"/>
                </a:moveTo>
                <a:lnTo>
                  <a:pt x="5427882" y="0"/>
                </a:lnTo>
                <a:lnTo>
                  <a:pt x="5427882" y="589787"/>
                </a:lnTo>
                <a:lnTo>
                  <a:pt x="0" y="58978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3" name="Shape 41"/>
          <p:cNvSpPr/>
          <p:nvPr/>
        </p:nvSpPr>
        <p:spPr>
          <a:xfrm>
            <a:off x="6534539" y="3490804"/>
            <a:ext cx="96762" cy="129016"/>
          </a:xfrm>
          <a:custGeom>
            <a:avLst/>
            <a:gdLst/>
            <a:ahLst/>
            <a:cxnLst/>
            <a:rect l="l" t="t" r="r" b="b"/>
            <a:pathLst>
              <a:path w="96762" h="129016">
                <a:moveTo>
                  <a:pt x="73806" y="96762"/>
                </a:moveTo>
                <a:cubicBezTo>
                  <a:pt x="75646" y="91143"/>
                  <a:pt x="79325" y="86053"/>
                  <a:pt x="83482" y="81668"/>
                </a:cubicBezTo>
                <a:cubicBezTo>
                  <a:pt x="91722" y="73000"/>
                  <a:pt x="96762" y="61283"/>
                  <a:pt x="96762" y="48381"/>
                </a:cubicBezTo>
                <a:cubicBezTo>
                  <a:pt x="96762" y="21671"/>
                  <a:pt x="75091" y="0"/>
                  <a:pt x="48381" y="0"/>
                </a:cubicBezTo>
                <a:cubicBezTo>
                  <a:pt x="21671" y="0"/>
                  <a:pt x="0" y="21671"/>
                  <a:pt x="0" y="48381"/>
                </a:cubicBezTo>
                <a:cubicBezTo>
                  <a:pt x="0" y="61283"/>
                  <a:pt x="5040" y="73000"/>
                  <a:pt x="13280" y="81668"/>
                </a:cubicBezTo>
                <a:cubicBezTo>
                  <a:pt x="17437" y="86053"/>
                  <a:pt x="21141" y="91143"/>
                  <a:pt x="22956" y="96762"/>
                </a:cubicBezTo>
                <a:lnTo>
                  <a:pt x="73781" y="96762"/>
                </a:lnTo>
                <a:close/>
                <a:moveTo>
                  <a:pt x="72571" y="108857"/>
                </a:moveTo>
                <a:lnTo>
                  <a:pt x="24190" y="108857"/>
                </a:lnTo>
                <a:lnTo>
                  <a:pt x="24190" y="112889"/>
                </a:lnTo>
                <a:cubicBezTo>
                  <a:pt x="24190" y="124027"/>
                  <a:pt x="33212" y="133048"/>
                  <a:pt x="44349" y="133048"/>
                </a:cubicBezTo>
                <a:lnTo>
                  <a:pt x="52413" y="133048"/>
                </a:lnTo>
                <a:cubicBezTo>
                  <a:pt x="63550" y="133048"/>
                  <a:pt x="72571" y="124027"/>
                  <a:pt x="72571" y="112889"/>
                </a:cubicBezTo>
                <a:lnTo>
                  <a:pt x="72571" y="108857"/>
                </a:lnTo>
                <a:close/>
                <a:moveTo>
                  <a:pt x="46365" y="28222"/>
                </a:moveTo>
                <a:cubicBezTo>
                  <a:pt x="36336" y="28222"/>
                  <a:pt x="28222" y="36336"/>
                  <a:pt x="28222" y="46365"/>
                </a:cubicBezTo>
                <a:cubicBezTo>
                  <a:pt x="28222" y="49716"/>
                  <a:pt x="25526" y="52413"/>
                  <a:pt x="22175" y="52413"/>
                </a:cubicBezTo>
                <a:cubicBezTo>
                  <a:pt x="18823" y="52413"/>
                  <a:pt x="16127" y="49716"/>
                  <a:pt x="16127" y="46365"/>
                </a:cubicBezTo>
                <a:cubicBezTo>
                  <a:pt x="16127" y="29659"/>
                  <a:pt x="29659" y="16127"/>
                  <a:pt x="46365" y="16127"/>
                </a:cubicBezTo>
                <a:cubicBezTo>
                  <a:pt x="49716" y="16127"/>
                  <a:pt x="52413" y="18823"/>
                  <a:pt x="52413" y="22175"/>
                </a:cubicBezTo>
                <a:cubicBezTo>
                  <a:pt x="52413" y="25526"/>
                  <a:pt x="49716" y="28222"/>
                  <a:pt x="46365" y="2822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608769" y="3358098"/>
            <a:ext cx="5273017" cy="589787"/>
          </a:xfrm>
          <a:prstGeom prst="rect">
            <a:avLst/>
          </a:prstGeom>
          <a:noFill/>
          <a:ln/>
        </p:spPr>
        <p:txBody>
          <a:bodyPr wrap="square" lIns="110585" tIns="110585" rIns="110585" bIns="110585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1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 bottleneck is NOT raw CPU usage — it is per-request processing overhead. Java executes more inferences per CPU cycle due to lower runtime overhead.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5088" y="4095332"/>
            <a:ext cx="5612190" cy="2764626"/>
          </a:xfrm>
          <a:custGeom>
            <a:avLst/>
            <a:gdLst/>
            <a:ahLst/>
            <a:cxnLst/>
            <a:rect l="l" t="t" r="r" b="b"/>
            <a:pathLst>
              <a:path w="5612190" h="2764626">
                <a:moveTo>
                  <a:pt x="0" y="0"/>
                </a:moveTo>
                <a:lnTo>
                  <a:pt x="5612190" y="0"/>
                </a:lnTo>
                <a:lnTo>
                  <a:pt x="5612190" y="2764626"/>
                </a:lnTo>
                <a:lnTo>
                  <a:pt x="0" y="276462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5573" y="4279640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92154" y="0"/>
                </a:moveTo>
                <a:cubicBezTo>
                  <a:pt x="93810" y="0"/>
                  <a:pt x="95466" y="360"/>
                  <a:pt x="96978" y="1044"/>
                </a:cubicBezTo>
                <a:lnTo>
                  <a:pt x="164798" y="29806"/>
                </a:lnTo>
                <a:cubicBezTo>
                  <a:pt x="172717" y="33154"/>
                  <a:pt x="178621" y="40965"/>
                  <a:pt x="178585" y="50397"/>
                </a:cubicBezTo>
                <a:cubicBezTo>
                  <a:pt x="178405" y="86107"/>
                  <a:pt x="163718" y="151442"/>
                  <a:pt x="101694" y="181141"/>
                </a:cubicBezTo>
                <a:cubicBezTo>
                  <a:pt x="95682" y="184020"/>
                  <a:pt x="88698" y="184020"/>
                  <a:pt x="82687" y="181141"/>
                </a:cubicBezTo>
                <a:cubicBezTo>
                  <a:pt x="20627" y="151442"/>
                  <a:pt x="5976" y="86107"/>
                  <a:pt x="5796" y="50397"/>
                </a:cubicBezTo>
                <a:cubicBezTo>
                  <a:pt x="5760" y="40965"/>
                  <a:pt x="11663" y="33154"/>
                  <a:pt x="19583" y="29806"/>
                </a:cubicBezTo>
                <a:lnTo>
                  <a:pt x="87366" y="1044"/>
                </a:lnTo>
                <a:cubicBezTo>
                  <a:pt x="88878" y="360"/>
                  <a:pt x="90498" y="0"/>
                  <a:pt x="92154" y="0"/>
                </a:cubicBezTo>
                <a:close/>
                <a:moveTo>
                  <a:pt x="92154" y="24046"/>
                </a:moveTo>
                <a:lnTo>
                  <a:pt x="92154" y="160154"/>
                </a:lnTo>
                <a:cubicBezTo>
                  <a:pt x="141831" y="136107"/>
                  <a:pt x="155186" y="82831"/>
                  <a:pt x="155510" y="50937"/>
                </a:cubicBezTo>
                <a:lnTo>
                  <a:pt x="92154" y="24082"/>
                </a:lnTo>
                <a:lnTo>
                  <a:pt x="92154" y="240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582920" y="4242778"/>
            <a:ext cx="517906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Rate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2534" y="4611395"/>
            <a:ext cx="5317297" cy="995265"/>
          </a:xfrm>
          <a:custGeom>
            <a:avLst/>
            <a:gdLst/>
            <a:ahLst/>
            <a:cxnLst/>
            <a:rect l="l" t="t" r="r" b="b"/>
            <a:pathLst>
              <a:path w="5317297" h="995265">
                <a:moveTo>
                  <a:pt x="0" y="0"/>
                </a:moveTo>
                <a:lnTo>
                  <a:pt x="5317297" y="0"/>
                </a:lnTo>
                <a:lnTo>
                  <a:pt x="5317297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463119" y="4740298"/>
            <a:ext cx="146525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(10K users)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26711" y="4721980"/>
            <a:ext cx="64507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FA2A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0.10%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63119" y="5090484"/>
            <a:ext cx="516063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90 failures out of 94,638 requests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63119" y="5311654"/>
            <a:ext cx="516063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First failures observed at 10,000 concurrent users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534" y="5717133"/>
            <a:ext cx="5317297" cy="995265"/>
          </a:xfrm>
          <a:custGeom>
            <a:avLst/>
            <a:gdLst/>
            <a:ahLst/>
            <a:cxnLst/>
            <a:rect l="l" t="t" r="r" b="b"/>
            <a:pathLst>
              <a:path w="5317297" h="995265">
                <a:moveTo>
                  <a:pt x="0" y="0"/>
                </a:moveTo>
                <a:lnTo>
                  <a:pt x="5317297" y="0"/>
                </a:lnTo>
                <a:lnTo>
                  <a:pt x="5317297" y="995265"/>
                </a:lnTo>
                <a:lnTo>
                  <a:pt x="0" y="9952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63119" y="5846032"/>
            <a:ext cx="179700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(All Levels)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84896" y="5827718"/>
            <a:ext cx="69115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7BF1A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0.00%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63119" y="6196218"/>
            <a:ext cx="516063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 failures across all tested load levels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63119" y="6417388"/>
            <a:ext cx="516063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Maintained 100% reliability from 1K to 10K users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centerresources.com/70c0cc1376aa7428b0f3f4e9ed3f9de04c62e2e3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5538" r="1553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Behavior under increasing load pressure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59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spc="48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 SCALING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54182"/>
            <a:ext cx="11629159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Ceiling &amp; Degradation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935182"/>
            <a:ext cx="554182" cy="17318"/>
          </a:xfrm>
          <a:custGeom>
            <a:avLst/>
            <a:gdLst/>
            <a:ahLst/>
            <a:cxnLst/>
            <a:rect l="l" t="t" r="r" b="b"/>
            <a:pathLst>
              <a:path w="554182" h="17318">
                <a:moveTo>
                  <a:pt x="0" y="0"/>
                </a:moveTo>
                <a:lnTo>
                  <a:pt x="554182" y="0"/>
                </a:lnTo>
                <a:lnTo>
                  <a:pt x="554182" y="17318"/>
                </a:lnTo>
                <a:lnTo>
                  <a:pt x="0" y="1731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5" name="Image 0" descr="https://kimi-img.moonshot.cn/pub/slides/26-03-26-10:24:21-d729hlccoua3bu0p75v0.png">    </p:cNvPr>
          <p:cNvPicPr>
            <a:picLocks noChangeAspect="1"/>
          </p:cNvPicPr>
          <p:nvPr/>
        </p:nvPicPr>
        <p:blipFill>
          <a:blip r:embed="rId1"/>
          <a:srcRect l="0" r="0" t="28" b="28"/>
          <a:stretch/>
        </p:blipFill>
        <p:spPr>
          <a:xfrm>
            <a:off x="346364" y="1091045"/>
            <a:ext cx="6113318" cy="3636818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29055" y="1091045"/>
            <a:ext cx="4520045" cy="1489364"/>
          </a:xfrm>
          <a:custGeom>
            <a:avLst/>
            <a:gdLst/>
            <a:ahLst/>
            <a:cxnLst/>
            <a:rect l="l" t="t" r="r" b="b"/>
            <a:pathLst>
              <a:path w="4520045" h="1489364">
                <a:moveTo>
                  <a:pt x="0" y="0"/>
                </a:moveTo>
                <a:lnTo>
                  <a:pt x="4520045" y="0"/>
                </a:lnTo>
                <a:lnTo>
                  <a:pt x="4520045" y="1489364"/>
                </a:lnTo>
                <a:lnTo>
                  <a:pt x="0" y="1489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7467600" y="1229591"/>
            <a:ext cx="4320886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Finding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67600" y="1541318"/>
            <a:ext cx="4312227" cy="900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servers reached 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CPU saturation at ~1,000 users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Throughput ceiling is hardware-bound, not architecture-bound. However, Java's ceiling (~800 RPS) is consistently 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48% above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Python's ceiling (~530 RPS).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46373" y="2684318"/>
            <a:ext cx="34636" cy="2545773"/>
          </a:xfrm>
          <a:custGeom>
            <a:avLst/>
            <a:gdLst/>
            <a:ahLst/>
            <a:cxnLst/>
            <a:rect l="l" t="t" r="r" b="b"/>
            <a:pathLst>
              <a:path w="34636" h="2545773">
                <a:moveTo>
                  <a:pt x="0" y="0"/>
                </a:moveTo>
                <a:lnTo>
                  <a:pt x="34636" y="0"/>
                </a:lnTo>
                <a:lnTo>
                  <a:pt x="34636" y="2545773"/>
                </a:lnTo>
                <a:lnTo>
                  <a:pt x="0" y="254577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502237" y="2684318"/>
            <a:ext cx="442479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Degradation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02237" y="2996045"/>
            <a:ext cx="4346864" cy="1082386"/>
          </a:xfrm>
          <a:custGeom>
            <a:avLst/>
            <a:gdLst/>
            <a:ahLst/>
            <a:cxnLst/>
            <a:rect l="l" t="t" r="r" b="b"/>
            <a:pathLst>
              <a:path w="4346864" h="1082386">
                <a:moveTo>
                  <a:pt x="0" y="0"/>
                </a:moveTo>
                <a:lnTo>
                  <a:pt x="4346864" y="0"/>
                </a:lnTo>
                <a:lnTo>
                  <a:pt x="4346864" y="1082386"/>
                </a:lnTo>
                <a:lnTo>
                  <a:pt x="0" y="1082386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Text 9"/>
          <p:cNvSpPr/>
          <p:nvPr/>
        </p:nvSpPr>
        <p:spPr>
          <a:xfrm>
            <a:off x="7571509" y="3065318"/>
            <a:ext cx="427759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71509" y="3307773"/>
            <a:ext cx="5541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1K users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62326" y="3307773"/>
            <a:ext cx="68406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564.35 RPS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71509" y="3515591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10K users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3126" y="3515591"/>
            <a:ext cx="69272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517.99 RPS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571509" y="3761509"/>
            <a:ext cx="4208318" cy="6927"/>
          </a:xfrm>
          <a:custGeom>
            <a:avLst/>
            <a:gdLst/>
            <a:ahLst/>
            <a:cxnLst/>
            <a:rect l="l" t="t" r="r" b="b"/>
            <a:pathLst>
              <a:path w="4208318" h="6927">
                <a:moveTo>
                  <a:pt x="0" y="0"/>
                </a:moveTo>
                <a:lnTo>
                  <a:pt x="4208318" y="0"/>
                </a:lnTo>
                <a:lnTo>
                  <a:pt x="4208318" y="6927"/>
                </a:lnTo>
                <a:lnTo>
                  <a:pt x="0" y="6927"/>
                </a:lnTo>
                <a:lnTo>
                  <a:pt x="0" y="0"/>
                </a:lnTo>
                <a:close/>
              </a:path>
            </a:pathLst>
          </a:custGeom>
          <a:solidFill>
            <a:srgbClr val="BEDBFF"/>
          </a:solidFill>
          <a:ln/>
        </p:spPr>
      </p:sp>
      <p:sp>
        <p:nvSpPr>
          <p:cNvPr id="18" name="Text 15"/>
          <p:cNvSpPr/>
          <p:nvPr/>
        </p:nvSpPr>
        <p:spPr>
          <a:xfrm>
            <a:off x="7571509" y="3799607"/>
            <a:ext cx="8139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Degradation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388545" y="3799607"/>
            <a:ext cx="45893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-8.22%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02237" y="4145971"/>
            <a:ext cx="4346864" cy="1082386"/>
          </a:xfrm>
          <a:custGeom>
            <a:avLst/>
            <a:gdLst/>
            <a:ahLst/>
            <a:cxnLst/>
            <a:rect l="l" t="t" r="r" b="b"/>
            <a:pathLst>
              <a:path w="4346864" h="1082386">
                <a:moveTo>
                  <a:pt x="0" y="0"/>
                </a:moveTo>
                <a:lnTo>
                  <a:pt x="4346864" y="0"/>
                </a:lnTo>
                <a:lnTo>
                  <a:pt x="4346864" y="1082386"/>
                </a:lnTo>
                <a:lnTo>
                  <a:pt x="0" y="1082386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7571509" y="4215244"/>
            <a:ext cx="427759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71509" y="4457698"/>
            <a:ext cx="5541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1K users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19896" y="4457698"/>
            <a:ext cx="7273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839.47 RPS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71509" y="4665516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10K users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150095" y="4665516"/>
            <a:ext cx="692727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765.16 RPS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71509" y="4911435"/>
            <a:ext cx="4208318" cy="6927"/>
          </a:xfrm>
          <a:custGeom>
            <a:avLst/>
            <a:gdLst/>
            <a:ahLst/>
            <a:cxnLst/>
            <a:rect l="l" t="t" r="r" b="b"/>
            <a:pathLst>
              <a:path w="4208318" h="6927">
                <a:moveTo>
                  <a:pt x="0" y="0"/>
                </a:moveTo>
                <a:lnTo>
                  <a:pt x="4208318" y="0"/>
                </a:lnTo>
                <a:lnTo>
                  <a:pt x="4208318" y="6927"/>
                </a:lnTo>
                <a:lnTo>
                  <a:pt x="0" y="6927"/>
                </a:lnTo>
                <a:lnTo>
                  <a:pt x="0" y="0"/>
                </a:lnTo>
                <a:close/>
              </a:path>
            </a:pathLst>
          </a:custGeom>
          <a:solidFill>
            <a:srgbClr val="FFC9C9"/>
          </a:solidFill>
          <a:ln/>
        </p:spPr>
      </p:sp>
      <p:sp>
        <p:nvSpPr>
          <p:cNvPr id="27" name="Text 24"/>
          <p:cNvSpPr/>
          <p:nvPr/>
        </p:nvSpPr>
        <p:spPr>
          <a:xfrm>
            <a:off x="7571509" y="4949541"/>
            <a:ext cx="8139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Degradation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401533" y="4949541"/>
            <a:ext cx="44161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-8.85%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29055" y="5330541"/>
            <a:ext cx="4520045" cy="554182"/>
          </a:xfrm>
          <a:custGeom>
            <a:avLst/>
            <a:gdLst/>
            <a:ahLst/>
            <a:cxnLst/>
            <a:rect l="l" t="t" r="r" b="b"/>
            <a:pathLst>
              <a:path w="4520045" h="554182">
                <a:moveTo>
                  <a:pt x="0" y="0"/>
                </a:moveTo>
                <a:lnTo>
                  <a:pt x="4520045" y="0"/>
                </a:lnTo>
                <a:lnTo>
                  <a:pt x="4520045" y="554182"/>
                </a:lnTo>
                <a:lnTo>
                  <a:pt x="0" y="554182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0" name="Shape 27"/>
          <p:cNvSpPr/>
          <p:nvPr/>
        </p:nvSpPr>
        <p:spPr>
          <a:xfrm>
            <a:off x="7450282" y="5455227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41672" y="5683"/>
                </a:moveTo>
                <a:cubicBezTo>
                  <a:pt x="41672" y="2533"/>
                  <a:pt x="39138" y="0"/>
                  <a:pt x="35989" y="0"/>
                </a:cubicBezTo>
                <a:cubicBezTo>
                  <a:pt x="32840" y="0"/>
                  <a:pt x="30307" y="2533"/>
                  <a:pt x="30307" y="5683"/>
                </a:cubicBezTo>
                <a:lnTo>
                  <a:pt x="30307" y="15153"/>
                </a:lnTo>
                <a:cubicBezTo>
                  <a:pt x="21949" y="15153"/>
                  <a:pt x="15153" y="21949"/>
                  <a:pt x="15153" y="30307"/>
                </a:cubicBezTo>
                <a:lnTo>
                  <a:pt x="5683" y="30307"/>
                </a:lnTo>
                <a:cubicBezTo>
                  <a:pt x="2533" y="30307"/>
                  <a:pt x="0" y="32840"/>
                  <a:pt x="0" y="35989"/>
                </a:cubicBezTo>
                <a:cubicBezTo>
                  <a:pt x="0" y="39138"/>
                  <a:pt x="2533" y="41672"/>
                  <a:pt x="5683" y="41672"/>
                </a:cubicBezTo>
                <a:lnTo>
                  <a:pt x="15153" y="41672"/>
                </a:lnTo>
                <a:lnTo>
                  <a:pt x="15153" y="54931"/>
                </a:lnTo>
                <a:lnTo>
                  <a:pt x="5683" y="54931"/>
                </a:lnTo>
                <a:cubicBezTo>
                  <a:pt x="2533" y="54931"/>
                  <a:pt x="0" y="57465"/>
                  <a:pt x="0" y="60614"/>
                </a:cubicBezTo>
                <a:cubicBezTo>
                  <a:pt x="0" y="63763"/>
                  <a:pt x="2533" y="66296"/>
                  <a:pt x="5683" y="66296"/>
                </a:cubicBezTo>
                <a:lnTo>
                  <a:pt x="15153" y="66296"/>
                </a:lnTo>
                <a:lnTo>
                  <a:pt x="15153" y="79555"/>
                </a:lnTo>
                <a:lnTo>
                  <a:pt x="5683" y="79555"/>
                </a:lnTo>
                <a:cubicBezTo>
                  <a:pt x="2533" y="79555"/>
                  <a:pt x="0" y="82089"/>
                  <a:pt x="0" y="85238"/>
                </a:cubicBezTo>
                <a:cubicBezTo>
                  <a:pt x="0" y="88387"/>
                  <a:pt x="2533" y="90920"/>
                  <a:pt x="5683" y="90920"/>
                </a:cubicBezTo>
                <a:lnTo>
                  <a:pt x="15153" y="90920"/>
                </a:lnTo>
                <a:cubicBezTo>
                  <a:pt x="15153" y="99279"/>
                  <a:pt x="21949" y="106074"/>
                  <a:pt x="30307" y="106074"/>
                </a:cubicBezTo>
                <a:lnTo>
                  <a:pt x="30307" y="115545"/>
                </a:lnTo>
                <a:cubicBezTo>
                  <a:pt x="30307" y="118694"/>
                  <a:pt x="32840" y="121227"/>
                  <a:pt x="35989" y="121227"/>
                </a:cubicBezTo>
                <a:cubicBezTo>
                  <a:pt x="39138" y="121227"/>
                  <a:pt x="41672" y="118694"/>
                  <a:pt x="41672" y="115545"/>
                </a:cubicBezTo>
                <a:lnTo>
                  <a:pt x="41672" y="106074"/>
                </a:lnTo>
                <a:lnTo>
                  <a:pt x="54931" y="106074"/>
                </a:lnTo>
                <a:lnTo>
                  <a:pt x="54931" y="115545"/>
                </a:lnTo>
                <a:cubicBezTo>
                  <a:pt x="54931" y="118694"/>
                  <a:pt x="57465" y="121227"/>
                  <a:pt x="60614" y="121227"/>
                </a:cubicBezTo>
                <a:cubicBezTo>
                  <a:pt x="63763" y="121227"/>
                  <a:pt x="66296" y="118694"/>
                  <a:pt x="66296" y="115545"/>
                </a:cubicBezTo>
                <a:lnTo>
                  <a:pt x="66296" y="106074"/>
                </a:lnTo>
                <a:lnTo>
                  <a:pt x="79555" y="106074"/>
                </a:lnTo>
                <a:lnTo>
                  <a:pt x="79555" y="115545"/>
                </a:lnTo>
                <a:cubicBezTo>
                  <a:pt x="79555" y="118694"/>
                  <a:pt x="82089" y="121227"/>
                  <a:pt x="85238" y="121227"/>
                </a:cubicBezTo>
                <a:cubicBezTo>
                  <a:pt x="88387" y="121227"/>
                  <a:pt x="90920" y="118694"/>
                  <a:pt x="90920" y="115545"/>
                </a:cubicBezTo>
                <a:lnTo>
                  <a:pt x="90920" y="106074"/>
                </a:lnTo>
                <a:cubicBezTo>
                  <a:pt x="99279" y="106074"/>
                  <a:pt x="106074" y="99279"/>
                  <a:pt x="106074" y="90920"/>
                </a:cubicBezTo>
                <a:lnTo>
                  <a:pt x="115545" y="90920"/>
                </a:lnTo>
                <a:cubicBezTo>
                  <a:pt x="118694" y="90920"/>
                  <a:pt x="121227" y="88387"/>
                  <a:pt x="121227" y="85238"/>
                </a:cubicBezTo>
                <a:cubicBezTo>
                  <a:pt x="121227" y="82089"/>
                  <a:pt x="118694" y="79555"/>
                  <a:pt x="115545" y="79555"/>
                </a:cubicBezTo>
                <a:lnTo>
                  <a:pt x="106074" y="79555"/>
                </a:lnTo>
                <a:lnTo>
                  <a:pt x="106074" y="66296"/>
                </a:lnTo>
                <a:lnTo>
                  <a:pt x="115545" y="66296"/>
                </a:lnTo>
                <a:cubicBezTo>
                  <a:pt x="118694" y="66296"/>
                  <a:pt x="121227" y="63763"/>
                  <a:pt x="121227" y="60614"/>
                </a:cubicBezTo>
                <a:cubicBezTo>
                  <a:pt x="121227" y="57465"/>
                  <a:pt x="118694" y="54931"/>
                  <a:pt x="115545" y="54931"/>
                </a:cubicBezTo>
                <a:lnTo>
                  <a:pt x="106074" y="54931"/>
                </a:lnTo>
                <a:lnTo>
                  <a:pt x="106074" y="41672"/>
                </a:lnTo>
                <a:lnTo>
                  <a:pt x="115545" y="41672"/>
                </a:lnTo>
                <a:cubicBezTo>
                  <a:pt x="118694" y="41672"/>
                  <a:pt x="121227" y="39138"/>
                  <a:pt x="121227" y="35989"/>
                </a:cubicBezTo>
                <a:cubicBezTo>
                  <a:pt x="121227" y="32840"/>
                  <a:pt x="118694" y="30307"/>
                  <a:pt x="115545" y="30307"/>
                </a:cubicBezTo>
                <a:lnTo>
                  <a:pt x="106074" y="30307"/>
                </a:lnTo>
                <a:cubicBezTo>
                  <a:pt x="106074" y="21949"/>
                  <a:pt x="99279" y="15153"/>
                  <a:pt x="90920" y="15153"/>
                </a:cubicBezTo>
                <a:lnTo>
                  <a:pt x="90920" y="5683"/>
                </a:lnTo>
                <a:cubicBezTo>
                  <a:pt x="90920" y="2533"/>
                  <a:pt x="88387" y="0"/>
                  <a:pt x="85238" y="0"/>
                </a:cubicBezTo>
                <a:cubicBezTo>
                  <a:pt x="82089" y="0"/>
                  <a:pt x="79555" y="2533"/>
                  <a:pt x="79555" y="5683"/>
                </a:cubicBezTo>
                <a:lnTo>
                  <a:pt x="79555" y="15153"/>
                </a:lnTo>
                <a:lnTo>
                  <a:pt x="66296" y="15153"/>
                </a:lnTo>
                <a:lnTo>
                  <a:pt x="66296" y="5683"/>
                </a:lnTo>
                <a:cubicBezTo>
                  <a:pt x="66296" y="2533"/>
                  <a:pt x="63763" y="0"/>
                  <a:pt x="60614" y="0"/>
                </a:cubicBezTo>
                <a:cubicBezTo>
                  <a:pt x="57465" y="0"/>
                  <a:pt x="54931" y="2533"/>
                  <a:pt x="54931" y="5683"/>
                </a:cubicBezTo>
                <a:lnTo>
                  <a:pt x="54931" y="15153"/>
                </a:lnTo>
                <a:lnTo>
                  <a:pt x="41672" y="15153"/>
                </a:lnTo>
                <a:lnTo>
                  <a:pt x="41672" y="5683"/>
                </a:lnTo>
                <a:close/>
                <a:moveTo>
                  <a:pt x="37884" y="30307"/>
                </a:moveTo>
                <a:lnTo>
                  <a:pt x="83344" y="30307"/>
                </a:lnTo>
                <a:cubicBezTo>
                  <a:pt x="87535" y="30307"/>
                  <a:pt x="90920" y="33693"/>
                  <a:pt x="90920" y="37884"/>
                </a:cubicBezTo>
                <a:lnTo>
                  <a:pt x="90920" y="83344"/>
                </a:lnTo>
                <a:cubicBezTo>
                  <a:pt x="90920" y="87535"/>
                  <a:pt x="87535" y="90920"/>
                  <a:pt x="83344" y="90920"/>
                </a:cubicBezTo>
                <a:lnTo>
                  <a:pt x="37884" y="90920"/>
                </a:lnTo>
                <a:cubicBezTo>
                  <a:pt x="33693" y="90920"/>
                  <a:pt x="30307" y="87535"/>
                  <a:pt x="30307" y="83344"/>
                </a:cubicBezTo>
                <a:lnTo>
                  <a:pt x="30307" y="37884"/>
                </a:lnTo>
                <a:cubicBezTo>
                  <a:pt x="30307" y="33693"/>
                  <a:pt x="33693" y="30307"/>
                  <a:pt x="37884" y="30307"/>
                </a:cubicBezTo>
                <a:close/>
                <a:moveTo>
                  <a:pt x="41672" y="41672"/>
                </a:moveTo>
                <a:lnTo>
                  <a:pt x="41672" y="79555"/>
                </a:lnTo>
                <a:lnTo>
                  <a:pt x="79555" y="79555"/>
                </a:lnTo>
                <a:lnTo>
                  <a:pt x="79555" y="41672"/>
                </a:lnTo>
                <a:lnTo>
                  <a:pt x="41672" y="4167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7532150" y="5330541"/>
            <a:ext cx="4377564" cy="554182"/>
          </a:xfrm>
          <a:prstGeom prst="rect">
            <a:avLst/>
          </a:prstGeom>
          <a:noFill/>
          <a:ln/>
        </p:spPr>
        <p:txBody>
          <a:bodyPr wrap="square" lIns="103909" tIns="103909" rIns="103909" bIns="103909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Nearly identical degradation rates (~8.5%) indicate both frameworks hit hardware limits. The difference is in absolute throughput ceiling.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63682" y="5988632"/>
            <a:ext cx="3723409" cy="865909"/>
          </a:xfrm>
          <a:custGeom>
            <a:avLst/>
            <a:gdLst/>
            <a:ahLst/>
            <a:cxnLst/>
            <a:rect l="l" t="t" r="r" b="b"/>
            <a:pathLst>
              <a:path w="3723409" h="865909">
                <a:moveTo>
                  <a:pt x="0" y="0"/>
                </a:moveTo>
                <a:lnTo>
                  <a:pt x="3723409" y="0"/>
                </a:lnTo>
                <a:lnTo>
                  <a:pt x="3723409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Shape 30"/>
          <p:cNvSpPr/>
          <p:nvPr/>
        </p:nvSpPr>
        <p:spPr>
          <a:xfrm>
            <a:off x="363682" y="5988632"/>
            <a:ext cx="34636" cy="865909"/>
          </a:xfrm>
          <a:custGeom>
            <a:avLst/>
            <a:gdLst/>
            <a:ahLst/>
            <a:cxnLst/>
            <a:rect l="l" t="t" r="r" b="b"/>
            <a:pathLst>
              <a:path w="34636" h="865909">
                <a:moveTo>
                  <a:pt x="0" y="0"/>
                </a:moveTo>
                <a:lnTo>
                  <a:pt x="34636" y="0"/>
                </a:lnTo>
                <a:lnTo>
                  <a:pt x="34636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484909" y="609254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Hardware Saturation Point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84909" y="6300360"/>
            <a:ext cx="3576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~1,000 Concurrent Users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84909" y="657745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frameworks reach CPU limits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242955" y="5988632"/>
            <a:ext cx="3723409" cy="865909"/>
          </a:xfrm>
          <a:custGeom>
            <a:avLst/>
            <a:gdLst/>
            <a:ahLst/>
            <a:cxnLst/>
            <a:rect l="l" t="t" r="r" b="b"/>
            <a:pathLst>
              <a:path w="3723409" h="865909">
                <a:moveTo>
                  <a:pt x="0" y="0"/>
                </a:moveTo>
                <a:lnTo>
                  <a:pt x="3723409" y="0"/>
                </a:lnTo>
                <a:lnTo>
                  <a:pt x="3723409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5"/>
          <p:cNvSpPr/>
          <p:nvPr/>
        </p:nvSpPr>
        <p:spPr>
          <a:xfrm>
            <a:off x="4242955" y="5988632"/>
            <a:ext cx="34636" cy="865909"/>
          </a:xfrm>
          <a:custGeom>
            <a:avLst/>
            <a:gdLst/>
            <a:ahLst/>
            <a:cxnLst/>
            <a:rect l="l" t="t" r="r" b="b"/>
            <a:pathLst>
              <a:path w="34636" h="865909">
                <a:moveTo>
                  <a:pt x="0" y="0"/>
                </a:moveTo>
                <a:lnTo>
                  <a:pt x="34636" y="0"/>
                </a:lnTo>
                <a:lnTo>
                  <a:pt x="34636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Text 36"/>
          <p:cNvSpPr/>
          <p:nvPr/>
        </p:nvSpPr>
        <p:spPr>
          <a:xfrm>
            <a:off x="4364182" y="609254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Throughput Ceiling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364182" y="6300360"/>
            <a:ext cx="3576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~530-564 RPS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364182" y="657745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Process-switching overhead limits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22227" y="5988632"/>
            <a:ext cx="3723409" cy="865909"/>
          </a:xfrm>
          <a:custGeom>
            <a:avLst/>
            <a:gdLst/>
            <a:ahLst/>
            <a:cxnLst/>
            <a:rect l="l" t="t" r="r" b="b"/>
            <a:pathLst>
              <a:path w="3723409" h="865909">
                <a:moveTo>
                  <a:pt x="0" y="0"/>
                </a:moveTo>
                <a:lnTo>
                  <a:pt x="3723409" y="0"/>
                </a:lnTo>
                <a:lnTo>
                  <a:pt x="3723409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Shape 40"/>
          <p:cNvSpPr/>
          <p:nvPr/>
        </p:nvSpPr>
        <p:spPr>
          <a:xfrm>
            <a:off x="8122227" y="5988632"/>
            <a:ext cx="34636" cy="865909"/>
          </a:xfrm>
          <a:custGeom>
            <a:avLst/>
            <a:gdLst/>
            <a:ahLst/>
            <a:cxnLst/>
            <a:rect l="l" t="t" r="r" b="b"/>
            <a:pathLst>
              <a:path w="34636" h="865909">
                <a:moveTo>
                  <a:pt x="0" y="0"/>
                </a:moveTo>
                <a:lnTo>
                  <a:pt x="34636" y="0"/>
                </a:lnTo>
                <a:lnTo>
                  <a:pt x="34636" y="865909"/>
                </a:lnTo>
                <a:lnTo>
                  <a:pt x="0" y="86590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1"/>
          <p:cNvSpPr/>
          <p:nvPr/>
        </p:nvSpPr>
        <p:spPr>
          <a:xfrm>
            <a:off x="8243455" y="609254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Throughput Ceiling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243455" y="6300360"/>
            <a:ext cx="3576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~765-839 RPS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243455" y="6577451"/>
            <a:ext cx="3558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Thread-level efficiency advantage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4.2 SCALING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 Latency Explosion Under Load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pic>
        <p:nvPicPr>
          <p:cNvPr id="5" name="Image 0" descr="https://kimi-img.moonshot.cn/pub/slides/26-03-26-10:24:21-d729hlfqmogpoe9k5g5g.png">    </p:cNvPr>
          <p:cNvPicPr>
            <a:picLocks noChangeAspect="1"/>
          </p:cNvPicPr>
          <p:nvPr/>
        </p:nvPicPr>
        <p:blipFill>
          <a:blip r:embed="rId1"/>
          <a:srcRect l="0" r="0" t="28" b="28"/>
          <a:stretch/>
        </p:blipFill>
        <p:spPr>
          <a:xfrm>
            <a:off x="381000" y="1200150"/>
            <a:ext cx="6724650" cy="40005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34250" y="1200150"/>
            <a:ext cx="4476750" cy="2095500"/>
          </a:xfrm>
          <a:custGeom>
            <a:avLst/>
            <a:gdLst/>
            <a:ahLst/>
            <a:cxnLst/>
            <a:rect l="l" t="t" r="r" b="b"/>
            <a:pathLst>
              <a:path w="4476750" h="2095500">
                <a:moveTo>
                  <a:pt x="0" y="0"/>
                </a:moveTo>
                <a:lnTo>
                  <a:pt x="4476750" y="0"/>
                </a:lnTo>
                <a:lnTo>
                  <a:pt x="447675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7486650" y="135255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P99 Latency Growth Factor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86650" y="169545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0" y="0"/>
                </a:moveTo>
                <a:lnTo>
                  <a:pt x="4171950" y="0"/>
                </a:lnTo>
                <a:lnTo>
                  <a:pt x="41719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562850" y="1809629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P99 Growth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19141" y="1771650"/>
            <a:ext cx="47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A2A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5.2×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62850" y="2114429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2,500ms → 13,000ms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86650" y="2457329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0" y="0"/>
                </a:moveTo>
                <a:lnTo>
                  <a:pt x="4171950" y="0"/>
                </a:lnTo>
                <a:lnTo>
                  <a:pt x="41719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562850" y="2571517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P99 Growth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82112" y="2533529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BF1A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2.4×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62850" y="2876317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1,200ms → 2,900ms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53300" y="3409717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524750" y="3409717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Python's Tail Latency Explodes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24750" y="37907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9" name="Text 16"/>
          <p:cNvSpPr/>
          <p:nvPr/>
        </p:nvSpPr>
        <p:spPr>
          <a:xfrm>
            <a:off x="7754660" y="3752617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OS-Level Socket Queuing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54660" y="3981217"/>
            <a:ext cx="4124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all 8 workers are busy, OS must queue at socket level — adds OS scheduling jitter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19988" y="44765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2" name="Text 19"/>
          <p:cNvSpPr/>
          <p:nvPr/>
        </p:nvSpPr>
        <p:spPr>
          <a:xfrm>
            <a:off x="7748231" y="4438417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GIL Serialization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48231" y="4667017"/>
            <a:ext cx="413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GIL can cause brief serialization even in multi-process model (shared file descriptors)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29513" y="51623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5" name="Text 22"/>
          <p:cNvSpPr/>
          <p:nvPr/>
        </p:nvSpPr>
        <p:spPr>
          <a:xfrm>
            <a:off x="7767400" y="5124217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Inference Variance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67400" y="5352817"/>
            <a:ext cx="411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XGBoost model inference time has higher variance per call than ONNX Runtime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00050" y="5848117"/>
            <a:ext cx="11410950" cy="800100"/>
          </a:xfrm>
          <a:custGeom>
            <a:avLst/>
            <a:gdLst/>
            <a:ahLst/>
            <a:cxnLst/>
            <a:rect l="l" t="t" r="r" b="b"/>
            <a:pathLst>
              <a:path w="11410950" h="800100">
                <a:moveTo>
                  <a:pt x="0" y="0"/>
                </a:moveTo>
                <a:lnTo>
                  <a:pt x="11410950" y="0"/>
                </a:lnTo>
                <a:lnTo>
                  <a:pt x="114109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8" name="Shape 25"/>
          <p:cNvSpPr/>
          <p:nvPr/>
        </p:nvSpPr>
        <p:spPr>
          <a:xfrm>
            <a:off x="400050" y="5848117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6000517"/>
            <a:ext cx="1116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Under 10× load increase, FastAPI tail latency grew 5.2× while Spring Boot grew only 2.4×.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highlight>
                  <a:srgbClr val="FFE2E2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GIL contention in Python's multi-process model causes disproportionate queue buildup in overload conditions.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is critical for SLA-guaranteed services where P99 latency directly impacts user experience.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4.3 SCALING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Stability &amp; Failure Behavior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287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00150"/>
            <a:ext cx="38100" cy="3048000"/>
          </a:xfrm>
          <a:custGeom>
            <a:avLst/>
            <a:gdLst/>
            <a:ahLst/>
            <a:cxnLst/>
            <a:rect l="l" t="t" r="r" b="b"/>
            <a:pathLst>
              <a:path w="38100" h="3048000">
                <a:moveTo>
                  <a:pt x="0" y="0"/>
                </a:moveTo>
                <a:lnTo>
                  <a:pt x="38100" y="0"/>
                </a:lnTo>
                <a:lnTo>
                  <a:pt x="381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2001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Growth Comparison</a:t>
            </a:r>
            <a:endParaRPr lang="en-US" sz="1600" dirty="0"/>
          </a:p>
        </p:txBody>
      </p:sp>
      <p:pic>
        <p:nvPicPr>
          <p:cNvPr id="7" name="Image 0" descr="https://kimi-img.moonshot.cn/pub/slides/26-03-26-10:24:22-d729hljkvk6nv6k5v3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581150"/>
            <a:ext cx="54102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81000" y="4400550"/>
            <a:ext cx="5600700" cy="2228850"/>
          </a:xfrm>
          <a:custGeom>
            <a:avLst/>
            <a:gdLst/>
            <a:ahLst/>
            <a:cxnLst/>
            <a:rect l="l" t="t" r="r" b="b"/>
            <a:pathLst>
              <a:path w="5600700" h="2228850">
                <a:moveTo>
                  <a:pt x="0" y="0"/>
                </a:moveTo>
                <a:lnTo>
                  <a:pt x="5600700" y="0"/>
                </a:lnTo>
                <a:lnTo>
                  <a:pt x="5600700" y="2228850"/>
                </a:lnTo>
                <a:lnTo>
                  <a:pt x="0" y="22288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9" name="Shape 6"/>
          <p:cNvSpPr/>
          <p:nvPr/>
        </p:nvSpPr>
        <p:spPr>
          <a:xfrm>
            <a:off x="557213" y="4600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52475" y="4552950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Stability Analysis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49339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Boot: Stable Memory Footprint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3400" y="5200650"/>
            <a:ext cx="5362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G1GC bounds the JVM heap effectively. Memory stays flat (0.94× growth) even under extreme 10K user load. Predictable for Kubernetes resource limits.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3400" y="5748338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FastAPI: Uncontrolled Memory Growth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3400" y="6015038"/>
            <a:ext cx="5362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grew 3.9× as 8 Python processes accumulate queued connections. Each process loads full model copy — no sharing possible.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9350" y="1200150"/>
            <a:ext cx="38100" cy="4133850"/>
          </a:xfrm>
          <a:custGeom>
            <a:avLst/>
            <a:gdLst/>
            <a:ahLst/>
            <a:cxnLst/>
            <a:rect l="l" t="t" r="r" b="b"/>
            <a:pathLst>
              <a:path w="38100" h="4133850">
                <a:moveTo>
                  <a:pt x="0" y="0"/>
                </a:moveTo>
                <a:lnTo>
                  <a:pt x="38100" y="0"/>
                </a:lnTo>
                <a:lnTo>
                  <a:pt x="38100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200150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Behavior Under Extreme Load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8420" y="1588770"/>
            <a:ext cx="5396865" cy="1805940"/>
          </a:xfrm>
          <a:custGeom>
            <a:avLst/>
            <a:gdLst/>
            <a:ahLst/>
            <a:cxnLst/>
            <a:rect l="l" t="t" r="r" b="b"/>
            <a:pathLst>
              <a:path w="5396865" h="1805940">
                <a:moveTo>
                  <a:pt x="0" y="0"/>
                </a:moveTo>
                <a:lnTo>
                  <a:pt x="5396865" y="0"/>
                </a:lnTo>
                <a:lnTo>
                  <a:pt x="5396865" y="1805940"/>
                </a:lnTo>
                <a:lnTo>
                  <a:pt x="0" y="1805940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 w="20320">
            <a:solidFill>
              <a:srgbClr val="FFC9C9"/>
            </a:solidFill>
            <a:prstDash val="solid"/>
          </a:ln>
        </p:spPr>
      </p:sp>
      <p:pic>
        <p:nvPicPr>
          <p:cNvPr id="18" name="Image 1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2"/>
          <a:srcRect l="1" r="1" t="0" b="0"/>
          <a:stretch/>
        </p:blipFill>
        <p:spPr>
          <a:xfrm>
            <a:off x="6568440" y="1786896"/>
            <a:ext cx="1057275" cy="381000"/>
          </a:xfrm>
          <a:prstGeom prst="roundRect">
            <a:avLst>
              <a:gd name="adj" fmla="val 0"/>
            </a:avLst>
          </a:prstGeom>
        </p:spPr>
      </p:pic>
      <p:sp>
        <p:nvSpPr>
          <p:cNvPr id="19" name="Text 15"/>
          <p:cNvSpPr/>
          <p:nvPr/>
        </p:nvSpPr>
        <p:spPr>
          <a:xfrm>
            <a:off x="7740015" y="1748796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740015" y="2015496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First failures at 10,000 users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568440" y="2320296"/>
            <a:ext cx="2476500" cy="647700"/>
          </a:xfrm>
          <a:custGeom>
            <a:avLst/>
            <a:gdLst/>
            <a:ahLst/>
            <a:cxnLst/>
            <a:rect l="l" t="t" r="r" b="b"/>
            <a:pathLst>
              <a:path w="2476500" h="647700">
                <a:moveTo>
                  <a:pt x="0" y="0"/>
                </a:moveTo>
                <a:lnTo>
                  <a:pt x="2476500" y="0"/>
                </a:lnTo>
                <a:lnTo>
                  <a:pt x="24765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587490" y="239649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0.10%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11303" y="270117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9163050" y="2320296"/>
            <a:ext cx="2476500" cy="647700"/>
          </a:xfrm>
          <a:custGeom>
            <a:avLst/>
            <a:gdLst/>
            <a:ahLst/>
            <a:cxnLst/>
            <a:rect l="l" t="t" r="r" b="b"/>
            <a:pathLst>
              <a:path w="2476500" h="647700">
                <a:moveTo>
                  <a:pt x="0" y="0"/>
                </a:moveTo>
                <a:lnTo>
                  <a:pt x="2476500" y="0"/>
                </a:lnTo>
                <a:lnTo>
                  <a:pt x="24765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9182100" y="2396496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700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90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205913" y="270117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Failed Requests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587490" y="306692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8" name="Text 24"/>
          <p:cNvSpPr/>
          <p:nvPr/>
        </p:nvSpPr>
        <p:spPr>
          <a:xfrm>
            <a:off x="6768465" y="3044075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Out of 94,638 total requests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408420" y="3524131"/>
            <a:ext cx="5396865" cy="1805940"/>
          </a:xfrm>
          <a:custGeom>
            <a:avLst/>
            <a:gdLst/>
            <a:ahLst/>
            <a:cxnLst/>
            <a:rect l="l" t="t" r="r" b="b"/>
            <a:pathLst>
              <a:path w="5396865" h="1805940">
                <a:moveTo>
                  <a:pt x="0" y="0"/>
                </a:moveTo>
                <a:lnTo>
                  <a:pt x="5396865" y="0"/>
                </a:lnTo>
                <a:lnTo>
                  <a:pt x="5396865" y="1805940"/>
                </a:lnTo>
                <a:lnTo>
                  <a:pt x="0" y="180594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 w="20320">
            <a:solidFill>
              <a:srgbClr val="B9F8C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568440" y="37222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7"/>
          <p:cNvSpPr/>
          <p:nvPr/>
        </p:nvSpPr>
        <p:spPr>
          <a:xfrm>
            <a:off x="6663690" y="38175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7063740" y="3684157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063740" y="3950857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 failures across all levels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568440" y="4255657"/>
            <a:ext cx="2476500" cy="647700"/>
          </a:xfrm>
          <a:custGeom>
            <a:avLst/>
            <a:gdLst/>
            <a:ahLst/>
            <a:cxnLst/>
            <a:rect l="l" t="t" r="r" b="b"/>
            <a:pathLst>
              <a:path w="2476500" h="647700">
                <a:moveTo>
                  <a:pt x="0" y="0"/>
                </a:moveTo>
                <a:lnTo>
                  <a:pt x="2476500" y="0"/>
                </a:lnTo>
                <a:lnTo>
                  <a:pt x="24765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1"/>
          <p:cNvSpPr/>
          <p:nvPr/>
        </p:nvSpPr>
        <p:spPr>
          <a:xfrm>
            <a:off x="6587490" y="4331857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0.00%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611303" y="463653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9163050" y="4255657"/>
            <a:ext cx="2476500" cy="647700"/>
          </a:xfrm>
          <a:custGeom>
            <a:avLst/>
            <a:gdLst/>
            <a:ahLst/>
            <a:cxnLst/>
            <a:rect l="l" t="t" r="r" b="b"/>
            <a:pathLst>
              <a:path w="2476500" h="647700">
                <a:moveTo>
                  <a:pt x="0" y="0"/>
                </a:moveTo>
                <a:lnTo>
                  <a:pt x="2476500" y="0"/>
                </a:lnTo>
                <a:lnTo>
                  <a:pt x="24765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4"/>
          <p:cNvSpPr/>
          <p:nvPr/>
        </p:nvSpPr>
        <p:spPr>
          <a:xfrm>
            <a:off x="9182100" y="4331857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9205913" y="4636536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Failed Requests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6587490" y="50022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1" name="Text 37"/>
          <p:cNvSpPr/>
          <p:nvPr/>
        </p:nvSpPr>
        <p:spPr>
          <a:xfrm>
            <a:off x="6768465" y="4979436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Maintained 100% reliability (1K-10K users)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210300" y="5489972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0" y="0"/>
                </a:moveTo>
                <a:lnTo>
                  <a:pt x="5600700" y="0"/>
                </a:lnTo>
                <a:lnTo>
                  <a:pt x="56007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Shape 39"/>
          <p:cNvSpPr/>
          <p:nvPr/>
        </p:nvSpPr>
        <p:spPr>
          <a:xfrm>
            <a:off x="6386513" y="568999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0"/>
          <p:cNvSpPr/>
          <p:nvPr/>
        </p:nvSpPr>
        <p:spPr>
          <a:xfrm>
            <a:off x="6581775" y="5642372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Reliability Conclusion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6362700" y="5985272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is more resilient under extreme overload. FastAPI will OOM before Spring Boot under sustained overload due to uncontrolled memory growth.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wardsdatascience.com/ec6ec102ba059a82573bf44feba90708c125165f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307" b="130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Root Cause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explanations for performance differences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4938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spc="49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5.1 ROOT CAUSE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563385"/>
            <a:ext cx="11619812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Java Wins: Throughput &amp; Efficiency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116" y="950712"/>
            <a:ext cx="563385" cy="17606"/>
          </a:xfrm>
          <a:custGeom>
            <a:avLst/>
            <a:gdLst/>
            <a:ahLst/>
            <a:cxnLst/>
            <a:rect l="l" t="t" r="r" b="b"/>
            <a:pathLst>
              <a:path w="563385" h="17606">
                <a:moveTo>
                  <a:pt x="0" y="0"/>
                </a:moveTo>
                <a:lnTo>
                  <a:pt x="563385" y="0"/>
                </a:lnTo>
                <a:lnTo>
                  <a:pt x="563385" y="17606"/>
                </a:lnTo>
                <a:lnTo>
                  <a:pt x="0" y="1760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52116" y="1109164"/>
            <a:ext cx="5633848" cy="1161981"/>
          </a:xfrm>
          <a:custGeom>
            <a:avLst/>
            <a:gdLst/>
            <a:ahLst/>
            <a:cxnLst/>
            <a:rect l="l" t="t" r="r" b="b"/>
            <a:pathLst>
              <a:path w="5633848" h="1161981">
                <a:moveTo>
                  <a:pt x="0" y="0"/>
                </a:moveTo>
                <a:lnTo>
                  <a:pt x="5633848" y="0"/>
                </a:lnTo>
                <a:lnTo>
                  <a:pt x="5633848" y="1161981"/>
                </a:lnTo>
                <a:lnTo>
                  <a:pt x="0" y="116198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50181" y="1320433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49619" y="0"/>
                </a:moveTo>
                <a:lnTo>
                  <a:pt x="126645" y="0"/>
                </a:lnTo>
                <a:cubicBezTo>
                  <a:pt x="135757" y="0"/>
                  <a:pt x="143184" y="7496"/>
                  <a:pt x="142841" y="16574"/>
                </a:cubicBezTo>
                <a:cubicBezTo>
                  <a:pt x="142772" y="18397"/>
                  <a:pt x="142703" y="20219"/>
                  <a:pt x="142600" y="22007"/>
                </a:cubicBezTo>
                <a:lnTo>
                  <a:pt x="159656" y="22007"/>
                </a:lnTo>
                <a:cubicBezTo>
                  <a:pt x="168630" y="22007"/>
                  <a:pt x="176539" y="29435"/>
                  <a:pt x="175851" y="39132"/>
                </a:cubicBezTo>
                <a:cubicBezTo>
                  <a:pt x="173272" y="74790"/>
                  <a:pt x="155048" y="94390"/>
                  <a:pt x="135276" y="104637"/>
                </a:cubicBezTo>
                <a:cubicBezTo>
                  <a:pt x="129843" y="107457"/>
                  <a:pt x="124306" y="109555"/>
                  <a:pt x="119045" y="111102"/>
                </a:cubicBezTo>
                <a:cubicBezTo>
                  <a:pt x="112099" y="120937"/>
                  <a:pt x="104878" y="126129"/>
                  <a:pt x="99136" y="128914"/>
                </a:cubicBezTo>
                <a:lnTo>
                  <a:pt x="99136" y="154051"/>
                </a:lnTo>
                <a:lnTo>
                  <a:pt x="121143" y="154051"/>
                </a:lnTo>
                <a:cubicBezTo>
                  <a:pt x="127229" y="154051"/>
                  <a:pt x="132146" y="158968"/>
                  <a:pt x="132146" y="165054"/>
                </a:cubicBezTo>
                <a:cubicBezTo>
                  <a:pt x="132146" y="171141"/>
                  <a:pt x="127229" y="176058"/>
                  <a:pt x="121143" y="176058"/>
                </a:cubicBezTo>
                <a:lnTo>
                  <a:pt x="55121" y="176058"/>
                </a:lnTo>
                <a:cubicBezTo>
                  <a:pt x="49035" y="176058"/>
                  <a:pt x="44118" y="171141"/>
                  <a:pt x="44118" y="165054"/>
                </a:cubicBezTo>
                <a:cubicBezTo>
                  <a:pt x="44118" y="158968"/>
                  <a:pt x="49035" y="154051"/>
                  <a:pt x="55121" y="154051"/>
                </a:cubicBezTo>
                <a:lnTo>
                  <a:pt x="77128" y="154051"/>
                </a:lnTo>
                <a:lnTo>
                  <a:pt x="77128" y="128914"/>
                </a:lnTo>
                <a:cubicBezTo>
                  <a:pt x="71627" y="126266"/>
                  <a:pt x="64784" y="121349"/>
                  <a:pt x="58113" y="112306"/>
                </a:cubicBezTo>
                <a:cubicBezTo>
                  <a:pt x="51786" y="110655"/>
                  <a:pt x="44908" y="108145"/>
                  <a:pt x="38203" y="104362"/>
                </a:cubicBezTo>
                <a:cubicBezTo>
                  <a:pt x="19600" y="93943"/>
                  <a:pt x="2820" y="74309"/>
                  <a:pt x="413" y="39063"/>
                </a:cubicBezTo>
                <a:cubicBezTo>
                  <a:pt x="-241" y="29400"/>
                  <a:pt x="7634" y="21973"/>
                  <a:pt x="16609" y="21973"/>
                </a:cubicBezTo>
                <a:lnTo>
                  <a:pt x="33664" y="21973"/>
                </a:lnTo>
                <a:cubicBezTo>
                  <a:pt x="33561" y="20185"/>
                  <a:pt x="33492" y="18397"/>
                  <a:pt x="33423" y="16540"/>
                </a:cubicBezTo>
                <a:cubicBezTo>
                  <a:pt x="33080" y="7427"/>
                  <a:pt x="40507" y="-34"/>
                  <a:pt x="49619" y="-34"/>
                </a:cubicBezTo>
                <a:close/>
                <a:moveTo>
                  <a:pt x="34902" y="38513"/>
                </a:moveTo>
                <a:lnTo>
                  <a:pt x="16884" y="38513"/>
                </a:lnTo>
                <a:cubicBezTo>
                  <a:pt x="19016" y="67638"/>
                  <a:pt x="32392" y="82218"/>
                  <a:pt x="46181" y="89955"/>
                </a:cubicBezTo>
                <a:cubicBezTo>
                  <a:pt x="41229" y="77128"/>
                  <a:pt x="37137" y="60382"/>
                  <a:pt x="34902" y="38513"/>
                </a:cubicBezTo>
                <a:close/>
                <a:moveTo>
                  <a:pt x="130668" y="88304"/>
                </a:moveTo>
                <a:cubicBezTo>
                  <a:pt x="144594" y="80120"/>
                  <a:pt x="157180" y="65575"/>
                  <a:pt x="159312" y="38513"/>
                </a:cubicBezTo>
                <a:lnTo>
                  <a:pt x="141328" y="38513"/>
                </a:lnTo>
                <a:cubicBezTo>
                  <a:pt x="139196" y="59454"/>
                  <a:pt x="135344" y="75719"/>
                  <a:pt x="130668" y="883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8245" y="1285222"/>
            <a:ext cx="514969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Performance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8173" y="1637337"/>
            <a:ext cx="5352156" cy="45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Java's architectural advantages enable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~48% higher throughput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2-3× lower tail latency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through superior runtime efficiency and concurrency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9721" y="2411991"/>
            <a:ext cx="35212" cy="4445458"/>
          </a:xfrm>
          <a:custGeom>
            <a:avLst/>
            <a:gdLst/>
            <a:ahLst/>
            <a:cxnLst/>
            <a:rect l="l" t="t" r="r" b="b"/>
            <a:pathLst>
              <a:path w="35212" h="4445458">
                <a:moveTo>
                  <a:pt x="0" y="0"/>
                </a:moveTo>
                <a:lnTo>
                  <a:pt x="35212" y="0"/>
                </a:lnTo>
                <a:lnTo>
                  <a:pt x="35212" y="4445458"/>
                </a:lnTo>
                <a:lnTo>
                  <a:pt x="0" y="444545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63385" y="2411991"/>
            <a:ext cx="551060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Reasons for Java's Superiority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3385" y="2799318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35212" y="0"/>
                </a:moveTo>
                <a:lnTo>
                  <a:pt x="246481" y="0"/>
                </a:lnTo>
                <a:cubicBezTo>
                  <a:pt x="265928" y="0"/>
                  <a:pt x="281692" y="15765"/>
                  <a:pt x="281692" y="35212"/>
                </a:cubicBezTo>
                <a:lnTo>
                  <a:pt x="281692" y="246481"/>
                </a:lnTo>
                <a:cubicBezTo>
                  <a:pt x="281692" y="265928"/>
                  <a:pt x="265928" y="281692"/>
                  <a:pt x="246481" y="281692"/>
                </a:cubicBezTo>
                <a:lnTo>
                  <a:pt x="35212" y="281692"/>
                </a:lnTo>
                <a:cubicBezTo>
                  <a:pt x="15765" y="281692"/>
                  <a:pt x="0" y="265928"/>
                  <a:pt x="0" y="24648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28173" y="2799318"/>
            <a:ext cx="35211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712" y="2799318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Native JNI Bindings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712" y="3045799"/>
            <a:ext cx="5105675" cy="68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ONNX Runtime uses native JNI bindings —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 Python interpreter overhead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per inference call. Direct native execution path eliminates language boundary crossing costs.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3385" y="3873271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35212" y="0"/>
                </a:moveTo>
                <a:lnTo>
                  <a:pt x="246481" y="0"/>
                </a:lnTo>
                <a:cubicBezTo>
                  <a:pt x="265928" y="0"/>
                  <a:pt x="281692" y="15765"/>
                  <a:pt x="281692" y="35212"/>
                </a:cubicBezTo>
                <a:lnTo>
                  <a:pt x="281692" y="246481"/>
                </a:lnTo>
                <a:cubicBezTo>
                  <a:pt x="281692" y="265928"/>
                  <a:pt x="265928" y="281692"/>
                  <a:pt x="246481" y="281692"/>
                </a:cubicBezTo>
                <a:lnTo>
                  <a:pt x="35212" y="281692"/>
                </a:lnTo>
                <a:cubicBezTo>
                  <a:pt x="15765" y="281692"/>
                  <a:pt x="0" y="265928"/>
                  <a:pt x="0" y="24648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28173" y="3873271"/>
            <a:ext cx="35211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712" y="3873271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Shared-Memory Threading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712" y="4119752"/>
            <a:ext cx="5105675" cy="68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 Tomcat threads share a single JVM heap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no inter-process IPC overhead. Thread context switching is orders of magnitude cheaper than process context switching.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3385" y="4947223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35212" y="0"/>
                </a:moveTo>
                <a:lnTo>
                  <a:pt x="246481" y="0"/>
                </a:lnTo>
                <a:cubicBezTo>
                  <a:pt x="265928" y="0"/>
                  <a:pt x="281692" y="15765"/>
                  <a:pt x="281692" y="35212"/>
                </a:cubicBezTo>
                <a:lnTo>
                  <a:pt x="281692" y="246481"/>
                </a:lnTo>
                <a:cubicBezTo>
                  <a:pt x="281692" y="265928"/>
                  <a:pt x="265928" y="281692"/>
                  <a:pt x="246481" y="281692"/>
                </a:cubicBezTo>
                <a:lnTo>
                  <a:pt x="35212" y="281692"/>
                </a:lnTo>
                <a:cubicBezTo>
                  <a:pt x="15765" y="281692"/>
                  <a:pt x="0" y="265928"/>
                  <a:pt x="0" y="24648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28173" y="4947223"/>
            <a:ext cx="35211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712" y="4947223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JIT Compilation Optimization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712" y="5193704"/>
            <a:ext cx="5105675" cy="68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HotSpot C2 compiler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optimizes hot inference paths after warmup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Frequently executed code paths are compiled to native machine code for maximum performance.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3385" y="6021175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35212" y="0"/>
                </a:moveTo>
                <a:lnTo>
                  <a:pt x="246481" y="0"/>
                </a:lnTo>
                <a:cubicBezTo>
                  <a:pt x="265928" y="0"/>
                  <a:pt x="281692" y="15765"/>
                  <a:pt x="281692" y="35212"/>
                </a:cubicBezTo>
                <a:lnTo>
                  <a:pt x="281692" y="246481"/>
                </a:lnTo>
                <a:cubicBezTo>
                  <a:pt x="281692" y="265928"/>
                  <a:pt x="265928" y="281692"/>
                  <a:pt x="246481" y="281692"/>
                </a:cubicBezTo>
                <a:lnTo>
                  <a:pt x="35212" y="281692"/>
                </a:lnTo>
                <a:cubicBezTo>
                  <a:pt x="15765" y="281692"/>
                  <a:pt x="0" y="265928"/>
                  <a:pt x="0" y="24648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28173" y="6021175"/>
            <a:ext cx="35211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0712" y="6021175"/>
            <a:ext cx="511447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GIL Equivalent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712" y="6267656"/>
            <a:ext cx="5105675" cy="45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50 threads can execute inference concurrently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without global interpreter lock serialization. True parallelism without artificial constraints.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8800" y="1109164"/>
            <a:ext cx="35212" cy="3045799"/>
          </a:xfrm>
          <a:custGeom>
            <a:avLst/>
            <a:gdLst/>
            <a:ahLst/>
            <a:cxnLst/>
            <a:rect l="l" t="t" r="r" b="b"/>
            <a:pathLst>
              <a:path w="35212" h="3045799">
                <a:moveTo>
                  <a:pt x="0" y="0"/>
                </a:moveTo>
                <a:lnTo>
                  <a:pt x="35212" y="0"/>
                </a:lnTo>
                <a:lnTo>
                  <a:pt x="35212" y="3045799"/>
                </a:lnTo>
                <a:lnTo>
                  <a:pt x="0" y="304579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12464" y="1109164"/>
            <a:ext cx="551060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CPU Efficiency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2464" y="1461279"/>
            <a:ext cx="5422579" cy="1021135"/>
          </a:xfrm>
          <a:custGeom>
            <a:avLst/>
            <a:gdLst/>
            <a:ahLst/>
            <a:cxnLst/>
            <a:rect l="l" t="t" r="r" b="b"/>
            <a:pathLst>
              <a:path w="5422579" h="1021135">
                <a:moveTo>
                  <a:pt x="0" y="0"/>
                </a:moveTo>
                <a:lnTo>
                  <a:pt x="5422579" y="0"/>
                </a:lnTo>
                <a:lnTo>
                  <a:pt x="5422579" y="1021135"/>
                </a:lnTo>
                <a:lnTo>
                  <a:pt x="0" y="102113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6553310" y="1602126"/>
            <a:ext cx="865104" cy="20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Observation: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53310" y="1883818"/>
            <a:ext cx="5211310" cy="45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servers use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~7-8% CPU average on 4 cores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during steady-state load. The bottleneck is NOT raw CPU usage — it is per-request processing overhead.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2464" y="2588049"/>
            <a:ext cx="5422579" cy="1566914"/>
          </a:xfrm>
          <a:custGeom>
            <a:avLst/>
            <a:gdLst/>
            <a:ahLst/>
            <a:cxnLst/>
            <a:rect l="l" t="t" r="r" b="b"/>
            <a:pathLst>
              <a:path w="5422579" h="1566914">
                <a:moveTo>
                  <a:pt x="0" y="0"/>
                </a:moveTo>
                <a:lnTo>
                  <a:pt x="5422579" y="0"/>
                </a:lnTo>
                <a:lnTo>
                  <a:pt x="5422579" y="1566914"/>
                </a:lnTo>
                <a:lnTo>
                  <a:pt x="0" y="1566914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3" name="Text 31"/>
          <p:cNvSpPr/>
          <p:nvPr/>
        </p:nvSpPr>
        <p:spPr>
          <a:xfrm>
            <a:off x="6553310" y="2728895"/>
            <a:ext cx="820759" cy="20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3310" y="3010588"/>
            <a:ext cx="5211310" cy="228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executes more inferences per CPU cycle due to: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3310" y="3309886"/>
            <a:ext cx="5211310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Lower runtime overhead (JNI vs CPython C-extension)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3310" y="3556367"/>
            <a:ext cx="5211310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JIT-optimized hot paths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3310" y="3802848"/>
            <a:ext cx="5211310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Zero inter-process communication cost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8800" y="4295809"/>
            <a:ext cx="5616243" cy="2561640"/>
          </a:xfrm>
          <a:custGeom>
            <a:avLst/>
            <a:gdLst/>
            <a:ahLst/>
            <a:cxnLst/>
            <a:rect l="l" t="t" r="r" b="b"/>
            <a:pathLst>
              <a:path w="5616243" h="2561640">
                <a:moveTo>
                  <a:pt x="0" y="0"/>
                </a:moveTo>
                <a:lnTo>
                  <a:pt x="5616243" y="0"/>
                </a:lnTo>
                <a:lnTo>
                  <a:pt x="5616243" y="2561640"/>
                </a:lnTo>
                <a:lnTo>
                  <a:pt x="0" y="256164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8800" y="4295809"/>
            <a:ext cx="35212" cy="2561640"/>
          </a:xfrm>
          <a:custGeom>
            <a:avLst/>
            <a:gdLst/>
            <a:ahLst/>
            <a:cxnLst/>
            <a:rect l="l" t="t" r="r" b="b"/>
            <a:pathLst>
              <a:path w="35212" h="2561640">
                <a:moveTo>
                  <a:pt x="0" y="0"/>
                </a:moveTo>
                <a:lnTo>
                  <a:pt x="35212" y="0"/>
                </a:lnTo>
                <a:lnTo>
                  <a:pt x="35212" y="2561640"/>
                </a:lnTo>
                <a:lnTo>
                  <a:pt x="0" y="25616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377252" y="4436656"/>
            <a:ext cx="5396170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 Comparison Summary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7252" y="4788771"/>
          <a:ext cx="5316944" cy="1927832"/>
        </p:xfrm>
        <a:graphic>
          <a:graphicData uri="http://schemas.openxmlformats.org/drawingml/2006/table">
            <a:tbl>
              <a:tblPr/>
              <a:tblGrid>
                <a:gridCol w="1898281"/>
                <a:gridCol w="1907069"/>
                <a:gridCol w="1511594"/>
              </a:tblGrid>
              <a:tr h="321305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Aspect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</a:tr>
              <a:tr h="32130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Inference Binding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CPython C-ext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Native JNI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130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Concurrency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Processes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 Threads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130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Memory Model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Isolated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Shared Heap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130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Compilation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Interpreted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JIT (HotSpot)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130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GIL Constraints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 (workaround)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0423" marR="70423" marT="70423" marB="704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5.2 ROOT CAUSE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08000"/>
            <a:ext cx="1167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Python Loses: Architectural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857250"/>
            <a:ext cx="508000" cy="15875"/>
          </a:xfrm>
          <a:custGeom>
            <a:avLst/>
            <a:gdLst/>
            <a:ahLst/>
            <a:cxnLst/>
            <a:rect l="l" t="t" r="r" b="b"/>
            <a:pathLst>
              <a:path w="508000" h="15875">
                <a:moveTo>
                  <a:pt x="0" y="0"/>
                </a:moveTo>
                <a:lnTo>
                  <a:pt x="508000" y="0"/>
                </a:lnTo>
                <a:lnTo>
                  <a:pt x="508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23850" y="1006475"/>
            <a:ext cx="5672137" cy="1282700"/>
          </a:xfrm>
          <a:custGeom>
            <a:avLst/>
            <a:gdLst/>
            <a:ahLst/>
            <a:cxnLst/>
            <a:rect l="l" t="t" r="r" b="b"/>
            <a:pathLst>
              <a:path w="5672137" h="1282700">
                <a:moveTo>
                  <a:pt x="0" y="0"/>
                </a:moveTo>
                <a:lnTo>
                  <a:pt x="5672137" y="0"/>
                </a:lnTo>
                <a:lnTo>
                  <a:pt x="5672137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20320">
            <a:solidFill>
              <a:srgbClr val="BEDBFF"/>
            </a:solidFill>
            <a:prstDash val="solid"/>
          </a:ln>
        </p:spPr>
      </p:sp>
      <p:pic>
        <p:nvPicPr>
          <p:cNvPr id="6" name="Image 0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1"/>
          <a:srcRect l="76" r="76" t="0" b="0"/>
          <a:stretch/>
        </p:blipFill>
        <p:spPr>
          <a:xfrm>
            <a:off x="488950" y="1203229"/>
            <a:ext cx="1055688" cy="3810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641475" y="117158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1475" y="1425479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architectural constraints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8950" y="1711229"/>
            <a:ext cx="54054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Python's multi-process architecture, while circumventing the GIL, introduces significant overhead that limits throughput and increases latency.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3375" y="2422426"/>
            <a:ext cx="31750" cy="4691063"/>
          </a:xfrm>
          <a:custGeom>
            <a:avLst/>
            <a:gdLst/>
            <a:ahLst/>
            <a:cxnLst/>
            <a:rect l="l" t="t" r="r" b="b"/>
            <a:pathLst>
              <a:path w="31750" h="4691063">
                <a:moveTo>
                  <a:pt x="0" y="0"/>
                </a:moveTo>
                <a:lnTo>
                  <a:pt x="31750" y="0"/>
                </a:lnTo>
                <a:lnTo>
                  <a:pt x="31750" y="4691063"/>
                </a:lnTo>
                <a:lnTo>
                  <a:pt x="0" y="4691063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508000" y="2422426"/>
            <a:ext cx="557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Limitations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27716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76250" y="2771676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7250" y="2771676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CPython C-Extension Overhead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7250" y="2993926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XGBoost Python binding goes through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CPython C-extension layer per call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Each inference requires crossing the Python/C boundary, adding measurable overhead.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8000" y="35336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476250" y="3533676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7250" y="3533676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Expensive Context Switching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7250" y="3755926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 worker processes require OS-level context switching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more expensive than thread switching by 10-100×. Process state save/restore dominates under high load.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8000" y="42956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476250" y="4295676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" y="4295676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Duplication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7250" y="4517926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process loads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 model copy into memory — no sharing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8× memory overhead for model storage, limiting scalability on memory-constrained deployments.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8000" y="50576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476250" y="5057676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7250" y="5057676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Event Loop Serialization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7250" y="5279926"/>
            <a:ext cx="5207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Uvicorn async event loop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serializes request dispatch within each worker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Even with 8 workers, requests queue within each process before inference execution.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91250" y="1000125"/>
            <a:ext cx="5683250" cy="3151188"/>
          </a:xfrm>
          <a:custGeom>
            <a:avLst/>
            <a:gdLst/>
            <a:ahLst/>
            <a:cxnLst/>
            <a:rect l="l" t="t" r="r" b="b"/>
            <a:pathLst>
              <a:path w="5683250" h="3151188">
                <a:moveTo>
                  <a:pt x="0" y="0"/>
                </a:moveTo>
                <a:lnTo>
                  <a:pt x="5683250" y="0"/>
                </a:lnTo>
                <a:lnTo>
                  <a:pt x="5683250" y="3151188"/>
                </a:lnTo>
                <a:lnTo>
                  <a:pt x="0" y="3151188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9" name="Shape 26"/>
          <p:cNvSpPr/>
          <p:nvPr/>
        </p:nvSpPr>
        <p:spPr>
          <a:xfrm>
            <a:off x="6369844" y="11906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6548438" y="1158875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Impact Summary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50000" y="1476375"/>
            <a:ext cx="5365750" cy="777875"/>
          </a:xfrm>
          <a:custGeom>
            <a:avLst/>
            <a:gdLst/>
            <a:ahLst/>
            <a:cxnLst/>
            <a:rect l="l" t="t" r="r" b="b"/>
            <a:pathLst>
              <a:path w="5365750" h="777875">
                <a:moveTo>
                  <a:pt x="0" y="0"/>
                </a:moveTo>
                <a:lnTo>
                  <a:pt x="5365750" y="0"/>
                </a:lnTo>
                <a:lnTo>
                  <a:pt x="5365750" y="777875"/>
                </a:lnTo>
                <a:lnTo>
                  <a:pt x="0" y="77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445250" y="1571625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2A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Throughput Impact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45250" y="1793875"/>
            <a:ext cx="52308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Process-switching overhead and C-extension boundary crossing reduce effective throughput by ~35% compared to optimal.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50000" y="2345531"/>
            <a:ext cx="5365750" cy="777875"/>
          </a:xfrm>
          <a:custGeom>
            <a:avLst/>
            <a:gdLst/>
            <a:ahLst/>
            <a:cxnLst/>
            <a:rect l="l" t="t" r="r" b="b"/>
            <a:pathLst>
              <a:path w="5365750" h="777875">
                <a:moveTo>
                  <a:pt x="0" y="0"/>
                </a:moveTo>
                <a:lnTo>
                  <a:pt x="5365750" y="0"/>
                </a:lnTo>
                <a:lnTo>
                  <a:pt x="5365750" y="777875"/>
                </a:lnTo>
                <a:lnTo>
                  <a:pt x="0" y="77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445250" y="2440781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2A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Latency Impact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45250" y="2663031"/>
            <a:ext cx="52308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OS-level queuing when all workers busy adds unpredictable jitter. GIL serialization on shared resources compounds tail latency.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50000" y="3214688"/>
            <a:ext cx="5365750" cy="777875"/>
          </a:xfrm>
          <a:custGeom>
            <a:avLst/>
            <a:gdLst/>
            <a:ahLst/>
            <a:cxnLst/>
            <a:rect l="l" t="t" r="r" b="b"/>
            <a:pathLst>
              <a:path w="5365750" h="777875">
                <a:moveTo>
                  <a:pt x="0" y="0"/>
                </a:moveTo>
                <a:lnTo>
                  <a:pt x="5365750" y="0"/>
                </a:lnTo>
                <a:lnTo>
                  <a:pt x="5365750" y="777875"/>
                </a:lnTo>
                <a:lnTo>
                  <a:pt x="0" y="77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445250" y="330993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A2A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Impact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45250" y="3532188"/>
            <a:ext cx="52308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8× model duplication limits vertical scaling. Memory growth under load (3.9×) leads to OOM before Spring Boot.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07125" y="4274344"/>
            <a:ext cx="31750" cy="2841625"/>
          </a:xfrm>
          <a:custGeom>
            <a:avLst/>
            <a:gdLst/>
            <a:ahLst/>
            <a:cxnLst/>
            <a:rect l="l" t="t" r="r" b="b"/>
            <a:pathLst>
              <a:path w="31750" h="2841625">
                <a:moveTo>
                  <a:pt x="0" y="0"/>
                </a:moveTo>
                <a:lnTo>
                  <a:pt x="31750" y="0"/>
                </a:lnTo>
                <a:lnTo>
                  <a:pt x="31750" y="2841625"/>
                </a:lnTo>
                <a:lnTo>
                  <a:pt x="0" y="28416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6381750" y="4274344"/>
            <a:ext cx="557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GIL Problem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81750" y="4591844"/>
            <a:ext cx="5492750" cy="1857375"/>
          </a:xfrm>
          <a:custGeom>
            <a:avLst/>
            <a:gdLst/>
            <a:ahLst/>
            <a:cxnLst/>
            <a:rect l="l" t="t" r="r" b="b"/>
            <a:pathLst>
              <a:path w="5492750" h="1857375">
                <a:moveTo>
                  <a:pt x="0" y="0"/>
                </a:moveTo>
                <a:lnTo>
                  <a:pt x="5492750" y="0"/>
                </a:lnTo>
                <a:lnTo>
                  <a:pt x="5492750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Text 40"/>
          <p:cNvSpPr/>
          <p:nvPr/>
        </p:nvSpPr>
        <p:spPr>
          <a:xfrm>
            <a:off x="6508750" y="4718844"/>
            <a:ext cx="5302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Global Interpreter Lock (GIL):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Python's mutex that prevents multiple native threads from executing Python bytecodes simultaneously.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08750" y="5195094"/>
            <a:ext cx="5302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 uses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multi-process parallelism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work around GIL, but this introduces: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08750" y="5464969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Higher memory usage (no sharing)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508750" y="5687219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Expensive process context switches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08750" y="5909469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IPC overhead for coordination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08750" y="6131719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OS-level socket queuing complexity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97625" y="6544469"/>
            <a:ext cx="5476875" cy="571500"/>
          </a:xfrm>
          <a:custGeom>
            <a:avLst/>
            <a:gdLst/>
            <a:ahLst/>
            <a:cxnLst/>
            <a:rect l="l" t="t" r="r" b="b"/>
            <a:pathLst>
              <a:path w="5476875" h="571500">
                <a:moveTo>
                  <a:pt x="0" y="0"/>
                </a:moveTo>
                <a:lnTo>
                  <a:pt x="5476875" y="0"/>
                </a:lnTo>
                <a:lnTo>
                  <a:pt x="5476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50" name="Shape 47"/>
          <p:cNvSpPr/>
          <p:nvPr/>
        </p:nvSpPr>
        <p:spPr>
          <a:xfrm>
            <a:off x="6397625" y="6544469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1" name="Shape 48"/>
          <p:cNvSpPr/>
          <p:nvPr/>
        </p:nvSpPr>
        <p:spPr>
          <a:xfrm>
            <a:off x="6524625" y="665242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52" name="Text 49"/>
          <p:cNvSpPr/>
          <p:nvPr/>
        </p:nvSpPr>
        <p:spPr>
          <a:xfrm>
            <a:off x="6707188" y="6639719"/>
            <a:ext cx="5135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Bottom Line: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Python's GIL forces architectural compromises that fundamentally limit ML serving performance at scale.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598" y="347598"/>
            <a:ext cx="11557634" cy="17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8" b="1" spc="48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5.3 ROOT CAUSE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598" y="556157"/>
            <a:ext cx="11627153" cy="31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 Latency: Thread Pool vs Process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598" y="938515"/>
            <a:ext cx="556157" cy="17380"/>
          </a:xfrm>
          <a:custGeom>
            <a:avLst/>
            <a:gdLst/>
            <a:ahLst/>
            <a:cxnLst/>
            <a:rect l="l" t="t" r="r" b="b"/>
            <a:pathLst>
              <a:path w="556157" h="17380">
                <a:moveTo>
                  <a:pt x="0" y="0"/>
                </a:moveTo>
                <a:lnTo>
                  <a:pt x="556157" y="0"/>
                </a:lnTo>
                <a:lnTo>
                  <a:pt x="556157" y="17380"/>
                </a:lnTo>
                <a:lnTo>
                  <a:pt x="0" y="173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7598" y="1094934"/>
            <a:ext cx="5639778" cy="938515"/>
          </a:xfrm>
          <a:custGeom>
            <a:avLst/>
            <a:gdLst/>
            <a:ahLst/>
            <a:cxnLst/>
            <a:rect l="l" t="t" r="r" b="b"/>
            <a:pathLst>
              <a:path w="5639778" h="938515">
                <a:moveTo>
                  <a:pt x="0" y="0"/>
                </a:moveTo>
                <a:lnTo>
                  <a:pt x="5639778" y="0"/>
                </a:lnTo>
                <a:lnTo>
                  <a:pt x="5639778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21397" y="1303382"/>
            <a:ext cx="417118" cy="417118"/>
          </a:xfrm>
          <a:custGeom>
            <a:avLst/>
            <a:gdLst/>
            <a:ahLst/>
            <a:cxnLst/>
            <a:rect l="l" t="t" r="r" b="b"/>
            <a:pathLst>
              <a:path w="417118" h="417118">
                <a:moveTo>
                  <a:pt x="34758" y="0"/>
                </a:moveTo>
                <a:lnTo>
                  <a:pt x="382359" y="0"/>
                </a:lnTo>
                <a:cubicBezTo>
                  <a:pt x="401556" y="0"/>
                  <a:pt x="417118" y="15562"/>
                  <a:pt x="417118" y="34758"/>
                </a:cubicBezTo>
                <a:lnTo>
                  <a:pt x="417118" y="382359"/>
                </a:lnTo>
                <a:cubicBezTo>
                  <a:pt x="417118" y="401556"/>
                  <a:pt x="401556" y="417118"/>
                  <a:pt x="382359" y="417118"/>
                </a:cubicBezTo>
                <a:lnTo>
                  <a:pt x="34758" y="417118"/>
                </a:lnTo>
                <a:cubicBezTo>
                  <a:pt x="15562" y="417118"/>
                  <a:pt x="0" y="401556"/>
                  <a:pt x="0" y="382359"/>
                </a:cubicBezTo>
                <a:lnTo>
                  <a:pt x="0" y="34758"/>
                </a:lnTo>
                <a:cubicBezTo>
                  <a:pt x="0" y="15562"/>
                  <a:pt x="15562" y="0"/>
                  <a:pt x="3475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5676" y="1407662"/>
            <a:ext cx="208559" cy="208559"/>
          </a:xfrm>
          <a:custGeom>
            <a:avLst/>
            <a:gdLst/>
            <a:ahLst/>
            <a:cxnLst/>
            <a:rect l="l" t="t" r="r" b="b"/>
            <a:pathLst>
              <a:path w="208559" h="208559">
                <a:moveTo>
                  <a:pt x="191980" y="2729"/>
                </a:moveTo>
                <a:cubicBezTo>
                  <a:pt x="194587" y="244"/>
                  <a:pt x="198375" y="-652"/>
                  <a:pt x="201878" y="489"/>
                </a:cubicBezTo>
                <a:cubicBezTo>
                  <a:pt x="205870" y="1833"/>
                  <a:pt x="208559" y="5581"/>
                  <a:pt x="208559" y="9776"/>
                </a:cubicBezTo>
                <a:lnTo>
                  <a:pt x="208559" y="85908"/>
                </a:lnTo>
                <a:cubicBezTo>
                  <a:pt x="208559" y="139351"/>
                  <a:pt x="164525" y="182489"/>
                  <a:pt x="111286" y="182489"/>
                </a:cubicBezTo>
                <a:cubicBezTo>
                  <a:pt x="79920" y="182489"/>
                  <a:pt x="52873" y="162326"/>
                  <a:pt x="43056" y="134138"/>
                </a:cubicBezTo>
                <a:cubicBezTo>
                  <a:pt x="28636" y="146684"/>
                  <a:pt x="19552" y="165136"/>
                  <a:pt x="19552" y="185748"/>
                </a:cubicBezTo>
                <a:cubicBezTo>
                  <a:pt x="19552" y="191165"/>
                  <a:pt x="15194" y="195524"/>
                  <a:pt x="9776" y="195524"/>
                </a:cubicBezTo>
                <a:cubicBezTo>
                  <a:pt x="4359" y="195524"/>
                  <a:pt x="0" y="191165"/>
                  <a:pt x="0" y="185748"/>
                </a:cubicBezTo>
                <a:cubicBezTo>
                  <a:pt x="0" y="155238"/>
                  <a:pt x="15560" y="128353"/>
                  <a:pt x="39146" y="112548"/>
                </a:cubicBezTo>
                <a:cubicBezTo>
                  <a:pt x="53525" y="102935"/>
                  <a:pt x="70674" y="97762"/>
                  <a:pt x="87986" y="97762"/>
                </a:cubicBezTo>
                <a:lnTo>
                  <a:pt x="120573" y="97762"/>
                </a:lnTo>
                <a:cubicBezTo>
                  <a:pt x="125991" y="97762"/>
                  <a:pt x="130349" y="93403"/>
                  <a:pt x="130349" y="87986"/>
                </a:cubicBezTo>
                <a:cubicBezTo>
                  <a:pt x="130349" y="82568"/>
                  <a:pt x="125991" y="78210"/>
                  <a:pt x="120573" y="78210"/>
                </a:cubicBezTo>
                <a:lnTo>
                  <a:pt x="87986" y="78210"/>
                </a:lnTo>
                <a:cubicBezTo>
                  <a:pt x="71814" y="78210"/>
                  <a:pt x="56498" y="81794"/>
                  <a:pt x="42771" y="88189"/>
                </a:cubicBezTo>
                <a:cubicBezTo>
                  <a:pt x="52262" y="59676"/>
                  <a:pt x="79106" y="39105"/>
                  <a:pt x="110797" y="39105"/>
                </a:cubicBezTo>
                <a:cubicBezTo>
                  <a:pt x="137844" y="39105"/>
                  <a:pt x="157967" y="30103"/>
                  <a:pt x="171369" y="21182"/>
                </a:cubicBezTo>
                <a:cubicBezTo>
                  <a:pt x="179189" y="15968"/>
                  <a:pt x="185829" y="9735"/>
                  <a:pt x="192021" y="27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42794" y="1268733"/>
            <a:ext cx="2181177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2794" y="1546701"/>
            <a:ext cx="2146418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Superior Tail Latency Mechanisms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978" y="2172377"/>
            <a:ext cx="34760" cy="3502050"/>
          </a:xfrm>
          <a:custGeom>
            <a:avLst/>
            <a:gdLst/>
            <a:ahLst/>
            <a:cxnLst/>
            <a:rect l="l" t="t" r="r" b="b"/>
            <a:pathLst>
              <a:path w="34760" h="3502050">
                <a:moveTo>
                  <a:pt x="0" y="0"/>
                </a:moveTo>
                <a:lnTo>
                  <a:pt x="34760" y="0"/>
                </a:lnTo>
                <a:lnTo>
                  <a:pt x="34760" y="3502050"/>
                </a:lnTo>
                <a:lnTo>
                  <a:pt x="0" y="3502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56157" y="2172377"/>
            <a:ext cx="5518118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Java Tail Latency is Better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3537" y="2554735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3537" y="2554735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4" name="Text 12"/>
          <p:cNvSpPr/>
          <p:nvPr/>
        </p:nvSpPr>
        <p:spPr>
          <a:xfrm>
            <a:off x="695196" y="2659014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Linear Queue Draining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196" y="2937093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Tomcat thread pool drains queue linearly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each thread takes next request immediately. No head-of-line blocking, predictable request processing order.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3537" y="3632289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73537" y="3632289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95196" y="3736568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Preemptive Scheduling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196" y="4014647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JVM thread scheduler is preemptive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no single long inference can starve others. Fair scheduling ensures tail requests don't wait indefinitely.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3537" y="4709843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3537" y="4709843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95196" y="4814122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G1GC Concurrent Collection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196" y="5092200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G1GC concurrent collection prevents stop-the-world pauses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during load spikes. Garbage collection runs parallel to application threads.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819" y="1101886"/>
            <a:ext cx="5627612" cy="952419"/>
          </a:xfrm>
          <a:custGeom>
            <a:avLst/>
            <a:gdLst/>
            <a:ahLst/>
            <a:cxnLst/>
            <a:rect l="l" t="t" r="r" b="b"/>
            <a:pathLst>
              <a:path w="5627612" h="952419">
                <a:moveTo>
                  <a:pt x="0" y="0"/>
                </a:moveTo>
                <a:lnTo>
                  <a:pt x="5627612" y="0"/>
                </a:lnTo>
                <a:lnTo>
                  <a:pt x="5627612" y="952419"/>
                </a:lnTo>
                <a:lnTo>
                  <a:pt x="0" y="952419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20320">
            <a:solidFill>
              <a:srgbClr val="BEDBFF"/>
            </a:solidFill>
            <a:prstDash val="solid"/>
          </a:ln>
        </p:spPr>
      </p:sp>
      <p:pic>
        <p:nvPicPr>
          <p:cNvPr id="25" name="Image 0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1"/>
          <a:srcRect l="76" r="76" t="0" b="0"/>
          <a:stretch/>
        </p:blipFill>
        <p:spPr>
          <a:xfrm>
            <a:off x="6386570" y="1317291"/>
            <a:ext cx="1155763" cy="417118"/>
          </a:xfrm>
          <a:prstGeom prst="roundRect">
            <a:avLst>
              <a:gd name="adj" fmla="val 0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7648351" y="1282642"/>
            <a:ext cx="1546811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2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48351" y="1560610"/>
            <a:ext cx="1512051" cy="20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 Latency Challenges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6247" y="2200187"/>
            <a:ext cx="34760" cy="3475980"/>
          </a:xfrm>
          <a:custGeom>
            <a:avLst/>
            <a:gdLst/>
            <a:ahLst/>
            <a:cxnLst/>
            <a:rect l="l" t="t" r="r" b="b"/>
            <a:pathLst>
              <a:path w="34760" h="3475980">
                <a:moveTo>
                  <a:pt x="0" y="0"/>
                </a:moveTo>
                <a:lnTo>
                  <a:pt x="34760" y="0"/>
                </a:lnTo>
                <a:lnTo>
                  <a:pt x="34760" y="3475980"/>
                </a:lnTo>
                <a:lnTo>
                  <a:pt x="0" y="347598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6407426" y="2200187"/>
            <a:ext cx="5518118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Python Tail Latency is Worse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24806" y="2582545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6424806" y="2582545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2" name="Text 29"/>
          <p:cNvSpPr/>
          <p:nvPr/>
        </p:nvSpPr>
        <p:spPr>
          <a:xfrm>
            <a:off x="6546466" y="2686824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OS-Level Socket Queuing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546466" y="2964902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all 8 workers are busy, </a:t>
            </a:r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OS must queue at socket level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adds OS scheduling jitter. Unpredictable kernel-level delays compound tail latency.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24806" y="3660098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5" name="Shape 32"/>
          <p:cNvSpPr/>
          <p:nvPr/>
        </p:nvSpPr>
        <p:spPr>
          <a:xfrm>
            <a:off x="6424806" y="3660098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3"/>
          <p:cNvSpPr/>
          <p:nvPr/>
        </p:nvSpPr>
        <p:spPr>
          <a:xfrm>
            <a:off x="6546466" y="3764378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GIL Serialization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46466" y="4042456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GIL can cause brief serialization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even in multi-process model (shared file descriptors). Contention on shared resources creates unpredictable stalls.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24806" y="4737652"/>
            <a:ext cx="5413839" cy="938515"/>
          </a:xfrm>
          <a:custGeom>
            <a:avLst/>
            <a:gdLst/>
            <a:ahLst/>
            <a:cxnLst/>
            <a:rect l="l" t="t" r="r" b="b"/>
            <a:pathLst>
              <a:path w="5413839" h="938515">
                <a:moveTo>
                  <a:pt x="0" y="0"/>
                </a:moveTo>
                <a:lnTo>
                  <a:pt x="5413839" y="0"/>
                </a:lnTo>
                <a:lnTo>
                  <a:pt x="5413839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9" name="Shape 36"/>
          <p:cNvSpPr/>
          <p:nvPr/>
        </p:nvSpPr>
        <p:spPr>
          <a:xfrm>
            <a:off x="6424806" y="4737652"/>
            <a:ext cx="34760" cy="938515"/>
          </a:xfrm>
          <a:custGeom>
            <a:avLst/>
            <a:gdLst/>
            <a:ahLst/>
            <a:cxnLst/>
            <a:rect l="l" t="t" r="r" b="b"/>
            <a:pathLst>
              <a:path w="34760" h="938515">
                <a:moveTo>
                  <a:pt x="0" y="0"/>
                </a:moveTo>
                <a:lnTo>
                  <a:pt x="34760" y="0"/>
                </a:lnTo>
                <a:lnTo>
                  <a:pt x="34760" y="938515"/>
                </a:lnTo>
                <a:lnTo>
                  <a:pt x="0" y="93851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0" name="Text 37"/>
          <p:cNvSpPr/>
          <p:nvPr/>
        </p:nvSpPr>
        <p:spPr>
          <a:xfrm>
            <a:off x="6546466" y="4841932"/>
            <a:ext cx="526611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Inference Variance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46466" y="5120010"/>
            <a:ext cx="5257420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XGBoost model inference time has higher variance per call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than ONNX Runtime. Less predictable execution times widen latency distribution tails.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64978" y="5815206"/>
            <a:ext cx="5622398" cy="1042794"/>
          </a:xfrm>
          <a:custGeom>
            <a:avLst/>
            <a:gdLst/>
            <a:ahLst/>
            <a:cxnLst/>
            <a:rect l="l" t="t" r="r" b="b"/>
            <a:pathLst>
              <a:path w="5622398" h="1042794">
                <a:moveTo>
                  <a:pt x="0" y="0"/>
                </a:moveTo>
                <a:lnTo>
                  <a:pt x="5622398" y="0"/>
                </a:lnTo>
                <a:lnTo>
                  <a:pt x="5622398" y="1042794"/>
                </a:lnTo>
                <a:lnTo>
                  <a:pt x="0" y="1042794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3" name="Shape 40"/>
          <p:cNvSpPr/>
          <p:nvPr/>
        </p:nvSpPr>
        <p:spPr>
          <a:xfrm>
            <a:off x="364978" y="5815206"/>
            <a:ext cx="34760" cy="1042794"/>
          </a:xfrm>
          <a:custGeom>
            <a:avLst/>
            <a:gdLst/>
            <a:ahLst/>
            <a:cxnLst/>
            <a:rect l="l" t="t" r="r" b="b"/>
            <a:pathLst>
              <a:path w="34760" h="1042794">
                <a:moveTo>
                  <a:pt x="0" y="0"/>
                </a:moveTo>
                <a:lnTo>
                  <a:pt x="34760" y="0"/>
                </a:lnTo>
                <a:lnTo>
                  <a:pt x="34760" y="1042794"/>
                </a:lnTo>
                <a:lnTo>
                  <a:pt x="0" y="1042794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4" name="Shape 41"/>
          <p:cNvSpPr/>
          <p:nvPr/>
        </p:nvSpPr>
        <p:spPr>
          <a:xfrm>
            <a:off x="543122" y="5997695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103994" y="64981"/>
                </a:moveTo>
                <a:lnTo>
                  <a:pt x="79554" y="104086"/>
                </a:lnTo>
                <a:cubicBezTo>
                  <a:pt x="78271" y="106133"/>
                  <a:pt x="76071" y="107416"/>
                  <a:pt x="73658" y="107538"/>
                </a:cubicBezTo>
                <a:cubicBezTo>
                  <a:pt x="71244" y="107660"/>
                  <a:pt x="68922" y="106561"/>
                  <a:pt x="67486" y="104605"/>
                </a:cubicBezTo>
                <a:lnTo>
                  <a:pt x="52822" y="85053"/>
                </a:lnTo>
                <a:cubicBezTo>
                  <a:pt x="50378" y="81815"/>
                  <a:pt x="51050" y="77232"/>
                  <a:pt x="54288" y="74788"/>
                </a:cubicBezTo>
                <a:cubicBezTo>
                  <a:pt x="57527" y="72344"/>
                  <a:pt x="62109" y="73016"/>
                  <a:pt x="64553" y="76254"/>
                </a:cubicBezTo>
                <a:lnTo>
                  <a:pt x="72802" y="87253"/>
                </a:lnTo>
                <a:lnTo>
                  <a:pt x="91560" y="57221"/>
                </a:lnTo>
                <a:cubicBezTo>
                  <a:pt x="93699" y="53800"/>
                  <a:pt x="98220" y="52730"/>
                  <a:pt x="101672" y="54899"/>
                </a:cubicBezTo>
                <a:cubicBezTo>
                  <a:pt x="105125" y="57069"/>
                  <a:pt x="106163" y="61559"/>
                  <a:pt x="103994" y="65012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5" name="Text 42"/>
          <p:cNvSpPr/>
          <p:nvPr/>
        </p:nvSpPr>
        <p:spPr>
          <a:xfrm>
            <a:off x="721266" y="5954245"/>
            <a:ext cx="520528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Java Thread Pool Model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21397" y="6267083"/>
            <a:ext cx="5396459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Shared heap + preemptive scheduling + concurrent GC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predictable, low-variance latency distribution. Ideal for SLA-guaranteed services.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216139" y="5815206"/>
            <a:ext cx="5622398" cy="1042794"/>
          </a:xfrm>
          <a:custGeom>
            <a:avLst/>
            <a:gdLst/>
            <a:ahLst/>
            <a:cxnLst/>
            <a:rect l="l" t="t" r="r" b="b"/>
            <a:pathLst>
              <a:path w="5622398" h="1042794">
                <a:moveTo>
                  <a:pt x="0" y="0"/>
                </a:moveTo>
                <a:lnTo>
                  <a:pt x="5622398" y="0"/>
                </a:lnTo>
                <a:lnTo>
                  <a:pt x="5622398" y="1042794"/>
                </a:lnTo>
                <a:lnTo>
                  <a:pt x="0" y="1042794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8" name="Shape 45"/>
          <p:cNvSpPr/>
          <p:nvPr/>
        </p:nvSpPr>
        <p:spPr>
          <a:xfrm>
            <a:off x="6216139" y="5815206"/>
            <a:ext cx="34760" cy="1042794"/>
          </a:xfrm>
          <a:custGeom>
            <a:avLst/>
            <a:gdLst/>
            <a:ahLst/>
            <a:cxnLst/>
            <a:rect l="l" t="t" r="r" b="b"/>
            <a:pathLst>
              <a:path w="34760" h="1042794">
                <a:moveTo>
                  <a:pt x="0" y="0"/>
                </a:moveTo>
                <a:lnTo>
                  <a:pt x="34760" y="0"/>
                </a:lnTo>
                <a:lnTo>
                  <a:pt x="34760" y="1042794"/>
                </a:lnTo>
                <a:lnTo>
                  <a:pt x="0" y="1042794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9" name="Shape 46"/>
          <p:cNvSpPr/>
          <p:nvPr/>
        </p:nvSpPr>
        <p:spPr>
          <a:xfrm>
            <a:off x="6394283" y="5997695"/>
            <a:ext cx="156419" cy="156419"/>
          </a:xfrm>
          <a:custGeom>
            <a:avLst/>
            <a:gdLst/>
            <a:ahLst/>
            <a:cxnLst/>
            <a:rect l="l" t="t" r="r" b="b"/>
            <a:pathLst>
              <a:path w="156419" h="156419">
                <a:moveTo>
                  <a:pt x="78210" y="156419"/>
                </a:moveTo>
                <a:cubicBezTo>
                  <a:pt x="121375" y="156419"/>
                  <a:pt x="156419" y="121375"/>
                  <a:pt x="156419" y="78210"/>
                </a:cubicBezTo>
                <a:cubicBezTo>
                  <a:pt x="156419" y="35045"/>
                  <a:pt x="121375" y="0"/>
                  <a:pt x="78210" y="0"/>
                </a:cubicBezTo>
                <a:cubicBezTo>
                  <a:pt x="35045" y="0"/>
                  <a:pt x="0" y="35045"/>
                  <a:pt x="0" y="78210"/>
                </a:cubicBezTo>
                <a:cubicBezTo>
                  <a:pt x="0" y="121375"/>
                  <a:pt x="35045" y="156419"/>
                  <a:pt x="78210" y="156419"/>
                </a:cubicBezTo>
                <a:close/>
                <a:moveTo>
                  <a:pt x="51020" y="51020"/>
                </a:moveTo>
                <a:cubicBezTo>
                  <a:pt x="53891" y="48148"/>
                  <a:pt x="58535" y="48148"/>
                  <a:pt x="61376" y="51020"/>
                </a:cubicBezTo>
                <a:lnTo>
                  <a:pt x="78179" y="67822"/>
                </a:lnTo>
                <a:lnTo>
                  <a:pt x="94982" y="51020"/>
                </a:lnTo>
                <a:cubicBezTo>
                  <a:pt x="97854" y="48148"/>
                  <a:pt x="102497" y="48148"/>
                  <a:pt x="105338" y="51020"/>
                </a:cubicBezTo>
                <a:cubicBezTo>
                  <a:pt x="108180" y="53891"/>
                  <a:pt x="108210" y="58535"/>
                  <a:pt x="105338" y="61376"/>
                </a:cubicBezTo>
                <a:lnTo>
                  <a:pt x="88536" y="78179"/>
                </a:lnTo>
                <a:lnTo>
                  <a:pt x="105338" y="94982"/>
                </a:lnTo>
                <a:cubicBezTo>
                  <a:pt x="108210" y="97854"/>
                  <a:pt x="108210" y="102497"/>
                  <a:pt x="105338" y="105338"/>
                </a:cubicBezTo>
                <a:cubicBezTo>
                  <a:pt x="102467" y="108180"/>
                  <a:pt x="97823" y="108210"/>
                  <a:pt x="94982" y="105338"/>
                </a:cubicBezTo>
                <a:lnTo>
                  <a:pt x="78179" y="88536"/>
                </a:lnTo>
                <a:lnTo>
                  <a:pt x="61376" y="105338"/>
                </a:lnTo>
                <a:cubicBezTo>
                  <a:pt x="58504" y="108210"/>
                  <a:pt x="53861" y="108210"/>
                  <a:pt x="51020" y="105338"/>
                </a:cubicBezTo>
                <a:cubicBezTo>
                  <a:pt x="48178" y="102467"/>
                  <a:pt x="48148" y="97823"/>
                  <a:pt x="51020" y="94982"/>
                </a:cubicBezTo>
                <a:lnTo>
                  <a:pt x="67822" y="78179"/>
                </a:lnTo>
                <a:lnTo>
                  <a:pt x="51020" y="61376"/>
                </a:lnTo>
                <a:cubicBezTo>
                  <a:pt x="48148" y="58504"/>
                  <a:pt x="48148" y="53861"/>
                  <a:pt x="51020" y="51020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50" name="Text 47"/>
          <p:cNvSpPr/>
          <p:nvPr/>
        </p:nvSpPr>
        <p:spPr>
          <a:xfrm>
            <a:off x="6572427" y="5954245"/>
            <a:ext cx="520528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Process Model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372558" y="6267083"/>
            <a:ext cx="5396459" cy="45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Isolated heaps + OS queuing + GIL contention</a:t>
            </a:r>
            <a:pPr>
              <a:lnSpc>
                <a:spcPct val="140000"/>
              </a:lnSpc>
            </a:pPr>
            <a:r>
              <a:rPr lang="en-US" sz="109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unpredictable, high-variance latency distribution. Tail latency explodes under load.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llow.io/9d9576954272c2bc38b275f7d3bcfe28e558acb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448" b="1244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100000">
                <a:srgbClr val="FFFFF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671638"/>
            <a:ext cx="807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814638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4719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14888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guidance and use case recommendations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 PRODUCTION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08000"/>
            <a:ext cx="1167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Recommended Production Configurations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857250"/>
            <a:ext cx="508000" cy="15875"/>
          </a:xfrm>
          <a:custGeom>
            <a:avLst/>
            <a:gdLst/>
            <a:ahLst/>
            <a:cxnLst/>
            <a:rect l="l" t="t" r="r" b="b"/>
            <a:pathLst>
              <a:path w="508000" h="15875">
                <a:moveTo>
                  <a:pt x="0" y="0"/>
                </a:moveTo>
                <a:lnTo>
                  <a:pt x="508000" y="0"/>
                </a:lnTo>
                <a:lnTo>
                  <a:pt x="508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000125"/>
            <a:ext cx="5683250" cy="857250"/>
          </a:xfrm>
          <a:custGeom>
            <a:avLst/>
            <a:gdLst/>
            <a:ahLst/>
            <a:cxnLst/>
            <a:rect l="l" t="t" r="r" b="b"/>
            <a:pathLst>
              <a:path w="5683250" h="857250">
                <a:moveTo>
                  <a:pt x="0" y="0"/>
                </a:moveTo>
                <a:lnTo>
                  <a:pt x="5683250" y="0"/>
                </a:lnTo>
                <a:lnTo>
                  <a:pt x="5683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19052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749" y="0"/>
                </a:moveTo>
                <a:lnTo>
                  <a:pt x="349251" y="0"/>
                </a:lnTo>
                <a:cubicBezTo>
                  <a:pt x="366786" y="0"/>
                  <a:pt x="381000" y="14214"/>
                  <a:pt x="381000" y="31749"/>
                </a:cubicBezTo>
                <a:lnTo>
                  <a:pt x="381000" y="349251"/>
                </a:lnTo>
                <a:cubicBezTo>
                  <a:pt x="381000" y="366786"/>
                  <a:pt x="366786" y="381000"/>
                  <a:pt x="34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28577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158875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1412774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Recommended for Production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375" y="1984274"/>
            <a:ext cx="31750" cy="4341813"/>
          </a:xfrm>
          <a:custGeom>
            <a:avLst/>
            <a:gdLst/>
            <a:ahLst/>
            <a:cxnLst/>
            <a:rect l="l" t="t" r="r" b="b"/>
            <a:pathLst>
              <a:path w="31750" h="4341813">
                <a:moveTo>
                  <a:pt x="0" y="0"/>
                </a:moveTo>
                <a:lnTo>
                  <a:pt x="31750" y="0"/>
                </a:lnTo>
                <a:lnTo>
                  <a:pt x="31750" y="4341813"/>
                </a:lnTo>
                <a:lnTo>
                  <a:pt x="0" y="434181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" y="1984274"/>
            <a:ext cx="557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Optimized Configuration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2333524"/>
            <a:ext cx="5492750" cy="889000"/>
          </a:xfrm>
          <a:custGeom>
            <a:avLst/>
            <a:gdLst/>
            <a:ahLst/>
            <a:cxnLst/>
            <a:rect l="l" t="t" r="r" b="b"/>
            <a:pathLst>
              <a:path w="5492750" h="889000">
                <a:moveTo>
                  <a:pt x="0" y="0"/>
                </a:moveTo>
                <a:lnTo>
                  <a:pt x="5492750" y="0"/>
                </a:lnTo>
                <a:lnTo>
                  <a:pt x="549275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25" y="246052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33586"/>
                </a:lnTo>
                <a:cubicBezTo>
                  <a:pt x="0" y="35272"/>
                  <a:pt x="1091" y="36711"/>
                  <a:pt x="2505" y="37629"/>
                </a:cubicBezTo>
                <a:cubicBezTo>
                  <a:pt x="5779" y="39762"/>
                  <a:pt x="7938" y="43433"/>
                  <a:pt x="7938" y="47625"/>
                </a:cubicBezTo>
                <a:cubicBezTo>
                  <a:pt x="7938" y="51817"/>
                  <a:pt x="5779" y="55488"/>
                  <a:pt x="2505" y="57621"/>
                </a:cubicBezTo>
                <a:cubicBezTo>
                  <a:pt x="1091" y="58539"/>
                  <a:pt x="0" y="59978"/>
                  <a:pt x="0" y="61664"/>
                </a:cubicBezTo>
                <a:lnTo>
                  <a:pt x="0" y="75406"/>
                </a:lnTo>
                <a:lnTo>
                  <a:pt x="127000" y="75406"/>
                </a:lnTo>
                <a:lnTo>
                  <a:pt x="127000" y="61664"/>
                </a:lnTo>
                <a:cubicBezTo>
                  <a:pt x="127000" y="59978"/>
                  <a:pt x="125909" y="58539"/>
                  <a:pt x="124495" y="57621"/>
                </a:cubicBezTo>
                <a:cubicBezTo>
                  <a:pt x="121221" y="55488"/>
                  <a:pt x="119063" y="51817"/>
                  <a:pt x="119063" y="47625"/>
                </a:cubicBezTo>
                <a:cubicBezTo>
                  <a:pt x="119063" y="43433"/>
                  <a:pt x="121221" y="39762"/>
                  <a:pt x="124495" y="37629"/>
                </a:cubicBezTo>
                <a:cubicBezTo>
                  <a:pt x="125909" y="36711"/>
                  <a:pt x="127000" y="35272"/>
                  <a:pt x="127000" y="33586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127000" y="103188"/>
                </a:moveTo>
                <a:lnTo>
                  <a:pt x="127000" y="87313"/>
                </a:lnTo>
                <a:lnTo>
                  <a:pt x="0" y="87313"/>
                </a:ln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23812" y="111125"/>
                </a:lnTo>
                <a:lnTo>
                  <a:pt x="23812" y="105172"/>
                </a:lnTo>
                <a:cubicBezTo>
                  <a:pt x="23812" y="101873"/>
                  <a:pt x="26467" y="99219"/>
                  <a:pt x="29766" y="99219"/>
                </a:cubicBezTo>
                <a:cubicBezTo>
                  <a:pt x="33065" y="99219"/>
                  <a:pt x="35719" y="101873"/>
                  <a:pt x="35719" y="105172"/>
                </a:cubicBezTo>
                <a:lnTo>
                  <a:pt x="35719" y="111125"/>
                </a:lnTo>
                <a:lnTo>
                  <a:pt x="57547" y="111125"/>
                </a:lnTo>
                <a:lnTo>
                  <a:pt x="57547" y="105172"/>
                </a:lnTo>
                <a:cubicBezTo>
                  <a:pt x="57547" y="101873"/>
                  <a:pt x="60201" y="99219"/>
                  <a:pt x="63500" y="99219"/>
                </a:cubicBezTo>
                <a:cubicBezTo>
                  <a:pt x="66799" y="99219"/>
                  <a:pt x="69453" y="101873"/>
                  <a:pt x="69453" y="105172"/>
                </a:cubicBezTo>
                <a:lnTo>
                  <a:pt x="69453" y="111125"/>
                </a:lnTo>
                <a:lnTo>
                  <a:pt x="91281" y="111125"/>
                </a:lnTo>
                <a:lnTo>
                  <a:pt x="91281" y="105172"/>
                </a:lnTo>
                <a:cubicBezTo>
                  <a:pt x="91281" y="101873"/>
                  <a:pt x="93935" y="99219"/>
                  <a:pt x="97234" y="99219"/>
                </a:cubicBezTo>
                <a:cubicBezTo>
                  <a:pt x="100533" y="99219"/>
                  <a:pt x="103188" y="101873"/>
                  <a:pt x="103188" y="105172"/>
                </a:cubicBezTo>
                <a:lnTo>
                  <a:pt x="103188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lose/>
                <a:moveTo>
                  <a:pt x="39688" y="39688"/>
                </a:moveTo>
                <a:lnTo>
                  <a:pt x="39688" y="55563"/>
                </a:lnTo>
                <a:cubicBezTo>
                  <a:pt x="39688" y="59953"/>
                  <a:pt x="36140" y="63500"/>
                  <a:pt x="31750" y="63500"/>
                </a:cubicBezTo>
                <a:cubicBezTo>
                  <a:pt x="27360" y="63500"/>
                  <a:pt x="23812" y="59953"/>
                  <a:pt x="23812" y="55563"/>
                </a:cubicBezTo>
                <a:lnTo>
                  <a:pt x="23812" y="39688"/>
                </a:lnTo>
                <a:cubicBezTo>
                  <a:pt x="23812" y="35297"/>
                  <a:pt x="27360" y="31750"/>
                  <a:pt x="31750" y="31750"/>
                </a:cubicBezTo>
                <a:cubicBezTo>
                  <a:pt x="36140" y="31750"/>
                  <a:pt x="39688" y="35297"/>
                  <a:pt x="39688" y="39688"/>
                </a:cubicBezTo>
                <a:close/>
                <a:moveTo>
                  <a:pt x="71438" y="39688"/>
                </a:moveTo>
                <a:lnTo>
                  <a:pt x="71438" y="55563"/>
                </a:lnTo>
                <a:cubicBezTo>
                  <a:pt x="71438" y="59953"/>
                  <a:pt x="67890" y="63500"/>
                  <a:pt x="63500" y="63500"/>
                </a:cubicBezTo>
                <a:cubicBezTo>
                  <a:pt x="59110" y="63500"/>
                  <a:pt x="55563" y="59953"/>
                  <a:pt x="55563" y="55563"/>
                </a:cubicBezTo>
                <a:lnTo>
                  <a:pt x="55563" y="39688"/>
                </a:lnTo>
                <a:cubicBezTo>
                  <a:pt x="55563" y="35297"/>
                  <a:pt x="59110" y="31750"/>
                  <a:pt x="63500" y="31750"/>
                </a:cubicBezTo>
                <a:cubicBezTo>
                  <a:pt x="67890" y="31750"/>
                  <a:pt x="71438" y="35297"/>
                  <a:pt x="71438" y="39688"/>
                </a:cubicBezTo>
                <a:close/>
                <a:moveTo>
                  <a:pt x="103188" y="39688"/>
                </a:moveTo>
                <a:lnTo>
                  <a:pt x="103188" y="55563"/>
                </a:lnTo>
                <a:cubicBezTo>
                  <a:pt x="103188" y="59953"/>
                  <a:pt x="99640" y="63500"/>
                  <a:pt x="95250" y="63500"/>
                </a:cubicBezTo>
                <a:cubicBezTo>
                  <a:pt x="90860" y="63500"/>
                  <a:pt x="87313" y="59953"/>
                  <a:pt x="87313" y="55563"/>
                </a:cubicBezTo>
                <a:lnTo>
                  <a:pt x="87313" y="39688"/>
                </a:lnTo>
                <a:cubicBezTo>
                  <a:pt x="87313" y="35297"/>
                  <a:pt x="90860" y="31750"/>
                  <a:pt x="95250" y="31750"/>
                </a:cubicBezTo>
                <a:cubicBezTo>
                  <a:pt x="99640" y="31750"/>
                  <a:pt x="103188" y="35297"/>
                  <a:pt x="103188" y="39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428774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JVM Heap Settings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250" y="2651024"/>
            <a:ext cx="5302250" cy="285750"/>
          </a:xfrm>
          <a:custGeom>
            <a:avLst/>
            <a:gdLst/>
            <a:ahLst/>
            <a:cxnLst/>
            <a:rect l="l" t="t" r="r" b="b"/>
            <a:pathLst>
              <a:path w="5302250" h="285750">
                <a:moveTo>
                  <a:pt x="0" y="0"/>
                </a:moveTo>
                <a:lnTo>
                  <a:pt x="5302250" y="0"/>
                </a:lnTo>
                <a:lnTo>
                  <a:pt x="53022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603250" y="2651024"/>
            <a:ext cx="5357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-Xms2g -Xmx4g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2968524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2GB initial, 4GB max heap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317774"/>
            <a:ext cx="5492750" cy="889000"/>
          </a:xfrm>
          <a:custGeom>
            <a:avLst/>
            <a:gdLst/>
            <a:ahLst/>
            <a:cxnLst/>
            <a:rect l="l" t="t" r="r" b="b"/>
            <a:pathLst>
              <a:path w="5492750" h="889000">
                <a:moveTo>
                  <a:pt x="0" y="0"/>
                </a:moveTo>
                <a:lnTo>
                  <a:pt x="5492750" y="0"/>
                </a:lnTo>
                <a:lnTo>
                  <a:pt x="549275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063" y="344477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3908" y="1463"/>
                </a:moveTo>
                <a:cubicBezTo>
                  <a:pt x="34999" y="-1786"/>
                  <a:pt x="38026" y="-3969"/>
                  <a:pt x="41449" y="-3969"/>
                </a:cubicBezTo>
                <a:lnTo>
                  <a:pt x="69701" y="-3969"/>
                </a:lnTo>
                <a:cubicBezTo>
                  <a:pt x="73124" y="-3969"/>
                  <a:pt x="76150" y="-1786"/>
                  <a:pt x="77242" y="1463"/>
                </a:cubicBezTo>
                <a:lnTo>
                  <a:pt x="79375" y="7938"/>
                </a:lnTo>
                <a:lnTo>
                  <a:pt x="103188" y="7938"/>
                </a:lnTo>
                <a:cubicBezTo>
                  <a:pt x="107578" y="7938"/>
                  <a:pt x="111125" y="11485"/>
                  <a:pt x="111125" y="15875"/>
                </a:cubicBezTo>
                <a:cubicBezTo>
                  <a:pt x="111125" y="20265"/>
                  <a:pt x="107578" y="23812"/>
                  <a:pt x="103188" y="23812"/>
                </a:cubicBezTo>
                <a:lnTo>
                  <a:pt x="7938" y="23812"/>
                </a:lnTo>
                <a:cubicBezTo>
                  <a:pt x="3547" y="23812"/>
                  <a:pt x="0" y="20265"/>
                  <a:pt x="0" y="15875"/>
                </a:cubicBezTo>
                <a:cubicBezTo>
                  <a:pt x="0" y="11485"/>
                  <a:pt x="3547" y="7938"/>
                  <a:pt x="7938" y="7938"/>
                </a:cubicBezTo>
                <a:lnTo>
                  <a:pt x="31750" y="7938"/>
                </a:lnTo>
                <a:lnTo>
                  <a:pt x="33908" y="1463"/>
                </a:lnTo>
                <a:close/>
                <a:moveTo>
                  <a:pt x="7938" y="35719"/>
                </a:moveTo>
                <a:lnTo>
                  <a:pt x="103188" y="35719"/>
                </a:lnTo>
                <a:lnTo>
                  <a:pt x="103188" y="111125"/>
                </a:lnTo>
                <a:cubicBezTo>
                  <a:pt x="103188" y="119881"/>
                  <a:pt x="96069" y="127000"/>
                  <a:pt x="87313" y="127000"/>
                </a:cubicBezTo>
                <a:lnTo>
                  <a:pt x="23812" y="127000"/>
                </a:lnTo>
                <a:cubicBezTo>
                  <a:pt x="15056" y="127000"/>
                  <a:pt x="7938" y="119881"/>
                  <a:pt x="7938" y="111125"/>
                </a:cubicBezTo>
                <a:lnTo>
                  <a:pt x="7938" y="35719"/>
                </a:lnTo>
                <a:close/>
                <a:moveTo>
                  <a:pt x="29766" y="51594"/>
                </a:moveTo>
                <a:cubicBezTo>
                  <a:pt x="26467" y="51594"/>
                  <a:pt x="23812" y="54248"/>
                  <a:pt x="23812" y="57547"/>
                </a:cubicBezTo>
                <a:lnTo>
                  <a:pt x="23812" y="105172"/>
                </a:lnTo>
                <a:cubicBezTo>
                  <a:pt x="23812" y="108471"/>
                  <a:pt x="26467" y="111125"/>
                  <a:pt x="29766" y="111125"/>
                </a:cubicBezTo>
                <a:cubicBezTo>
                  <a:pt x="33065" y="111125"/>
                  <a:pt x="35719" y="108471"/>
                  <a:pt x="35719" y="105172"/>
                </a:cubicBezTo>
                <a:lnTo>
                  <a:pt x="35719" y="57547"/>
                </a:lnTo>
                <a:cubicBezTo>
                  <a:pt x="35719" y="54248"/>
                  <a:pt x="33065" y="51594"/>
                  <a:pt x="29766" y="51594"/>
                </a:cubicBezTo>
                <a:close/>
                <a:moveTo>
                  <a:pt x="55563" y="51594"/>
                </a:moveTo>
                <a:cubicBezTo>
                  <a:pt x="52263" y="51594"/>
                  <a:pt x="49609" y="54248"/>
                  <a:pt x="49609" y="57547"/>
                </a:cubicBezTo>
                <a:lnTo>
                  <a:pt x="49609" y="105172"/>
                </a:lnTo>
                <a:cubicBezTo>
                  <a:pt x="49609" y="108471"/>
                  <a:pt x="52263" y="111125"/>
                  <a:pt x="55563" y="111125"/>
                </a:cubicBezTo>
                <a:cubicBezTo>
                  <a:pt x="58862" y="111125"/>
                  <a:pt x="61516" y="108471"/>
                  <a:pt x="61516" y="105172"/>
                </a:cubicBezTo>
                <a:lnTo>
                  <a:pt x="61516" y="57547"/>
                </a:lnTo>
                <a:cubicBezTo>
                  <a:pt x="61516" y="54248"/>
                  <a:pt x="58862" y="51594"/>
                  <a:pt x="55563" y="51594"/>
                </a:cubicBezTo>
                <a:close/>
                <a:moveTo>
                  <a:pt x="81359" y="51594"/>
                </a:moveTo>
                <a:cubicBezTo>
                  <a:pt x="78060" y="51594"/>
                  <a:pt x="75406" y="54248"/>
                  <a:pt x="75406" y="57547"/>
                </a:cubicBezTo>
                <a:lnTo>
                  <a:pt x="75406" y="105172"/>
                </a:lnTo>
                <a:cubicBezTo>
                  <a:pt x="75406" y="108471"/>
                  <a:pt x="78060" y="111125"/>
                  <a:pt x="81359" y="111125"/>
                </a:cubicBezTo>
                <a:cubicBezTo>
                  <a:pt x="84658" y="111125"/>
                  <a:pt x="87313" y="108471"/>
                  <a:pt x="87313" y="105172"/>
                </a:cubicBezTo>
                <a:lnTo>
                  <a:pt x="87313" y="57547"/>
                </a:lnTo>
                <a:cubicBezTo>
                  <a:pt x="87313" y="54248"/>
                  <a:pt x="84658" y="51594"/>
                  <a:pt x="81359" y="5159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3413024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Garbage Collector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250" y="3635274"/>
            <a:ext cx="5302250" cy="285750"/>
          </a:xfrm>
          <a:custGeom>
            <a:avLst/>
            <a:gdLst/>
            <a:ahLst/>
            <a:cxnLst/>
            <a:rect l="l" t="t" r="r" b="b"/>
            <a:pathLst>
              <a:path w="5302250" h="285750">
                <a:moveTo>
                  <a:pt x="0" y="0"/>
                </a:moveTo>
                <a:lnTo>
                  <a:pt x="5302250" y="0"/>
                </a:lnTo>
                <a:lnTo>
                  <a:pt x="53022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603250" y="3635274"/>
            <a:ext cx="5357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G1GC -XX:MaxGCPauseMillis=200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3952774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Target 200ms max pause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4302024"/>
            <a:ext cx="5492750" cy="936625"/>
          </a:xfrm>
          <a:custGeom>
            <a:avLst/>
            <a:gdLst/>
            <a:ahLst/>
            <a:cxnLst/>
            <a:rect l="l" t="t" r="r" b="b"/>
            <a:pathLst>
              <a:path w="5492750" h="936625">
                <a:moveTo>
                  <a:pt x="0" y="0"/>
                </a:moveTo>
                <a:lnTo>
                  <a:pt x="5492750" y="0"/>
                </a:lnTo>
                <a:lnTo>
                  <a:pt x="5492750" y="936625"/>
                </a:lnTo>
                <a:lnTo>
                  <a:pt x="0" y="936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063" y="442902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4397274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Tomcat Thread Pool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6425" y="4622699"/>
            <a:ext cx="2609850" cy="514350"/>
          </a:xfrm>
          <a:custGeom>
            <a:avLst/>
            <a:gdLst/>
            <a:ahLst/>
            <a:cxnLst/>
            <a:rect l="l" t="t" r="r" b="b"/>
            <a:pathLst>
              <a:path w="2609850" h="514350">
                <a:moveTo>
                  <a:pt x="0" y="0"/>
                </a:moveTo>
                <a:lnTo>
                  <a:pt x="2609850" y="0"/>
                </a:lnTo>
                <a:lnTo>
                  <a:pt x="26098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100" y="468938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Max Threads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3100" y="4848130"/>
            <a:ext cx="254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89300" y="4622699"/>
            <a:ext cx="2609850" cy="514350"/>
          </a:xfrm>
          <a:custGeom>
            <a:avLst/>
            <a:gdLst/>
            <a:ahLst/>
            <a:cxnLst/>
            <a:rect l="l" t="t" r="r" b="b"/>
            <a:pathLst>
              <a:path w="2609850" h="514350">
                <a:moveTo>
                  <a:pt x="0" y="0"/>
                </a:moveTo>
                <a:lnTo>
                  <a:pt x="2609850" y="0"/>
                </a:lnTo>
                <a:lnTo>
                  <a:pt x="26098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975" y="4689380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Accept Count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5975" y="4848130"/>
            <a:ext cx="2547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10,000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8000" y="5330729"/>
            <a:ext cx="5492750" cy="1000125"/>
          </a:xfrm>
          <a:custGeom>
            <a:avLst/>
            <a:gdLst/>
            <a:ahLst/>
            <a:cxnLst/>
            <a:rect l="l" t="t" r="r" b="b"/>
            <a:pathLst>
              <a:path w="5492750" h="1000125">
                <a:moveTo>
                  <a:pt x="0" y="0"/>
                </a:moveTo>
                <a:lnTo>
                  <a:pt x="5492750" y="0"/>
                </a:lnTo>
                <a:lnTo>
                  <a:pt x="549275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619125" y="545772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656" y="5953"/>
                </a:moveTo>
                <a:cubicBezTo>
                  <a:pt x="43656" y="2654"/>
                  <a:pt x="41002" y="0"/>
                  <a:pt x="37703" y="0"/>
                </a:cubicBezTo>
                <a:cubicBezTo>
                  <a:pt x="34404" y="0"/>
                  <a:pt x="31750" y="2654"/>
                  <a:pt x="31750" y="5953"/>
                </a:cubicBezTo>
                <a:lnTo>
                  <a:pt x="31750" y="15875"/>
                </a:lnTo>
                <a:cubicBezTo>
                  <a:pt x="22994" y="15875"/>
                  <a:pt x="15875" y="22994"/>
                  <a:pt x="15875" y="31750"/>
                </a:cubicBezTo>
                <a:lnTo>
                  <a:pt x="5953" y="31750"/>
                </a:lnTo>
                <a:cubicBezTo>
                  <a:pt x="2654" y="31750"/>
                  <a:pt x="0" y="34404"/>
                  <a:pt x="0" y="37703"/>
                </a:cubicBezTo>
                <a:cubicBezTo>
                  <a:pt x="0" y="41002"/>
                  <a:pt x="2654" y="43656"/>
                  <a:pt x="5953" y="43656"/>
                </a:cubicBezTo>
                <a:lnTo>
                  <a:pt x="15875" y="43656"/>
                </a:lnTo>
                <a:lnTo>
                  <a:pt x="15875" y="57547"/>
                </a:lnTo>
                <a:lnTo>
                  <a:pt x="5953" y="57547"/>
                </a:lnTo>
                <a:cubicBezTo>
                  <a:pt x="2654" y="57547"/>
                  <a:pt x="0" y="60201"/>
                  <a:pt x="0" y="63500"/>
                </a:cubicBezTo>
                <a:cubicBezTo>
                  <a:pt x="0" y="66799"/>
                  <a:pt x="2654" y="69453"/>
                  <a:pt x="5953" y="69453"/>
                </a:cubicBezTo>
                <a:lnTo>
                  <a:pt x="15875" y="69453"/>
                </a:lnTo>
                <a:lnTo>
                  <a:pt x="15875" y="83344"/>
                </a:lnTo>
                <a:lnTo>
                  <a:pt x="5953" y="83344"/>
                </a:lnTo>
                <a:cubicBezTo>
                  <a:pt x="2654" y="83344"/>
                  <a:pt x="0" y="85998"/>
                  <a:pt x="0" y="89297"/>
                </a:cubicBezTo>
                <a:cubicBezTo>
                  <a:pt x="0" y="92596"/>
                  <a:pt x="2654" y="95250"/>
                  <a:pt x="5953" y="95250"/>
                </a:cubicBezTo>
                <a:lnTo>
                  <a:pt x="15875" y="95250"/>
                </a:lnTo>
                <a:cubicBezTo>
                  <a:pt x="15875" y="104006"/>
                  <a:pt x="22994" y="111125"/>
                  <a:pt x="31750" y="111125"/>
                </a:cubicBezTo>
                <a:lnTo>
                  <a:pt x="31750" y="121047"/>
                </a:lnTo>
                <a:cubicBezTo>
                  <a:pt x="31750" y="124346"/>
                  <a:pt x="34404" y="127000"/>
                  <a:pt x="37703" y="127000"/>
                </a:cubicBezTo>
                <a:cubicBezTo>
                  <a:pt x="41002" y="127000"/>
                  <a:pt x="43656" y="124346"/>
                  <a:pt x="43656" y="121047"/>
                </a:cubicBezTo>
                <a:lnTo>
                  <a:pt x="43656" y="111125"/>
                </a:lnTo>
                <a:lnTo>
                  <a:pt x="57547" y="111125"/>
                </a:lnTo>
                <a:lnTo>
                  <a:pt x="57547" y="121047"/>
                </a:lnTo>
                <a:cubicBezTo>
                  <a:pt x="57547" y="124346"/>
                  <a:pt x="60201" y="127000"/>
                  <a:pt x="63500" y="127000"/>
                </a:cubicBezTo>
                <a:cubicBezTo>
                  <a:pt x="66799" y="127000"/>
                  <a:pt x="69453" y="124346"/>
                  <a:pt x="69453" y="121047"/>
                </a:cubicBezTo>
                <a:lnTo>
                  <a:pt x="69453" y="111125"/>
                </a:lnTo>
                <a:lnTo>
                  <a:pt x="83344" y="111125"/>
                </a:lnTo>
                <a:lnTo>
                  <a:pt x="83344" y="121047"/>
                </a:lnTo>
                <a:cubicBezTo>
                  <a:pt x="83344" y="124346"/>
                  <a:pt x="85998" y="127000"/>
                  <a:pt x="89297" y="127000"/>
                </a:cubicBezTo>
                <a:cubicBezTo>
                  <a:pt x="92596" y="127000"/>
                  <a:pt x="95250" y="124346"/>
                  <a:pt x="95250" y="121047"/>
                </a:cubicBezTo>
                <a:lnTo>
                  <a:pt x="95250" y="111125"/>
                </a:lnTo>
                <a:cubicBezTo>
                  <a:pt x="104006" y="111125"/>
                  <a:pt x="111125" y="104006"/>
                  <a:pt x="111125" y="95250"/>
                </a:cubicBezTo>
                <a:lnTo>
                  <a:pt x="121047" y="95250"/>
                </a:lnTo>
                <a:cubicBezTo>
                  <a:pt x="124346" y="95250"/>
                  <a:pt x="127000" y="92596"/>
                  <a:pt x="127000" y="89297"/>
                </a:cubicBezTo>
                <a:cubicBezTo>
                  <a:pt x="127000" y="85998"/>
                  <a:pt x="124346" y="83344"/>
                  <a:pt x="121047" y="83344"/>
                </a:cubicBezTo>
                <a:lnTo>
                  <a:pt x="111125" y="83344"/>
                </a:lnTo>
                <a:lnTo>
                  <a:pt x="111125" y="69453"/>
                </a:lnTo>
                <a:lnTo>
                  <a:pt x="121047" y="69453"/>
                </a:lnTo>
                <a:cubicBezTo>
                  <a:pt x="124346" y="69453"/>
                  <a:pt x="127000" y="66799"/>
                  <a:pt x="127000" y="63500"/>
                </a:cubicBezTo>
                <a:cubicBezTo>
                  <a:pt x="127000" y="60201"/>
                  <a:pt x="124346" y="57547"/>
                  <a:pt x="121047" y="57547"/>
                </a:cubicBezTo>
                <a:lnTo>
                  <a:pt x="111125" y="57547"/>
                </a:lnTo>
                <a:lnTo>
                  <a:pt x="111125" y="43656"/>
                </a:lnTo>
                <a:lnTo>
                  <a:pt x="121047" y="43656"/>
                </a:lnTo>
                <a:cubicBezTo>
                  <a:pt x="124346" y="43656"/>
                  <a:pt x="127000" y="41002"/>
                  <a:pt x="127000" y="37703"/>
                </a:cubicBezTo>
                <a:cubicBezTo>
                  <a:pt x="127000" y="34404"/>
                  <a:pt x="124346" y="31750"/>
                  <a:pt x="121047" y="31750"/>
                </a:cubicBez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95250" y="5953"/>
                </a:lnTo>
                <a:cubicBezTo>
                  <a:pt x="95250" y="2654"/>
                  <a:pt x="92596" y="0"/>
                  <a:pt x="89297" y="0"/>
                </a:cubicBezTo>
                <a:cubicBezTo>
                  <a:pt x="85998" y="0"/>
                  <a:pt x="83344" y="2654"/>
                  <a:pt x="83344" y="5953"/>
                </a:cubicBezTo>
                <a:lnTo>
                  <a:pt x="83344" y="15875"/>
                </a:lnTo>
                <a:lnTo>
                  <a:pt x="69453" y="15875"/>
                </a:lnTo>
                <a:lnTo>
                  <a:pt x="69453" y="5953"/>
                </a:lnTo>
                <a:cubicBezTo>
                  <a:pt x="69453" y="2654"/>
                  <a:pt x="66799" y="0"/>
                  <a:pt x="63500" y="0"/>
                </a:cubicBezTo>
                <a:cubicBezTo>
                  <a:pt x="60201" y="0"/>
                  <a:pt x="57547" y="2654"/>
                  <a:pt x="57547" y="5953"/>
                </a:cubicBezTo>
                <a:lnTo>
                  <a:pt x="57547" y="15875"/>
                </a:lnTo>
                <a:lnTo>
                  <a:pt x="43656" y="15875"/>
                </a:lnTo>
                <a:lnTo>
                  <a:pt x="43656" y="5953"/>
                </a:lnTo>
                <a:close/>
                <a:moveTo>
                  <a:pt x="39688" y="31750"/>
                </a:moveTo>
                <a:lnTo>
                  <a:pt x="87313" y="31750"/>
                </a:lnTo>
                <a:cubicBezTo>
                  <a:pt x="91703" y="31750"/>
                  <a:pt x="95250" y="35297"/>
                  <a:pt x="95250" y="39688"/>
                </a:cubicBezTo>
                <a:lnTo>
                  <a:pt x="95250" y="87313"/>
                </a:lnTo>
                <a:cubicBezTo>
                  <a:pt x="95250" y="91703"/>
                  <a:pt x="91703" y="95250"/>
                  <a:pt x="87313" y="95250"/>
                </a:cubicBezTo>
                <a:lnTo>
                  <a:pt x="39688" y="95250"/>
                </a:lnTo>
                <a:cubicBezTo>
                  <a:pt x="35297" y="95250"/>
                  <a:pt x="31750" y="91703"/>
                  <a:pt x="31750" y="87313"/>
                </a:cubicBezTo>
                <a:lnTo>
                  <a:pt x="31750" y="39688"/>
                </a:lnTo>
                <a:cubicBezTo>
                  <a:pt x="31750" y="35297"/>
                  <a:pt x="35297" y="31750"/>
                  <a:pt x="39688" y="31750"/>
                </a:cubicBezTo>
                <a:close/>
                <a:moveTo>
                  <a:pt x="43656" y="43656"/>
                </a:moveTo>
                <a:lnTo>
                  <a:pt x="43656" y="83344"/>
                </a:lnTo>
                <a:lnTo>
                  <a:pt x="83344" y="83344"/>
                </a:lnTo>
                <a:lnTo>
                  <a:pt x="83344" y="43656"/>
                </a:lnTo>
                <a:lnTo>
                  <a:pt x="43656" y="4365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5425979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ONNX Runtime Threads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6425" y="5651404"/>
            <a:ext cx="2609850" cy="577850"/>
          </a:xfrm>
          <a:custGeom>
            <a:avLst/>
            <a:gdLst/>
            <a:ahLst/>
            <a:cxnLst/>
            <a:rect l="l" t="t" r="r" b="b"/>
            <a:pathLst>
              <a:path w="2609850" h="577850">
                <a:moveTo>
                  <a:pt x="0" y="0"/>
                </a:moveTo>
                <a:lnTo>
                  <a:pt x="2609850" y="0"/>
                </a:lnTo>
                <a:lnTo>
                  <a:pt x="2609850" y="577850"/>
                </a:lnTo>
                <a:lnTo>
                  <a:pt x="0" y="577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3100" y="5718077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Intra-op Threads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100" y="5876827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 (tested)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100" y="6035577"/>
            <a:ext cx="2524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Scale to 6-8 on 8+ cores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89300" y="5651404"/>
            <a:ext cx="2609850" cy="577850"/>
          </a:xfrm>
          <a:custGeom>
            <a:avLst/>
            <a:gdLst/>
            <a:ahLst/>
            <a:cxnLst/>
            <a:rect l="l" t="t" r="r" b="b"/>
            <a:pathLst>
              <a:path w="2609850" h="577850">
                <a:moveTo>
                  <a:pt x="0" y="0"/>
                </a:moveTo>
                <a:lnTo>
                  <a:pt x="2609850" y="0"/>
                </a:lnTo>
                <a:lnTo>
                  <a:pt x="2609850" y="577850"/>
                </a:lnTo>
                <a:lnTo>
                  <a:pt x="0" y="5778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975" y="5718077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Inter-op Threads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5975" y="5876827"/>
            <a:ext cx="253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3375" y="6454583"/>
            <a:ext cx="5667375" cy="571500"/>
          </a:xfrm>
          <a:custGeom>
            <a:avLst/>
            <a:gdLst/>
            <a:ahLst/>
            <a:cxnLst/>
            <a:rect l="l" t="t" r="r" b="b"/>
            <a:pathLst>
              <a:path w="5667375" h="571500">
                <a:moveTo>
                  <a:pt x="0" y="0"/>
                </a:moveTo>
                <a:lnTo>
                  <a:pt x="5667375" y="0"/>
                </a:lnTo>
                <a:lnTo>
                  <a:pt x="56673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4" name="Shape 42"/>
          <p:cNvSpPr/>
          <p:nvPr/>
        </p:nvSpPr>
        <p:spPr>
          <a:xfrm>
            <a:off x="333375" y="645458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5" name="Shape 43"/>
          <p:cNvSpPr/>
          <p:nvPr/>
        </p:nvSpPr>
        <p:spPr>
          <a:xfrm>
            <a:off x="476250" y="656253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6" name="Text 44"/>
          <p:cNvSpPr/>
          <p:nvPr/>
        </p:nvSpPr>
        <p:spPr>
          <a:xfrm>
            <a:off x="642938" y="6549833"/>
            <a:ext cx="5326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Scaling Note: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On production hardware with 8+ cores, increase intra-op-threads to 6-8 and Tomcat threads to 200-500 for proportionally higher throughput.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7600" y="1006475"/>
            <a:ext cx="5672137" cy="869950"/>
          </a:xfrm>
          <a:custGeom>
            <a:avLst/>
            <a:gdLst/>
            <a:ahLst/>
            <a:cxnLst/>
            <a:rect l="l" t="t" r="r" b="b"/>
            <a:pathLst>
              <a:path w="5672137" h="869950">
                <a:moveTo>
                  <a:pt x="0" y="0"/>
                </a:moveTo>
                <a:lnTo>
                  <a:pt x="5672137" y="0"/>
                </a:lnTo>
                <a:lnTo>
                  <a:pt x="5672137" y="869950"/>
                </a:lnTo>
                <a:lnTo>
                  <a:pt x="0" y="869950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20320">
            <a:solidFill>
              <a:srgbClr val="BEDBFF"/>
            </a:solidFill>
            <a:prstDash val="solid"/>
          </a:ln>
        </p:spPr>
      </p:sp>
      <p:pic>
        <p:nvPicPr>
          <p:cNvPr id="48" name="Image 0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1"/>
          <a:srcRect l="76" r="76" t="0" b="0"/>
          <a:stretch/>
        </p:blipFill>
        <p:spPr>
          <a:xfrm>
            <a:off x="6362700" y="1203229"/>
            <a:ext cx="1055688" cy="381000"/>
          </a:xfrm>
          <a:prstGeom prst="roundRect">
            <a:avLst>
              <a:gd name="adj" fmla="val 0"/>
            </a:avLst>
          </a:prstGeom>
        </p:spPr>
      </p:pic>
      <p:sp>
        <p:nvSpPr>
          <p:cNvPr id="49" name="Text 46"/>
          <p:cNvSpPr/>
          <p:nvPr/>
        </p:nvSpPr>
        <p:spPr>
          <a:xfrm>
            <a:off x="7515225" y="1171580"/>
            <a:ext cx="125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515225" y="1425479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Python is Required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207125" y="2009676"/>
            <a:ext cx="31750" cy="4318000"/>
          </a:xfrm>
          <a:custGeom>
            <a:avLst/>
            <a:gdLst/>
            <a:ahLst/>
            <a:cxnLst/>
            <a:rect l="l" t="t" r="r" b="b"/>
            <a:pathLst>
              <a:path w="31750" h="4318000">
                <a:moveTo>
                  <a:pt x="0" y="0"/>
                </a:moveTo>
                <a:lnTo>
                  <a:pt x="31750" y="0"/>
                </a:lnTo>
                <a:lnTo>
                  <a:pt x="31750" y="4318000"/>
                </a:lnTo>
                <a:lnTo>
                  <a:pt x="0" y="4318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Text 49"/>
          <p:cNvSpPr/>
          <p:nvPr/>
        </p:nvSpPr>
        <p:spPr>
          <a:xfrm>
            <a:off x="6381750" y="2009676"/>
            <a:ext cx="557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Optimized Configuration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81750" y="2358926"/>
            <a:ext cx="5492750" cy="889000"/>
          </a:xfrm>
          <a:custGeom>
            <a:avLst/>
            <a:gdLst/>
            <a:ahLst/>
            <a:cxnLst/>
            <a:rect l="l" t="t" r="r" b="b"/>
            <a:pathLst>
              <a:path w="5492750" h="889000">
                <a:moveTo>
                  <a:pt x="0" y="0"/>
                </a:moveTo>
                <a:lnTo>
                  <a:pt x="5492750" y="0"/>
                </a:lnTo>
                <a:lnTo>
                  <a:pt x="549275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4" name="Shape 51"/>
          <p:cNvSpPr/>
          <p:nvPr/>
        </p:nvSpPr>
        <p:spPr>
          <a:xfrm>
            <a:off x="6477000" y="2485926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03163" y="52214"/>
                </a:moveTo>
                <a:cubicBezTo>
                  <a:pt x="106189" y="51395"/>
                  <a:pt x="109364" y="52834"/>
                  <a:pt x="110728" y="55637"/>
                </a:cubicBezTo>
                <a:lnTo>
                  <a:pt x="115342" y="64963"/>
                </a:lnTo>
                <a:cubicBezTo>
                  <a:pt x="117897" y="65311"/>
                  <a:pt x="120402" y="66005"/>
                  <a:pt x="122758" y="66973"/>
                </a:cubicBezTo>
                <a:lnTo>
                  <a:pt x="131440" y="61193"/>
                </a:lnTo>
                <a:cubicBezTo>
                  <a:pt x="134045" y="59457"/>
                  <a:pt x="137492" y="59804"/>
                  <a:pt x="139700" y="62012"/>
                </a:cubicBezTo>
                <a:lnTo>
                  <a:pt x="144463" y="66774"/>
                </a:lnTo>
                <a:cubicBezTo>
                  <a:pt x="146670" y="68982"/>
                  <a:pt x="147017" y="72454"/>
                  <a:pt x="145281" y="75034"/>
                </a:cubicBezTo>
                <a:lnTo>
                  <a:pt x="139502" y="83691"/>
                </a:lnTo>
                <a:cubicBezTo>
                  <a:pt x="139973" y="84857"/>
                  <a:pt x="140395" y="86072"/>
                  <a:pt x="140742" y="87337"/>
                </a:cubicBezTo>
                <a:cubicBezTo>
                  <a:pt x="141089" y="88602"/>
                  <a:pt x="141312" y="89843"/>
                  <a:pt x="141486" y="91108"/>
                </a:cubicBezTo>
                <a:lnTo>
                  <a:pt x="150837" y="95721"/>
                </a:lnTo>
                <a:cubicBezTo>
                  <a:pt x="153640" y="97110"/>
                  <a:pt x="155079" y="100285"/>
                  <a:pt x="154260" y="103287"/>
                </a:cubicBezTo>
                <a:lnTo>
                  <a:pt x="152524" y="109786"/>
                </a:lnTo>
                <a:cubicBezTo>
                  <a:pt x="151705" y="112787"/>
                  <a:pt x="148903" y="114821"/>
                  <a:pt x="145777" y="114622"/>
                </a:cubicBezTo>
                <a:lnTo>
                  <a:pt x="135359" y="113953"/>
                </a:lnTo>
                <a:cubicBezTo>
                  <a:pt x="133796" y="115962"/>
                  <a:pt x="131986" y="117822"/>
                  <a:pt x="129927" y="119410"/>
                </a:cubicBezTo>
                <a:lnTo>
                  <a:pt x="130597" y="129803"/>
                </a:lnTo>
                <a:cubicBezTo>
                  <a:pt x="130795" y="132928"/>
                  <a:pt x="128761" y="135756"/>
                  <a:pt x="125760" y="136550"/>
                </a:cubicBezTo>
                <a:lnTo>
                  <a:pt x="119261" y="138286"/>
                </a:lnTo>
                <a:cubicBezTo>
                  <a:pt x="116235" y="139105"/>
                  <a:pt x="113085" y="137666"/>
                  <a:pt x="111696" y="134863"/>
                </a:cubicBezTo>
                <a:lnTo>
                  <a:pt x="107082" y="125537"/>
                </a:lnTo>
                <a:cubicBezTo>
                  <a:pt x="104527" y="125189"/>
                  <a:pt x="102022" y="124495"/>
                  <a:pt x="99665" y="123527"/>
                </a:cubicBezTo>
                <a:lnTo>
                  <a:pt x="90984" y="129307"/>
                </a:lnTo>
                <a:cubicBezTo>
                  <a:pt x="88379" y="131043"/>
                  <a:pt x="84931" y="130696"/>
                  <a:pt x="82724" y="128488"/>
                </a:cubicBezTo>
                <a:lnTo>
                  <a:pt x="77961" y="123726"/>
                </a:lnTo>
                <a:cubicBezTo>
                  <a:pt x="75754" y="121518"/>
                  <a:pt x="75406" y="118070"/>
                  <a:pt x="77143" y="115466"/>
                </a:cubicBezTo>
                <a:lnTo>
                  <a:pt x="82922" y="106784"/>
                </a:lnTo>
                <a:cubicBezTo>
                  <a:pt x="82451" y="105618"/>
                  <a:pt x="82029" y="104403"/>
                  <a:pt x="81682" y="103138"/>
                </a:cubicBezTo>
                <a:cubicBezTo>
                  <a:pt x="81335" y="101873"/>
                  <a:pt x="81111" y="100608"/>
                  <a:pt x="80938" y="99368"/>
                </a:cubicBezTo>
                <a:lnTo>
                  <a:pt x="71586" y="94754"/>
                </a:lnTo>
                <a:cubicBezTo>
                  <a:pt x="68783" y="93365"/>
                  <a:pt x="67370" y="90190"/>
                  <a:pt x="68163" y="87188"/>
                </a:cubicBezTo>
                <a:lnTo>
                  <a:pt x="69900" y="80690"/>
                </a:lnTo>
                <a:cubicBezTo>
                  <a:pt x="70718" y="77688"/>
                  <a:pt x="73521" y="75654"/>
                  <a:pt x="76646" y="75853"/>
                </a:cubicBezTo>
                <a:lnTo>
                  <a:pt x="87040" y="76522"/>
                </a:lnTo>
                <a:cubicBezTo>
                  <a:pt x="88602" y="74513"/>
                  <a:pt x="90413" y="72653"/>
                  <a:pt x="92472" y="71065"/>
                </a:cubicBezTo>
                <a:lnTo>
                  <a:pt x="91802" y="60697"/>
                </a:lnTo>
                <a:cubicBezTo>
                  <a:pt x="91604" y="57572"/>
                  <a:pt x="93638" y="54744"/>
                  <a:pt x="96639" y="53950"/>
                </a:cubicBezTo>
                <a:lnTo>
                  <a:pt x="103138" y="52214"/>
                </a:lnTo>
                <a:close/>
                <a:moveTo>
                  <a:pt x="111224" y="84336"/>
                </a:moveTo>
                <a:cubicBezTo>
                  <a:pt x="105201" y="84343"/>
                  <a:pt x="100316" y="89239"/>
                  <a:pt x="100323" y="95262"/>
                </a:cubicBezTo>
                <a:cubicBezTo>
                  <a:pt x="100329" y="101286"/>
                  <a:pt x="105225" y="106171"/>
                  <a:pt x="111249" y="106164"/>
                </a:cubicBezTo>
                <a:cubicBezTo>
                  <a:pt x="117273" y="106157"/>
                  <a:pt x="122158" y="101261"/>
                  <a:pt x="122151" y="95238"/>
                </a:cubicBezTo>
                <a:cubicBezTo>
                  <a:pt x="122144" y="89214"/>
                  <a:pt x="117248" y="84329"/>
                  <a:pt x="111224" y="84336"/>
                </a:cubicBezTo>
                <a:close/>
                <a:moveTo>
                  <a:pt x="55786" y="-11286"/>
                </a:moveTo>
                <a:lnTo>
                  <a:pt x="62285" y="-9550"/>
                </a:lnTo>
                <a:cubicBezTo>
                  <a:pt x="65286" y="-8731"/>
                  <a:pt x="67320" y="-5904"/>
                  <a:pt x="67121" y="-2803"/>
                </a:cubicBezTo>
                <a:lnTo>
                  <a:pt x="66452" y="7565"/>
                </a:lnTo>
                <a:cubicBezTo>
                  <a:pt x="68511" y="9153"/>
                  <a:pt x="70321" y="10988"/>
                  <a:pt x="71884" y="13022"/>
                </a:cubicBezTo>
                <a:lnTo>
                  <a:pt x="82302" y="12353"/>
                </a:lnTo>
                <a:cubicBezTo>
                  <a:pt x="85403" y="12154"/>
                  <a:pt x="88230" y="14188"/>
                  <a:pt x="89049" y="17190"/>
                </a:cubicBezTo>
                <a:lnTo>
                  <a:pt x="90785" y="23688"/>
                </a:lnTo>
                <a:cubicBezTo>
                  <a:pt x="91579" y="26690"/>
                  <a:pt x="90165" y="29865"/>
                  <a:pt x="87362" y="31254"/>
                </a:cubicBezTo>
                <a:lnTo>
                  <a:pt x="78011" y="35868"/>
                </a:lnTo>
                <a:cubicBezTo>
                  <a:pt x="77837" y="37133"/>
                  <a:pt x="77589" y="38398"/>
                  <a:pt x="77267" y="39638"/>
                </a:cubicBezTo>
                <a:cubicBezTo>
                  <a:pt x="76944" y="40878"/>
                  <a:pt x="76498" y="42118"/>
                  <a:pt x="76026" y="43284"/>
                </a:cubicBezTo>
                <a:lnTo>
                  <a:pt x="81806" y="51966"/>
                </a:lnTo>
                <a:cubicBezTo>
                  <a:pt x="83542" y="54570"/>
                  <a:pt x="83195" y="58018"/>
                  <a:pt x="80987" y="60226"/>
                </a:cubicBezTo>
                <a:lnTo>
                  <a:pt x="76225" y="64988"/>
                </a:lnTo>
                <a:cubicBezTo>
                  <a:pt x="74017" y="67196"/>
                  <a:pt x="70569" y="67543"/>
                  <a:pt x="67965" y="65807"/>
                </a:cubicBezTo>
                <a:lnTo>
                  <a:pt x="59283" y="60027"/>
                </a:lnTo>
                <a:cubicBezTo>
                  <a:pt x="56927" y="60995"/>
                  <a:pt x="54421" y="61689"/>
                  <a:pt x="51867" y="62037"/>
                </a:cubicBezTo>
                <a:lnTo>
                  <a:pt x="47253" y="71363"/>
                </a:lnTo>
                <a:cubicBezTo>
                  <a:pt x="45864" y="74166"/>
                  <a:pt x="42689" y="75580"/>
                  <a:pt x="39688" y="74786"/>
                </a:cubicBezTo>
                <a:lnTo>
                  <a:pt x="33189" y="73050"/>
                </a:lnTo>
                <a:cubicBezTo>
                  <a:pt x="30163" y="72231"/>
                  <a:pt x="28153" y="69404"/>
                  <a:pt x="28352" y="66303"/>
                </a:cubicBezTo>
                <a:lnTo>
                  <a:pt x="29021" y="55910"/>
                </a:lnTo>
                <a:cubicBezTo>
                  <a:pt x="26963" y="54322"/>
                  <a:pt x="25152" y="52487"/>
                  <a:pt x="23589" y="50453"/>
                </a:cubicBezTo>
                <a:lnTo>
                  <a:pt x="13171" y="51122"/>
                </a:lnTo>
                <a:cubicBezTo>
                  <a:pt x="10071" y="51321"/>
                  <a:pt x="7243" y="49287"/>
                  <a:pt x="6424" y="46286"/>
                </a:cubicBezTo>
                <a:lnTo>
                  <a:pt x="4688" y="39787"/>
                </a:lnTo>
                <a:cubicBezTo>
                  <a:pt x="3894" y="36785"/>
                  <a:pt x="5308" y="33610"/>
                  <a:pt x="8111" y="32221"/>
                </a:cubicBezTo>
                <a:lnTo>
                  <a:pt x="17463" y="27608"/>
                </a:lnTo>
                <a:cubicBezTo>
                  <a:pt x="17636" y="26343"/>
                  <a:pt x="17884" y="25102"/>
                  <a:pt x="18207" y="23837"/>
                </a:cubicBezTo>
                <a:cubicBezTo>
                  <a:pt x="18554" y="22572"/>
                  <a:pt x="18951" y="21357"/>
                  <a:pt x="19447" y="20191"/>
                </a:cubicBezTo>
                <a:lnTo>
                  <a:pt x="13667" y="11534"/>
                </a:lnTo>
                <a:cubicBezTo>
                  <a:pt x="11931" y="8930"/>
                  <a:pt x="12278" y="5482"/>
                  <a:pt x="14486" y="3274"/>
                </a:cubicBezTo>
                <a:lnTo>
                  <a:pt x="19248" y="-1488"/>
                </a:lnTo>
                <a:cubicBezTo>
                  <a:pt x="21456" y="-3696"/>
                  <a:pt x="24904" y="-4043"/>
                  <a:pt x="27508" y="-2307"/>
                </a:cubicBezTo>
                <a:lnTo>
                  <a:pt x="36190" y="3473"/>
                </a:lnTo>
                <a:cubicBezTo>
                  <a:pt x="38546" y="2505"/>
                  <a:pt x="41052" y="1811"/>
                  <a:pt x="43607" y="1463"/>
                </a:cubicBezTo>
                <a:lnTo>
                  <a:pt x="48220" y="-7863"/>
                </a:lnTo>
                <a:cubicBezTo>
                  <a:pt x="49609" y="-10666"/>
                  <a:pt x="52760" y="-12080"/>
                  <a:pt x="55786" y="-11286"/>
                </a:cubicBezTo>
                <a:close/>
                <a:moveTo>
                  <a:pt x="47724" y="20836"/>
                </a:moveTo>
                <a:cubicBezTo>
                  <a:pt x="41701" y="20836"/>
                  <a:pt x="36810" y="25726"/>
                  <a:pt x="36810" y="31750"/>
                </a:cubicBezTo>
                <a:cubicBezTo>
                  <a:pt x="36810" y="37774"/>
                  <a:pt x="41701" y="42664"/>
                  <a:pt x="47724" y="42664"/>
                </a:cubicBezTo>
                <a:cubicBezTo>
                  <a:pt x="53748" y="42664"/>
                  <a:pt x="58638" y="37774"/>
                  <a:pt x="58638" y="31750"/>
                </a:cubicBezTo>
                <a:cubicBezTo>
                  <a:pt x="58638" y="25726"/>
                  <a:pt x="53748" y="20836"/>
                  <a:pt x="47724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6635750" y="2454176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Worker Processes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477000" y="2676426"/>
            <a:ext cx="5302250" cy="285750"/>
          </a:xfrm>
          <a:custGeom>
            <a:avLst/>
            <a:gdLst/>
            <a:ahLst/>
            <a:cxnLst/>
            <a:rect l="l" t="t" r="r" b="b"/>
            <a:pathLst>
              <a:path w="5302250" h="285750">
                <a:moveTo>
                  <a:pt x="0" y="0"/>
                </a:moveTo>
                <a:lnTo>
                  <a:pt x="5302250" y="0"/>
                </a:lnTo>
                <a:lnTo>
                  <a:pt x="53022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7" name="Text 54"/>
          <p:cNvSpPr/>
          <p:nvPr/>
        </p:nvSpPr>
        <p:spPr>
          <a:xfrm>
            <a:off x="6477000" y="2676426"/>
            <a:ext cx="5357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workers = 2 × CPU cores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477000" y="2993926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e.g., 8 workers on 4-core, 16 on 8-core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381750" y="3343176"/>
            <a:ext cx="5492750" cy="889000"/>
          </a:xfrm>
          <a:custGeom>
            <a:avLst/>
            <a:gdLst/>
            <a:ahLst/>
            <a:cxnLst/>
            <a:rect l="l" t="t" r="r" b="b"/>
            <a:pathLst>
              <a:path w="5492750" h="889000">
                <a:moveTo>
                  <a:pt x="0" y="0"/>
                </a:moveTo>
                <a:lnTo>
                  <a:pt x="5492750" y="0"/>
                </a:lnTo>
                <a:lnTo>
                  <a:pt x="549275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0" name="Shape 57"/>
          <p:cNvSpPr/>
          <p:nvPr/>
        </p:nvSpPr>
        <p:spPr>
          <a:xfrm>
            <a:off x="6492875" y="34701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656" y="5953"/>
                </a:moveTo>
                <a:cubicBezTo>
                  <a:pt x="43656" y="2654"/>
                  <a:pt x="41002" y="0"/>
                  <a:pt x="37703" y="0"/>
                </a:cubicBezTo>
                <a:cubicBezTo>
                  <a:pt x="34404" y="0"/>
                  <a:pt x="31750" y="2654"/>
                  <a:pt x="31750" y="5953"/>
                </a:cubicBezTo>
                <a:lnTo>
                  <a:pt x="31750" y="15875"/>
                </a:lnTo>
                <a:cubicBezTo>
                  <a:pt x="22994" y="15875"/>
                  <a:pt x="15875" y="22994"/>
                  <a:pt x="15875" y="31750"/>
                </a:cubicBezTo>
                <a:lnTo>
                  <a:pt x="5953" y="31750"/>
                </a:lnTo>
                <a:cubicBezTo>
                  <a:pt x="2654" y="31750"/>
                  <a:pt x="0" y="34404"/>
                  <a:pt x="0" y="37703"/>
                </a:cubicBezTo>
                <a:cubicBezTo>
                  <a:pt x="0" y="41002"/>
                  <a:pt x="2654" y="43656"/>
                  <a:pt x="5953" y="43656"/>
                </a:cubicBezTo>
                <a:lnTo>
                  <a:pt x="15875" y="43656"/>
                </a:lnTo>
                <a:lnTo>
                  <a:pt x="15875" y="57547"/>
                </a:lnTo>
                <a:lnTo>
                  <a:pt x="5953" y="57547"/>
                </a:lnTo>
                <a:cubicBezTo>
                  <a:pt x="2654" y="57547"/>
                  <a:pt x="0" y="60201"/>
                  <a:pt x="0" y="63500"/>
                </a:cubicBezTo>
                <a:cubicBezTo>
                  <a:pt x="0" y="66799"/>
                  <a:pt x="2654" y="69453"/>
                  <a:pt x="5953" y="69453"/>
                </a:cubicBezTo>
                <a:lnTo>
                  <a:pt x="15875" y="69453"/>
                </a:lnTo>
                <a:lnTo>
                  <a:pt x="15875" y="83344"/>
                </a:lnTo>
                <a:lnTo>
                  <a:pt x="5953" y="83344"/>
                </a:lnTo>
                <a:cubicBezTo>
                  <a:pt x="2654" y="83344"/>
                  <a:pt x="0" y="85998"/>
                  <a:pt x="0" y="89297"/>
                </a:cubicBezTo>
                <a:cubicBezTo>
                  <a:pt x="0" y="92596"/>
                  <a:pt x="2654" y="95250"/>
                  <a:pt x="5953" y="95250"/>
                </a:cubicBezTo>
                <a:lnTo>
                  <a:pt x="15875" y="95250"/>
                </a:lnTo>
                <a:cubicBezTo>
                  <a:pt x="15875" y="104006"/>
                  <a:pt x="22994" y="111125"/>
                  <a:pt x="31750" y="111125"/>
                </a:cubicBezTo>
                <a:lnTo>
                  <a:pt x="31750" y="121047"/>
                </a:lnTo>
                <a:cubicBezTo>
                  <a:pt x="31750" y="124346"/>
                  <a:pt x="34404" y="127000"/>
                  <a:pt x="37703" y="127000"/>
                </a:cubicBezTo>
                <a:cubicBezTo>
                  <a:pt x="41002" y="127000"/>
                  <a:pt x="43656" y="124346"/>
                  <a:pt x="43656" y="121047"/>
                </a:cubicBezTo>
                <a:lnTo>
                  <a:pt x="43656" y="111125"/>
                </a:lnTo>
                <a:lnTo>
                  <a:pt x="57547" y="111125"/>
                </a:lnTo>
                <a:lnTo>
                  <a:pt x="57547" y="121047"/>
                </a:lnTo>
                <a:cubicBezTo>
                  <a:pt x="57547" y="124346"/>
                  <a:pt x="60201" y="127000"/>
                  <a:pt x="63500" y="127000"/>
                </a:cubicBezTo>
                <a:cubicBezTo>
                  <a:pt x="66799" y="127000"/>
                  <a:pt x="69453" y="124346"/>
                  <a:pt x="69453" y="121047"/>
                </a:cubicBezTo>
                <a:lnTo>
                  <a:pt x="69453" y="111125"/>
                </a:lnTo>
                <a:lnTo>
                  <a:pt x="83344" y="111125"/>
                </a:lnTo>
                <a:lnTo>
                  <a:pt x="83344" y="121047"/>
                </a:lnTo>
                <a:cubicBezTo>
                  <a:pt x="83344" y="124346"/>
                  <a:pt x="85998" y="127000"/>
                  <a:pt x="89297" y="127000"/>
                </a:cubicBezTo>
                <a:cubicBezTo>
                  <a:pt x="92596" y="127000"/>
                  <a:pt x="95250" y="124346"/>
                  <a:pt x="95250" y="121047"/>
                </a:cubicBezTo>
                <a:lnTo>
                  <a:pt x="95250" y="111125"/>
                </a:lnTo>
                <a:cubicBezTo>
                  <a:pt x="104006" y="111125"/>
                  <a:pt x="111125" y="104006"/>
                  <a:pt x="111125" y="95250"/>
                </a:cubicBezTo>
                <a:lnTo>
                  <a:pt x="121047" y="95250"/>
                </a:lnTo>
                <a:cubicBezTo>
                  <a:pt x="124346" y="95250"/>
                  <a:pt x="127000" y="92596"/>
                  <a:pt x="127000" y="89297"/>
                </a:cubicBezTo>
                <a:cubicBezTo>
                  <a:pt x="127000" y="85998"/>
                  <a:pt x="124346" y="83344"/>
                  <a:pt x="121047" y="83344"/>
                </a:cubicBezTo>
                <a:lnTo>
                  <a:pt x="111125" y="83344"/>
                </a:lnTo>
                <a:lnTo>
                  <a:pt x="111125" y="69453"/>
                </a:lnTo>
                <a:lnTo>
                  <a:pt x="121047" y="69453"/>
                </a:lnTo>
                <a:cubicBezTo>
                  <a:pt x="124346" y="69453"/>
                  <a:pt x="127000" y="66799"/>
                  <a:pt x="127000" y="63500"/>
                </a:cubicBezTo>
                <a:cubicBezTo>
                  <a:pt x="127000" y="60201"/>
                  <a:pt x="124346" y="57547"/>
                  <a:pt x="121047" y="57547"/>
                </a:cubicBezTo>
                <a:lnTo>
                  <a:pt x="111125" y="57547"/>
                </a:lnTo>
                <a:lnTo>
                  <a:pt x="111125" y="43656"/>
                </a:lnTo>
                <a:lnTo>
                  <a:pt x="121047" y="43656"/>
                </a:lnTo>
                <a:cubicBezTo>
                  <a:pt x="124346" y="43656"/>
                  <a:pt x="127000" y="41002"/>
                  <a:pt x="127000" y="37703"/>
                </a:cubicBezTo>
                <a:cubicBezTo>
                  <a:pt x="127000" y="34404"/>
                  <a:pt x="124346" y="31750"/>
                  <a:pt x="121047" y="31750"/>
                </a:cubicBez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95250" y="5953"/>
                </a:lnTo>
                <a:cubicBezTo>
                  <a:pt x="95250" y="2654"/>
                  <a:pt x="92596" y="0"/>
                  <a:pt x="89297" y="0"/>
                </a:cubicBezTo>
                <a:cubicBezTo>
                  <a:pt x="85998" y="0"/>
                  <a:pt x="83344" y="2654"/>
                  <a:pt x="83344" y="5953"/>
                </a:cubicBezTo>
                <a:lnTo>
                  <a:pt x="83344" y="15875"/>
                </a:lnTo>
                <a:lnTo>
                  <a:pt x="69453" y="15875"/>
                </a:lnTo>
                <a:lnTo>
                  <a:pt x="69453" y="5953"/>
                </a:lnTo>
                <a:cubicBezTo>
                  <a:pt x="69453" y="2654"/>
                  <a:pt x="66799" y="0"/>
                  <a:pt x="63500" y="0"/>
                </a:cubicBezTo>
                <a:cubicBezTo>
                  <a:pt x="60201" y="0"/>
                  <a:pt x="57547" y="2654"/>
                  <a:pt x="57547" y="5953"/>
                </a:cubicBezTo>
                <a:lnTo>
                  <a:pt x="57547" y="15875"/>
                </a:lnTo>
                <a:lnTo>
                  <a:pt x="43656" y="15875"/>
                </a:lnTo>
                <a:lnTo>
                  <a:pt x="43656" y="5953"/>
                </a:lnTo>
                <a:close/>
                <a:moveTo>
                  <a:pt x="39688" y="31750"/>
                </a:moveTo>
                <a:lnTo>
                  <a:pt x="87313" y="31750"/>
                </a:lnTo>
                <a:cubicBezTo>
                  <a:pt x="91703" y="31750"/>
                  <a:pt x="95250" y="35297"/>
                  <a:pt x="95250" y="39688"/>
                </a:cubicBezTo>
                <a:lnTo>
                  <a:pt x="95250" y="87313"/>
                </a:lnTo>
                <a:cubicBezTo>
                  <a:pt x="95250" y="91703"/>
                  <a:pt x="91703" y="95250"/>
                  <a:pt x="87313" y="95250"/>
                </a:cubicBezTo>
                <a:lnTo>
                  <a:pt x="39688" y="95250"/>
                </a:lnTo>
                <a:cubicBezTo>
                  <a:pt x="35297" y="95250"/>
                  <a:pt x="31750" y="91703"/>
                  <a:pt x="31750" y="87313"/>
                </a:cubicBezTo>
                <a:lnTo>
                  <a:pt x="31750" y="39688"/>
                </a:lnTo>
                <a:cubicBezTo>
                  <a:pt x="31750" y="35297"/>
                  <a:pt x="35297" y="31750"/>
                  <a:pt x="39688" y="31750"/>
                </a:cubicBezTo>
                <a:close/>
                <a:moveTo>
                  <a:pt x="43656" y="43656"/>
                </a:moveTo>
                <a:lnTo>
                  <a:pt x="43656" y="83344"/>
                </a:lnTo>
                <a:lnTo>
                  <a:pt x="83344" y="83344"/>
                </a:lnTo>
                <a:lnTo>
                  <a:pt x="83344" y="43656"/>
                </a:lnTo>
                <a:lnTo>
                  <a:pt x="43656" y="436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1" name="Text 58"/>
          <p:cNvSpPr/>
          <p:nvPr/>
        </p:nvSpPr>
        <p:spPr>
          <a:xfrm>
            <a:off x="6635750" y="3438426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Inference Threads per Worker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477000" y="3660676"/>
            <a:ext cx="5302250" cy="285750"/>
          </a:xfrm>
          <a:custGeom>
            <a:avLst/>
            <a:gdLst/>
            <a:ahLst/>
            <a:cxnLst/>
            <a:rect l="l" t="t" r="r" b="b"/>
            <a:pathLst>
              <a:path w="5302250" h="285750">
                <a:moveTo>
                  <a:pt x="0" y="0"/>
                </a:moveTo>
                <a:lnTo>
                  <a:pt x="5302250" y="0"/>
                </a:lnTo>
                <a:lnTo>
                  <a:pt x="53022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3" name="Text 60"/>
          <p:cNvSpPr/>
          <p:nvPr/>
        </p:nvSpPr>
        <p:spPr>
          <a:xfrm>
            <a:off x="6477000" y="3660676"/>
            <a:ext cx="5357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inference_threads_per_worker = 1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477000" y="3978176"/>
            <a:ext cx="535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Avoid thread contention within workers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381750" y="4327426"/>
            <a:ext cx="5492750" cy="1031875"/>
          </a:xfrm>
          <a:custGeom>
            <a:avLst/>
            <a:gdLst/>
            <a:ahLst/>
            <a:cxnLst/>
            <a:rect l="l" t="t" r="r" b="b"/>
            <a:pathLst>
              <a:path w="5492750" h="1031875">
                <a:moveTo>
                  <a:pt x="0" y="0"/>
                </a:moveTo>
                <a:lnTo>
                  <a:pt x="5492750" y="0"/>
                </a:lnTo>
                <a:lnTo>
                  <a:pt x="5492750" y="1031875"/>
                </a:lnTo>
                <a:lnTo>
                  <a:pt x="0" y="10318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6" name="Shape 63"/>
          <p:cNvSpPr/>
          <p:nvPr/>
        </p:nvSpPr>
        <p:spPr>
          <a:xfrm>
            <a:off x="6484938" y="445442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1516" y="21828"/>
                </a:moveTo>
                <a:lnTo>
                  <a:pt x="81359" y="21828"/>
                </a:lnTo>
                <a:lnTo>
                  <a:pt x="81359" y="33734"/>
                </a:lnTo>
                <a:lnTo>
                  <a:pt x="61516" y="33734"/>
                </a:lnTo>
                <a:lnTo>
                  <a:pt x="61516" y="21828"/>
                </a:lnTo>
                <a:close/>
                <a:moveTo>
                  <a:pt x="59531" y="7938"/>
                </a:moveTo>
                <a:cubicBezTo>
                  <a:pt x="52958" y="7938"/>
                  <a:pt x="47625" y="13271"/>
                  <a:pt x="47625" y="19844"/>
                </a:cubicBezTo>
                <a:lnTo>
                  <a:pt x="47625" y="35719"/>
                </a:lnTo>
                <a:cubicBezTo>
                  <a:pt x="47625" y="42292"/>
                  <a:pt x="52958" y="47625"/>
                  <a:pt x="59531" y="47625"/>
                </a:cubicBezTo>
                <a:lnTo>
                  <a:pt x="63500" y="47625"/>
                </a:lnTo>
                <a:lnTo>
                  <a:pt x="63500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31750" y="71438"/>
                </a:lnTo>
                <a:lnTo>
                  <a:pt x="31750" y="79375"/>
                </a:lnTo>
                <a:lnTo>
                  <a:pt x="27781" y="79375"/>
                </a:lnTo>
                <a:cubicBezTo>
                  <a:pt x="21208" y="79375"/>
                  <a:pt x="15875" y="84708"/>
                  <a:pt x="15875" y="91281"/>
                </a:cubicBezTo>
                <a:lnTo>
                  <a:pt x="15875" y="107156"/>
                </a:lnTo>
                <a:cubicBezTo>
                  <a:pt x="15875" y="113729"/>
                  <a:pt x="21208" y="119063"/>
                  <a:pt x="27781" y="119063"/>
                </a:cubicBezTo>
                <a:lnTo>
                  <a:pt x="51594" y="119063"/>
                </a:lnTo>
                <a:cubicBezTo>
                  <a:pt x="58167" y="119063"/>
                  <a:pt x="63500" y="113729"/>
                  <a:pt x="63500" y="107156"/>
                </a:cubicBezTo>
                <a:lnTo>
                  <a:pt x="63500" y="91281"/>
                </a:lnTo>
                <a:cubicBezTo>
                  <a:pt x="63500" y="84708"/>
                  <a:pt x="58167" y="79375"/>
                  <a:pt x="51594" y="79375"/>
                </a:cubicBezTo>
                <a:lnTo>
                  <a:pt x="47625" y="79375"/>
                </a:lnTo>
                <a:lnTo>
                  <a:pt x="47625" y="71438"/>
                </a:lnTo>
                <a:lnTo>
                  <a:pt x="95250" y="71438"/>
                </a:lnTo>
                <a:lnTo>
                  <a:pt x="95250" y="79375"/>
                </a:lnTo>
                <a:lnTo>
                  <a:pt x="91281" y="79375"/>
                </a:lnTo>
                <a:cubicBezTo>
                  <a:pt x="84708" y="79375"/>
                  <a:pt x="79375" y="84708"/>
                  <a:pt x="79375" y="91281"/>
                </a:cubicBezTo>
                <a:lnTo>
                  <a:pt x="79375" y="107156"/>
                </a:lnTo>
                <a:cubicBezTo>
                  <a:pt x="79375" y="113729"/>
                  <a:pt x="84708" y="119063"/>
                  <a:pt x="91281" y="119063"/>
                </a:cubicBezTo>
                <a:lnTo>
                  <a:pt x="115094" y="119063"/>
                </a:lnTo>
                <a:cubicBezTo>
                  <a:pt x="121667" y="119063"/>
                  <a:pt x="127000" y="113729"/>
                  <a:pt x="127000" y="107156"/>
                </a:cubicBezTo>
                <a:lnTo>
                  <a:pt x="127000" y="91281"/>
                </a:lnTo>
                <a:cubicBezTo>
                  <a:pt x="127000" y="84708"/>
                  <a:pt x="121667" y="79375"/>
                  <a:pt x="115094" y="79375"/>
                </a:cubicBezTo>
                <a:lnTo>
                  <a:pt x="111125" y="79375"/>
                </a:lnTo>
                <a:lnTo>
                  <a:pt x="111125" y="71438"/>
                </a:lnTo>
                <a:lnTo>
                  <a:pt x="134938" y="71438"/>
                </a:lnTo>
                <a:cubicBezTo>
                  <a:pt x="139328" y="71438"/>
                  <a:pt x="142875" y="67890"/>
                  <a:pt x="142875" y="63500"/>
                </a:cubicBezTo>
                <a:cubicBezTo>
                  <a:pt x="142875" y="59110"/>
                  <a:pt x="139328" y="55563"/>
                  <a:pt x="134938" y="55563"/>
                </a:cubicBezTo>
                <a:lnTo>
                  <a:pt x="79375" y="55563"/>
                </a:lnTo>
                <a:lnTo>
                  <a:pt x="79375" y="47625"/>
                </a:lnTo>
                <a:lnTo>
                  <a:pt x="83344" y="47625"/>
                </a:lnTo>
                <a:cubicBezTo>
                  <a:pt x="89917" y="47625"/>
                  <a:pt x="95250" y="42292"/>
                  <a:pt x="95250" y="35719"/>
                </a:cubicBezTo>
                <a:lnTo>
                  <a:pt x="95250" y="19844"/>
                </a:lnTo>
                <a:cubicBezTo>
                  <a:pt x="95250" y="13271"/>
                  <a:pt x="89917" y="7938"/>
                  <a:pt x="83344" y="7938"/>
                </a:cubicBezTo>
                <a:lnTo>
                  <a:pt x="59531" y="7938"/>
                </a:lnTo>
                <a:close/>
                <a:moveTo>
                  <a:pt x="111125" y="93266"/>
                </a:moveTo>
                <a:lnTo>
                  <a:pt x="113109" y="93266"/>
                </a:lnTo>
                <a:lnTo>
                  <a:pt x="113109" y="105172"/>
                </a:lnTo>
                <a:lnTo>
                  <a:pt x="93266" y="105172"/>
                </a:lnTo>
                <a:lnTo>
                  <a:pt x="93266" y="93266"/>
                </a:lnTo>
                <a:lnTo>
                  <a:pt x="111125" y="93266"/>
                </a:lnTo>
                <a:close/>
                <a:moveTo>
                  <a:pt x="47625" y="93266"/>
                </a:moveTo>
                <a:lnTo>
                  <a:pt x="49609" y="93266"/>
                </a:lnTo>
                <a:lnTo>
                  <a:pt x="49609" y="105172"/>
                </a:lnTo>
                <a:lnTo>
                  <a:pt x="29766" y="105172"/>
                </a:lnTo>
                <a:lnTo>
                  <a:pt x="29766" y="93266"/>
                </a:lnTo>
                <a:lnTo>
                  <a:pt x="47625" y="9326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7" name="Text 64"/>
          <p:cNvSpPr/>
          <p:nvPr/>
        </p:nvSpPr>
        <p:spPr>
          <a:xfrm>
            <a:off x="6635750" y="4422676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Architecture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480175" y="4648101"/>
            <a:ext cx="5292725" cy="609600"/>
          </a:xfrm>
          <a:custGeom>
            <a:avLst/>
            <a:gdLst/>
            <a:ahLst/>
            <a:cxnLst/>
            <a:rect l="l" t="t" r="r" b="b"/>
            <a:pathLst>
              <a:path w="5292725" h="609600">
                <a:moveTo>
                  <a:pt x="0" y="0"/>
                </a:moveTo>
                <a:lnTo>
                  <a:pt x="5292725" y="0"/>
                </a:lnTo>
                <a:lnTo>
                  <a:pt x="52927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EFCE8"/>
          </a:solidFill>
          <a:ln w="10160">
            <a:solidFill>
              <a:srgbClr val="FDC7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78600" y="4746524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 behind a load balancer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multiple FastAPI instances across separate machines to overcome the single-machine GIL and process-switching ceiling.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207125" y="6454583"/>
            <a:ext cx="5667375" cy="571500"/>
          </a:xfrm>
          <a:custGeom>
            <a:avLst/>
            <a:gdLst/>
            <a:ahLst/>
            <a:cxnLst/>
            <a:rect l="l" t="t" r="r" b="b"/>
            <a:pathLst>
              <a:path w="5667375" h="571500">
                <a:moveTo>
                  <a:pt x="0" y="0"/>
                </a:moveTo>
                <a:lnTo>
                  <a:pt x="5667375" y="0"/>
                </a:lnTo>
                <a:lnTo>
                  <a:pt x="56673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71" name="Shape 68"/>
          <p:cNvSpPr/>
          <p:nvPr/>
        </p:nvSpPr>
        <p:spPr>
          <a:xfrm>
            <a:off x="6207125" y="645458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72" name="Shape 69"/>
          <p:cNvSpPr/>
          <p:nvPr/>
        </p:nvSpPr>
        <p:spPr>
          <a:xfrm>
            <a:off x="6334125" y="656253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73" name="Text 70"/>
          <p:cNvSpPr/>
          <p:nvPr/>
        </p:nvSpPr>
        <p:spPr>
          <a:xfrm>
            <a:off x="6516688" y="6549833"/>
            <a:ext cx="5326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Important: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Even with optimization, FastAPI cannot match Spring Boot's throughput on identical hardware due to architectural constraints.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0046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 spc="47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 PRODUCTION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797" y="545275"/>
            <a:ext cx="11638205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to Use Each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797" y="920151"/>
            <a:ext cx="545275" cy="17040"/>
          </a:xfrm>
          <a:custGeom>
            <a:avLst/>
            <a:gdLst/>
            <a:ahLst/>
            <a:cxnLst/>
            <a:rect l="l" t="t" r="r" b="b"/>
            <a:pathLst>
              <a:path w="545275" h="17040">
                <a:moveTo>
                  <a:pt x="0" y="0"/>
                </a:moveTo>
                <a:lnTo>
                  <a:pt x="545275" y="0"/>
                </a:lnTo>
                <a:lnTo>
                  <a:pt x="545275" y="17040"/>
                </a:lnTo>
                <a:lnTo>
                  <a:pt x="0" y="170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7613" y="1080325"/>
            <a:ext cx="5636777" cy="933783"/>
          </a:xfrm>
          <a:custGeom>
            <a:avLst/>
            <a:gdLst/>
            <a:ahLst/>
            <a:cxnLst/>
            <a:rect l="l" t="t" r="r" b="b"/>
            <a:pathLst>
              <a:path w="5636777" h="933783">
                <a:moveTo>
                  <a:pt x="0" y="0"/>
                </a:moveTo>
                <a:lnTo>
                  <a:pt x="5636777" y="0"/>
                </a:lnTo>
                <a:lnTo>
                  <a:pt x="5636777" y="933783"/>
                </a:lnTo>
                <a:lnTo>
                  <a:pt x="0" y="933783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20320">
            <a:solidFill>
              <a:srgbClr val="BEDBFF"/>
            </a:solidFill>
            <a:prstDash val="solid"/>
          </a:ln>
        </p:spPr>
      </p:sp>
      <p:pic>
        <p:nvPicPr>
          <p:cNvPr id="6" name="Image 0" descr="https://kimi-web-img.moonshot.cn/img/fastapi.tiangolo.com/6c050aa1a4de6453ac7151188f819708a48db44d.png">    </p:cNvPr>
          <p:cNvPicPr>
            <a:picLocks noChangeAspect="1"/>
          </p:cNvPicPr>
          <p:nvPr/>
        </p:nvPicPr>
        <p:blipFill>
          <a:blip r:embed="rId1"/>
          <a:srcRect l="130" r="130" t="0" b="0"/>
          <a:stretch/>
        </p:blipFill>
        <p:spPr>
          <a:xfrm>
            <a:off x="524827" y="1257536"/>
            <a:ext cx="1320587" cy="477115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951061" y="1257536"/>
            <a:ext cx="2027740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to Use FastAPI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51061" y="1530074"/>
            <a:ext cx="1993660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Appropriate Use Cases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7836" y="2157253"/>
            <a:ext cx="34080" cy="3851002"/>
          </a:xfrm>
          <a:custGeom>
            <a:avLst/>
            <a:gdLst/>
            <a:ahLst/>
            <a:cxnLst/>
            <a:rect l="l" t="t" r="r" b="b"/>
            <a:pathLst>
              <a:path w="34080" h="3851002">
                <a:moveTo>
                  <a:pt x="0" y="0"/>
                </a:moveTo>
                <a:lnTo>
                  <a:pt x="34080" y="0"/>
                </a:lnTo>
                <a:lnTo>
                  <a:pt x="34080" y="3851002"/>
                </a:lnTo>
                <a:lnTo>
                  <a:pt x="0" y="3851002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545275" y="2157253"/>
            <a:ext cx="5452746" cy="886071"/>
          </a:xfrm>
          <a:custGeom>
            <a:avLst/>
            <a:gdLst/>
            <a:ahLst/>
            <a:cxnLst/>
            <a:rect l="l" t="t" r="r" b="b"/>
            <a:pathLst>
              <a:path w="5452746" h="886071">
                <a:moveTo>
                  <a:pt x="0" y="0"/>
                </a:moveTo>
                <a:lnTo>
                  <a:pt x="5452746" y="0"/>
                </a:lnTo>
                <a:lnTo>
                  <a:pt x="545274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647514" y="2259492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724193" y="2327651"/>
            <a:ext cx="119279" cy="136319"/>
          </a:xfrm>
          <a:custGeom>
            <a:avLst/>
            <a:gdLst/>
            <a:ahLst/>
            <a:cxnLst/>
            <a:rect l="l" t="t" r="r" b="b"/>
            <a:pathLst>
              <a:path w="119279" h="136319">
                <a:moveTo>
                  <a:pt x="76679" y="0"/>
                </a:moveTo>
                <a:lnTo>
                  <a:pt x="34080" y="0"/>
                </a:lnTo>
                <a:cubicBezTo>
                  <a:pt x="29367" y="0"/>
                  <a:pt x="25560" y="3807"/>
                  <a:pt x="25560" y="8520"/>
                </a:cubicBezTo>
                <a:cubicBezTo>
                  <a:pt x="25560" y="13232"/>
                  <a:pt x="29367" y="17040"/>
                  <a:pt x="34080" y="17040"/>
                </a:cubicBezTo>
                <a:lnTo>
                  <a:pt x="34080" y="57376"/>
                </a:lnTo>
                <a:lnTo>
                  <a:pt x="1997" y="113501"/>
                </a:lnTo>
                <a:cubicBezTo>
                  <a:pt x="692" y="115818"/>
                  <a:pt x="0" y="118400"/>
                  <a:pt x="0" y="121063"/>
                </a:cubicBezTo>
                <a:cubicBezTo>
                  <a:pt x="0" y="129503"/>
                  <a:pt x="6816" y="136319"/>
                  <a:pt x="15256" y="136319"/>
                </a:cubicBezTo>
                <a:lnTo>
                  <a:pt x="104023" y="136319"/>
                </a:lnTo>
                <a:cubicBezTo>
                  <a:pt x="112436" y="136319"/>
                  <a:pt x="119279" y="129503"/>
                  <a:pt x="119279" y="121063"/>
                </a:cubicBezTo>
                <a:cubicBezTo>
                  <a:pt x="119279" y="118400"/>
                  <a:pt x="118587" y="115791"/>
                  <a:pt x="117282" y="113501"/>
                </a:cubicBezTo>
                <a:lnTo>
                  <a:pt x="85199" y="57376"/>
                </a:lnTo>
                <a:lnTo>
                  <a:pt x="85199" y="17040"/>
                </a:lnTo>
                <a:cubicBezTo>
                  <a:pt x="89912" y="17040"/>
                  <a:pt x="93719" y="13232"/>
                  <a:pt x="93719" y="8520"/>
                </a:cubicBezTo>
                <a:cubicBezTo>
                  <a:pt x="93719" y="3807"/>
                  <a:pt x="89912" y="0"/>
                  <a:pt x="85199" y="0"/>
                </a:cubicBezTo>
                <a:lnTo>
                  <a:pt x="76679" y="0"/>
                </a:lnTo>
                <a:close/>
                <a:moveTo>
                  <a:pt x="51119" y="57376"/>
                </a:moveTo>
                <a:lnTo>
                  <a:pt x="51119" y="17040"/>
                </a:lnTo>
                <a:lnTo>
                  <a:pt x="68159" y="17040"/>
                </a:lnTo>
                <a:lnTo>
                  <a:pt x="68159" y="57376"/>
                </a:lnTo>
                <a:cubicBezTo>
                  <a:pt x="68159" y="60332"/>
                  <a:pt x="68931" y="63260"/>
                  <a:pt x="70396" y="65843"/>
                </a:cubicBezTo>
                <a:lnTo>
                  <a:pt x="81472" y="85199"/>
                </a:lnTo>
                <a:lnTo>
                  <a:pt x="37807" y="85199"/>
                </a:lnTo>
                <a:lnTo>
                  <a:pt x="48883" y="65843"/>
                </a:lnTo>
                <a:cubicBezTo>
                  <a:pt x="50347" y="63260"/>
                  <a:pt x="51119" y="60358"/>
                  <a:pt x="51119" y="573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22390" y="2259492"/>
            <a:ext cx="495007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Rapid Prototyping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22390" y="2498049"/>
            <a:ext cx="4941551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 development cycles, easy experimentation with model variations, quick iteration on inference logic.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5275" y="3145563"/>
            <a:ext cx="5452746" cy="886071"/>
          </a:xfrm>
          <a:custGeom>
            <a:avLst/>
            <a:gdLst/>
            <a:ahLst/>
            <a:cxnLst/>
            <a:rect l="l" t="t" r="r" b="b"/>
            <a:pathLst>
              <a:path w="5452746" h="886071">
                <a:moveTo>
                  <a:pt x="0" y="0"/>
                </a:moveTo>
                <a:lnTo>
                  <a:pt x="5452746" y="0"/>
                </a:lnTo>
                <a:lnTo>
                  <a:pt x="545274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7514" y="3247802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4"/>
          <p:cNvSpPr/>
          <p:nvPr/>
        </p:nvSpPr>
        <p:spPr>
          <a:xfrm>
            <a:off x="707153" y="3315961"/>
            <a:ext cx="153358" cy="136319"/>
          </a:xfrm>
          <a:custGeom>
            <a:avLst/>
            <a:gdLst/>
            <a:ahLst/>
            <a:cxnLst/>
            <a:rect l="l" t="t" r="r" b="b"/>
            <a:pathLst>
              <a:path w="153358" h="136319">
                <a:moveTo>
                  <a:pt x="59666" y="25853"/>
                </a:moveTo>
                <a:lnTo>
                  <a:pt x="59666" y="39058"/>
                </a:lnTo>
                <a:lnTo>
                  <a:pt x="59799" y="39192"/>
                </a:lnTo>
                <a:cubicBezTo>
                  <a:pt x="61530" y="17253"/>
                  <a:pt x="79874" y="0"/>
                  <a:pt x="102266" y="0"/>
                </a:cubicBezTo>
                <a:cubicBezTo>
                  <a:pt x="107617" y="0"/>
                  <a:pt x="112756" y="985"/>
                  <a:pt x="117468" y="2796"/>
                </a:cubicBezTo>
                <a:cubicBezTo>
                  <a:pt x="120131" y="3807"/>
                  <a:pt x="120610" y="7189"/>
                  <a:pt x="118613" y="9212"/>
                </a:cubicBezTo>
                <a:lnTo>
                  <a:pt x="94997" y="32828"/>
                </a:lnTo>
                <a:cubicBezTo>
                  <a:pt x="94198" y="33627"/>
                  <a:pt x="93746" y="34719"/>
                  <a:pt x="93746" y="35837"/>
                </a:cubicBezTo>
                <a:lnTo>
                  <a:pt x="93746" y="46860"/>
                </a:lnTo>
                <a:cubicBezTo>
                  <a:pt x="93746" y="49203"/>
                  <a:pt x="95663" y="51119"/>
                  <a:pt x="98006" y="51119"/>
                </a:cubicBezTo>
                <a:lnTo>
                  <a:pt x="109028" y="51119"/>
                </a:lnTo>
                <a:cubicBezTo>
                  <a:pt x="110147" y="51119"/>
                  <a:pt x="111238" y="50667"/>
                  <a:pt x="112037" y="49868"/>
                </a:cubicBezTo>
                <a:lnTo>
                  <a:pt x="135653" y="26252"/>
                </a:lnTo>
                <a:cubicBezTo>
                  <a:pt x="137677" y="24229"/>
                  <a:pt x="141058" y="24734"/>
                  <a:pt x="142070" y="27397"/>
                </a:cubicBezTo>
                <a:cubicBezTo>
                  <a:pt x="143880" y="32109"/>
                  <a:pt x="144865" y="37248"/>
                  <a:pt x="144865" y="42600"/>
                </a:cubicBezTo>
                <a:cubicBezTo>
                  <a:pt x="144865" y="58734"/>
                  <a:pt x="135893" y="72792"/>
                  <a:pt x="122634" y="80007"/>
                </a:cubicBezTo>
                <a:lnTo>
                  <a:pt x="144333" y="101706"/>
                </a:lnTo>
                <a:cubicBezTo>
                  <a:pt x="149312" y="106685"/>
                  <a:pt x="149312" y="114779"/>
                  <a:pt x="144333" y="119785"/>
                </a:cubicBezTo>
                <a:lnTo>
                  <a:pt x="128331" y="135786"/>
                </a:lnTo>
                <a:cubicBezTo>
                  <a:pt x="123352" y="140765"/>
                  <a:pt x="115258" y="140765"/>
                  <a:pt x="110253" y="135786"/>
                </a:cubicBezTo>
                <a:lnTo>
                  <a:pt x="76706" y="102239"/>
                </a:lnTo>
                <a:cubicBezTo>
                  <a:pt x="69411" y="94944"/>
                  <a:pt x="67760" y="84161"/>
                  <a:pt x="71780" y="75268"/>
                </a:cubicBezTo>
                <a:lnTo>
                  <a:pt x="47632" y="51119"/>
                </a:lnTo>
                <a:lnTo>
                  <a:pt x="34426" y="51119"/>
                </a:lnTo>
                <a:cubicBezTo>
                  <a:pt x="31577" y="51119"/>
                  <a:pt x="28914" y="49708"/>
                  <a:pt x="27344" y="47339"/>
                </a:cubicBezTo>
                <a:lnTo>
                  <a:pt x="6230" y="15682"/>
                </a:lnTo>
                <a:cubicBezTo>
                  <a:pt x="5112" y="14005"/>
                  <a:pt x="5325" y="11742"/>
                  <a:pt x="6763" y="10304"/>
                </a:cubicBezTo>
                <a:lnTo>
                  <a:pt x="18850" y="-1784"/>
                </a:lnTo>
                <a:cubicBezTo>
                  <a:pt x="20288" y="-3222"/>
                  <a:pt x="22525" y="-3435"/>
                  <a:pt x="24229" y="-2316"/>
                </a:cubicBezTo>
                <a:lnTo>
                  <a:pt x="55885" y="18770"/>
                </a:lnTo>
                <a:cubicBezTo>
                  <a:pt x="58255" y="20341"/>
                  <a:pt x="59666" y="23004"/>
                  <a:pt x="59666" y="25853"/>
                </a:cubicBezTo>
                <a:close/>
                <a:moveTo>
                  <a:pt x="57403" y="78969"/>
                </a:moveTo>
                <a:cubicBezTo>
                  <a:pt x="55726" y="88820"/>
                  <a:pt x="58042" y="99230"/>
                  <a:pt x="64432" y="107564"/>
                </a:cubicBezTo>
                <a:lnTo>
                  <a:pt x="39138" y="132831"/>
                </a:lnTo>
                <a:cubicBezTo>
                  <a:pt x="31657" y="140312"/>
                  <a:pt x="19516" y="140312"/>
                  <a:pt x="12034" y="132831"/>
                </a:cubicBezTo>
                <a:cubicBezTo>
                  <a:pt x="4553" y="125349"/>
                  <a:pt x="4553" y="113208"/>
                  <a:pt x="12034" y="105727"/>
                </a:cubicBezTo>
                <a:lnTo>
                  <a:pt x="48084" y="69677"/>
                </a:lnTo>
                <a:lnTo>
                  <a:pt x="57403" y="789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22390" y="3247802"/>
            <a:ext cx="495007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Low-Concurrency Internal Tools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2390" y="3486360"/>
            <a:ext cx="4941551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Internal dashboards, data science notebooks, batch processing tools with &lt; 100 concurrent users.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5275" y="4133873"/>
            <a:ext cx="5452746" cy="886071"/>
          </a:xfrm>
          <a:custGeom>
            <a:avLst/>
            <a:gdLst/>
            <a:ahLst/>
            <a:cxnLst/>
            <a:rect l="l" t="t" r="r" b="b"/>
            <a:pathLst>
              <a:path w="5452746" h="886071">
                <a:moveTo>
                  <a:pt x="0" y="0"/>
                </a:moveTo>
                <a:lnTo>
                  <a:pt x="5452746" y="0"/>
                </a:lnTo>
                <a:lnTo>
                  <a:pt x="545274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8"/>
          <p:cNvSpPr/>
          <p:nvPr/>
        </p:nvSpPr>
        <p:spPr>
          <a:xfrm>
            <a:off x="647514" y="4236112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8633" y="4304272"/>
            <a:ext cx="170398" cy="136319"/>
          </a:xfrm>
          <a:custGeom>
            <a:avLst/>
            <a:gdLst/>
            <a:ahLst/>
            <a:cxnLst/>
            <a:rect l="l" t="t" r="r" b="b"/>
            <a:pathLst>
              <a:path w="170398" h="136319">
                <a:moveTo>
                  <a:pt x="85199" y="4260"/>
                </a:moveTo>
                <a:cubicBezTo>
                  <a:pt x="100482" y="4260"/>
                  <a:pt x="112889" y="16667"/>
                  <a:pt x="112889" y="31950"/>
                </a:cubicBezTo>
                <a:cubicBezTo>
                  <a:pt x="112889" y="47232"/>
                  <a:pt x="100482" y="59639"/>
                  <a:pt x="85199" y="59639"/>
                </a:cubicBezTo>
                <a:cubicBezTo>
                  <a:pt x="69917" y="59639"/>
                  <a:pt x="57509" y="47232"/>
                  <a:pt x="57509" y="31950"/>
                </a:cubicBezTo>
                <a:cubicBezTo>
                  <a:pt x="57509" y="16667"/>
                  <a:pt x="69917" y="4260"/>
                  <a:pt x="85199" y="4260"/>
                </a:cubicBezTo>
                <a:close/>
                <a:moveTo>
                  <a:pt x="25560" y="23430"/>
                </a:moveTo>
                <a:cubicBezTo>
                  <a:pt x="36140" y="23430"/>
                  <a:pt x="44730" y="32019"/>
                  <a:pt x="44730" y="42600"/>
                </a:cubicBezTo>
                <a:cubicBezTo>
                  <a:pt x="44730" y="53180"/>
                  <a:pt x="36140" y="61769"/>
                  <a:pt x="25560" y="61769"/>
                </a:cubicBezTo>
                <a:cubicBezTo>
                  <a:pt x="14980" y="61769"/>
                  <a:pt x="6390" y="53180"/>
                  <a:pt x="6390" y="42600"/>
                </a:cubicBezTo>
                <a:cubicBezTo>
                  <a:pt x="6390" y="32019"/>
                  <a:pt x="14980" y="23430"/>
                  <a:pt x="25560" y="23430"/>
                </a:cubicBezTo>
                <a:close/>
                <a:moveTo>
                  <a:pt x="0" y="110759"/>
                </a:moveTo>
                <a:cubicBezTo>
                  <a:pt x="0" y="91935"/>
                  <a:pt x="15256" y="76679"/>
                  <a:pt x="34080" y="76679"/>
                </a:cubicBezTo>
                <a:cubicBezTo>
                  <a:pt x="37488" y="76679"/>
                  <a:pt x="40789" y="77185"/>
                  <a:pt x="43904" y="78117"/>
                </a:cubicBezTo>
                <a:cubicBezTo>
                  <a:pt x="35145" y="87915"/>
                  <a:pt x="29820" y="100855"/>
                  <a:pt x="29820" y="115019"/>
                </a:cubicBezTo>
                <a:lnTo>
                  <a:pt x="29820" y="119279"/>
                </a:lnTo>
                <a:cubicBezTo>
                  <a:pt x="29820" y="122314"/>
                  <a:pt x="30459" y="125190"/>
                  <a:pt x="31604" y="127799"/>
                </a:cubicBezTo>
                <a:lnTo>
                  <a:pt x="8520" y="127799"/>
                </a:lnTo>
                <a:cubicBezTo>
                  <a:pt x="3807" y="127799"/>
                  <a:pt x="0" y="123991"/>
                  <a:pt x="0" y="119279"/>
                </a:cubicBezTo>
                <a:lnTo>
                  <a:pt x="0" y="110759"/>
                </a:lnTo>
                <a:close/>
                <a:moveTo>
                  <a:pt x="138795" y="127799"/>
                </a:moveTo>
                <a:cubicBezTo>
                  <a:pt x="139940" y="125190"/>
                  <a:pt x="140579" y="122314"/>
                  <a:pt x="140579" y="119279"/>
                </a:cubicBezTo>
                <a:lnTo>
                  <a:pt x="140579" y="115019"/>
                </a:lnTo>
                <a:cubicBezTo>
                  <a:pt x="140579" y="100855"/>
                  <a:pt x="135254" y="87915"/>
                  <a:pt x="126494" y="78117"/>
                </a:cubicBezTo>
                <a:cubicBezTo>
                  <a:pt x="129609" y="77185"/>
                  <a:pt x="132911" y="76679"/>
                  <a:pt x="136319" y="76679"/>
                </a:cubicBezTo>
                <a:cubicBezTo>
                  <a:pt x="155142" y="76679"/>
                  <a:pt x="170398" y="91935"/>
                  <a:pt x="170398" y="110759"/>
                </a:cubicBezTo>
                <a:lnTo>
                  <a:pt x="170398" y="119279"/>
                </a:lnTo>
                <a:cubicBezTo>
                  <a:pt x="170398" y="123991"/>
                  <a:pt x="166591" y="127799"/>
                  <a:pt x="161878" y="127799"/>
                </a:cubicBezTo>
                <a:lnTo>
                  <a:pt x="138795" y="127799"/>
                </a:lnTo>
                <a:close/>
                <a:moveTo>
                  <a:pt x="125669" y="42600"/>
                </a:moveTo>
                <a:cubicBezTo>
                  <a:pt x="125669" y="32019"/>
                  <a:pt x="134258" y="23430"/>
                  <a:pt x="144839" y="23430"/>
                </a:cubicBezTo>
                <a:cubicBezTo>
                  <a:pt x="155419" y="23430"/>
                  <a:pt x="164008" y="32019"/>
                  <a:pt x="164008" y="42600"/>
                </a:cubicBezTo>
                <a:cubicBezTo>
                  <a:pt x="164008" y="53180"/>
                  <a:pt x="155419" y="61769"/>
                  <a:pt x="144839" y="61769"/>
                </a:cubicBezTo>
                <a:cubicBezTo>
                  <a:pt x="134258" y="61769"/>
                  <a:pt x="125669" y="53180"/>
                  <a:pt x="125669" y="42600"/>
                </a:cubicBezTo>
                <a:close/>
                <a:moveTo>
                  <a:pt x="42600" y="115019"/>
                </a:moveTo>
                <a:cubicBezTo>
                  <a:pt x="42600" y="91483"/>
                  <a:pt x="61663" y="72419"/>
                  <a:pt x="85199" y="72419"/>
                </a:cubicBezTo>
                <a:cubicBezTo>
                  <a:pt x="108735" y="72419"/>
                  <a:pt x="127799" y="91483"/>
                  <a:pt x="127799" y="115019"/>
                </a:cubicBezTo>
                <a:lnTo>
                  <a:pt x="127799" y="119279"/>
                </a:lnTo>
                <a:cubicBezTo>
                  <a:pt x="127799" y="123991"/>
                  <a:pt x="123991" y="127799"/>
                  <a:pt x="119279" y="127799"/>
                </a:cubicBezTo>
                <a:lnTo>
                  <a:pt x="51119" y="127799"/>
                </a:lnTo>
                <a:cubicBezTo>
                  <a:pt x="46407" y="127799"/>
                  <a:pt x="42600" y="123991"/>
                  <a:pt x="42600" y="119279"/>
                </a:cubicBezTo>
                <a:lnTo>
                  <a:pt x="42600" y="1150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1022390" y="4236112"/>
            <a:ext cx="495007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Python-Only Teams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22390" y="4474670"/>
            <a:ext cx="4941551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Teams with Python ML expertise and no Java resources. Avoids context switching and training costs.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5275" y="5122184"/>
            <a:ext cx="5452746" cy="886071"/>
          </a:xfrm>
          <a:custGeom>
            <a:avLst/>
            <a:gdLst/>
            <a:ahLst/>
            <a:cxnLst/>
            <a:rect l="l" t="t" r="r" b="b"/>
            <a:pathLst>
              <a:path w="5452746" h="886071">
                <a:moveTo>
                  <a:pt x="0" y="0"/>
                </a:moveTo>
                <a:lnTo>
                  <a:pt x="5452746" y="0"/>
                </a:lnTo>
                <a:lnTo>
                  <a:pt x="545274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47514" y="5224423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673" y="5292582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0"/>
                </a:moveTo>
                <a:cubicBezTo>
                  <a:pt x="105777" y="0"/>
                  <a:pt x="136319" y="30541"/>
                  <a:pt x="136319" y="68159"/>
                </a:cubicBezTo>
                <a:cubicBezTo>
                  <a:pt x="136319" y="105777"/>
                  <a:pt x="105777" y="136319"/>
                  <a:pt x="68159" y="136319"/>
                </a:cubicBezTo>
                <a:cubicBezTo>
                  <a:pt x="30541" y="136319"/>
                  <a:pt x="0" y="105777"/>
                  <a:pt x="0" y="68159"/>
                </a:cubicBezTo>
                <a:cubicBezTo>
                  <a:pt x="0" y="30541"/>
                  <a:pt x="30541" y="0"/>
                  <a:pt x="68159" y="0"/>
                </a:cubicBezTo>
                <a:close/>
                <a:moveTo>
                  <a:pt x="61769" y="31950"/>
                </a:moveTo>
                <a:lnTo>
                  <a:pt x="61769" y="68159"/>
                </a:lnTo>
                <a:cubicBezTo>
                  <a:pt x="61769" y="70289"/>
                  <a:pt x="62834" y="72286"/>
                  <a:pt x="64618" y="73484"/>
                </a:cubicBezTo>
                <a:lnTo>
                  <a:pt x="90178" y="90524"/>
                </a:lnTo>
                <a:cubicBezTo>
                  <a:pt x="93107" y="92494"/>
                  <a:pt x="97074" y="91696"/>
                  <a:pt x="99044" y="88740"/>
                </a:cubicBezTo>
                <a:cubicBezTo>
                  <a:pt x="101014" y="85785"/>
                  <a:pt x="100216" y="81844"/>
                  <a:pt x="97260" y="79874"/>
                </a:cubicBezTo>
                <a:lnTo>
                  <a:pt x="74549" y="64751"/>
                </a:lnTo>
                <a:lnTo>
                  <a:pt x="74549" y="31950"/>
                </a:lnTo>
                <a:cubicBezTo>
                  <a:pt x="74549" y="28409"/>
                  <a:pt x="71700" y="25560"/>
                  <a:pt x="68159" y="25560"/>
                </a:cubicBezTo>
                <a:cubicBezTo>
                  <a:pt x="64618" y="25560"/>
                  <a:pt x="61769" y="28409"/>
                  <a:pt x="61769" y="319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022390" y="5224423"/>
            <a:ext cx="495007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Iteration Speed Priority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22390" y="5462980"/>
            <a:ext cx="4941551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model iteration speed matters more than serving performance. Research environments, MVP development.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98665" y="1073509"/>
            <a:ext cx="5657224" cy="920151"/>
          </a:xfrm>
          <a:custGeom>
            <a:avLst/>
            <a:gdLst/>
            <a:ahLst/>
            <a:cxnLst/>
            <a:rect l="l" t="t" r="r" b="b"/>
            <a:pathLst>
              <a:path w="5657224" h="920151">
                <a:moveTo>
                  <a:pt x="0" y="0"/>
                </a:moveTo>
                <a:lnTo>
                  <a:pt x="5657224" y="0"/>
                </a:lnTo>
                <a:lnTo>
                  <a:pt x="5657224" y="920151"/>
                </a:lnTo>
                <a:lnTo>
                  <a:pt x="0" y="92015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8"/>
          <p:cNvSpPr/>
          <p:nvPr/>
        </p:nvSpPr>
        <p:spPr>
          <a:xfrm>
            <a:off x="6369063" y="1243908"/>
            <a:ext cx="477115" cy="477115"/>
          </a:xfrm>
          <a:custGeom>
            <a:avLst/>
            <a:gdLst/>
            <a:ahLst/>
            <a:cxnLst/>
            <a:rect l="l" t="t" r="r" b="b"/>
            <a:pathLst>
              <a:path w="477115" h="477115">
                <a:moveTo>
                  <a:pt x="34080" y="0"/>
                </a:moveTo>
                <a:lnTo>
                  <a:pt x="443035" y="0"/>
                </a:lnTo>
                <a:cubicBezTo>
                  <a:pt x="461857" y="0"/>
                  <a:pt x="477115" y="15258"/>
                  <a:pt x="477115" y="34080"/>
                </a:cubicBezTo>
                <a:lnTo>
                  <a:pt x="477115" y="443035"/>
                </a:lnTo>
                <a:cubicBezTo>
                  <a:pt x="477115" y="461857"/>
                  <a:pt x="461857" y="477115"/>
                  <a:pt x="443035" y="477115"/>
                </a:cubicBezTo>
                <a:lnTo>
                  <a:pt x="34080" y="477115"/>
                </a:lnTo>
                <a:cubicBezTo>
                  <a:pt x="15258" y="477115"/>
                  <a:pt x="0" y="461857"/>
                  <a:pt x="0" y="443035"/>
                </a:cubicBezTo>
                <a:lnTo>
                  <a:pt x="0" y="34080"/>
                </a:lnTo>
                <a:cubicBezTo>
                  <a:pt x="0" y="15258"/>
                  <a:pt x="15258" y="0"/>
                  <a:pt x="3408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481952" y="1354667"/>
            <a:ext cx="255597" cy="255597"/>
          </a:xfrm>
          <a:custGeom>
            <a:avLst/>
            <a:gdLst/>
            <a:ahLst/>
            <a:cxnLst/>
            <a:rect l="l" t="t" r="r" b="b"/>
            <a:pathLst>
              <a:path w="255597" h="255597">
                <a:moveTo>
                  <a:pt x="235279" y="3345"/>
                </a:moveTo>
                <a:cubicBezTo>
                  <a:pt x="238474" y="300"/>
                  <a:pt x="243117" y="-799"/>
                  <a:pt x="247410" y="599"/>
                </a:cubicBezTo>
                <a:cubicBezTo>
                  <a:pt x="252303" y="2246"/>
                  <a:pt x="255597" y="6839"/>
                  <a:pt x="255597" y="11981"/>
                </a:cubicBezTo>
                <a:lnTo>
                  <a:pt x="255597" y="105284"/>
                </a:lnTo>
                <a:cubicBezTo>
                  <a:pt x="255597" y="170781"/>
                  <a:pt x="201632" y="223648"/>
                  <a:pt x="136385" y="223648"/>
                </a:cubicBezTo>
                <a:cubicBezTo>
                  <a:pt x="97946" y="223648"/>
                  <a:pt x="64798" y="198937"/>
                  <a:pt x="52767" y="164391"/>
                </a:cubicBezTo>
                <a:cubicBezTo>
                  <a:pt x="35095" y="179767"/>
                  <a:pt x="23962" y="202381"/>
                  <a:pt x="23962" y="227642"/>
                </a:cubicBezTo>
                <a:cubicBezTo>
                  <a:pt x="23962" y="234281"/>
                  <a:pt x="18621" y="239623"/>
                  <a:pt x="11981" y="239623"/>
                </a:cubicBezTo>
                <a:cubicBezTo>
                  <a:pt x="5342" y="239623"/>
                  <a:pt x="0" y="234281"/>
                  <a:pt x="0" y="227642"/>
                </a:cubicBezTo>
                <a:cubicBezTo>
                  <a:pt x="0" y="190250"/>
                  <a:pt x="19070" y="157302"/>
                  <a:pt x="47974" y="137933"/>
                </a:cubicBezTo>
                <a:cubicBezTo>
                  <a:pt x="65597" y="126151"/>
                  <a:pt x="86614" y="119811"/>
                  <a:pt x="107830" y="119811"/>
                </a:cubicBezTo>
                <a:lnTo>
                  <a:pt x="147767" y="119811"/>
                </a:lnTo>
                <a:cubicBezTo>
                  <a:pt x="154407" y="119811"/>
                  <a:pt x="159748" y="114470"/>
                  <a:pt x="159748" y="107830"/>
                </a:cubicBezTo>
                <a:cubicBezTo>
                  <a:pt x="159748" y="101191"/>
                  <a:pt x="154407" y="95849"/>
                  <a:pt x="147767" y="95849"/>
                </a:cubicBezTo>
                <a:lnTo>
                  <a:pt x="107830" y="95849"/>
                </a:lnTo>
                <a:cubicBezTo>
                  <a:pt x="88011" y="95849"/>
                  <a:pt x="69241" y="100242"/>
                  <a:pt x="52417" y="108080"/>
                </a:cubicBezTo>
                <a:cubicBezTo>
                  <a:pt x="64049" y="73135"/>
                  <a:pt x="96947" y="47925"/>
                  <a:pt x="135786" y="47925"/>
                </a:cubicBezTo>
                <a:cubicBezTo>
                  <a:pt x="168934" y="47925"/>
                  <a:pt x="193595" y="36892"/>
                  <a:pt x="210019" y="25959"/>
                </a:cubicBezTo>
                <a:cubicBezTo>
                  <a:pt x="219604" y="19569"/>
                  <a:pt x="227741" y="11931"/>
                  <a:pt x="235329" y="33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948418" y="1243908"/>
            <a:ext cx="2377057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When to Use Spring Boot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48418" y="1516445"/>
            <a:ext cx="234297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Recommended for Production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15705" y="2129979"/>
            <a:ext cx="34080" cy="3876562"/>
          </a:xfrm>
          <a:custGeom>
            <a:avLst/>
            <a:gdLst/>
            <a:ahLst/>
            <a:cxnLst/>
            <a:rect l="l" t="t" r="r" b="b"/>
            <a:pathLst>
              <a:path w="34080" h="3876562">
                <a:moveTo>
                  <a:pt x="0" y="0"/>
                </a:moveTo>
                <a:lnTo>
                  <a:pt x="34080" y="0"/>
                </a:lnTo>
                <a:lnTo>
                  <a:pt x="34080" y="3876562"/>
                </a:lnTo>
                <a:lnTo>
                  <a:pt x="0" y="38765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6420183" y="2129979"/>
            <a:ext cx="5435706" cy="886071"/>
          </a:xfrm>
          <a:custGeom>
            <a:avLst/>
            <a:gdLst/>
            <a:ahLst/>
            <a:cxnLst/>
            <a:rect l="l" t="t" r="r" b="b"/>
            <a:pathLst>
              <a:path w="5435706" h="886071">
                <a:moveTo>
                  <a:pt x="0" y="0"/>
                </a:moveTo>
                <a:lnTo>
                  <a:pt x="5435706" y="0"/>
                </a:lnTo>
                <a:lnTo>
                  <a:pt x="543570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7" name="Shape 34"/>
          <p:cNvSpPr/>
          <p:nvPr/>
        </p:nvSpPr>
        <p:spPr>
          <a:xfrm>
            <a:off x="6420183" y="2129979"/>
            <a:ext cx="34080" cy="886071"/>
          </a:xfrm>
          <a:custGeom>
            <a:avLst/>
            <a:gdLst/>
            <a:ahLst/>
            <a:cxnLst/>
            <a:rect l="l" t="t" r="r" b="b"/>
            <a:pathLst>
              <a:path w="34080" h="886071">
                <a:moveTo>
                  <a:pt x="0" y="0"/>
                </a:moveTo>
                <a:lnTo>
                  <a:pt x="34080" y="0"/>
                </a:lnTo>
                <a:lnTo>
                  <a:pt x="34080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8" name="Shape 35"/>
          <p:cNvSpPr/>
          <p:nvPr/>
        </p:nvSpPr>
        <p:spPr>
          <a:xfrm>
            <a:off x="6539462" y="2232218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6607621" y="2300377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040" y="17040"/>
                </a:moveTo>
                <a:cubicBezTo>
                  <a:pt x="17040" y="12327"/>
                  <a:pt x="13232" y="8520"/>
                  <a:pt x="8520" y="8520"/>
                </a:cubicBezTo>
                <a:cubicBezTo>
                  <a:pt x="3807" y="8520"/>
                  <a:pt x="0" y="12327"/>
                  <a:pt x="0" y="17040"/>
                </a:cubicBezTo>
                <a:lnTo>
                  <a:pt x="0" y="106499"/>
                </a:lnTo>
                <a:cubicBezTo>
                  <a:pt x="0" y="118267"/>
                  <a:pt x="9532" y="127799"/>
                  <a:pt x="21300" y="127799"/>
                </a:cubicBezTo>
                <a:lnTo>
                  <a:pt x="127799" y="127799"/>
                </a:lnTo>
                <a:cubicBezTo>
                  <a:pt x="132511" y="127799"/>
                  <a:pt x="136319" y="123991"/>
                  <a:pt x="136319" y="119279"/>
                </a:cubicBezTo>
                <a:cubicBezTo>
                  <a:pt x="136319" y="114566"/>
                  <a:pt x="132511" y="110759"/>
                  <a:pt x="127799" y="110759"/>
                </a:cubicBezTo>
                <a:lnTo>
                  <a:pt x="21300" y="110759"/>
                </a:lnTo>
                <a:cubicBezTo>
                  <a:pt x="18957" y="110759"/>
                  <a:pt x="17040" y="108842"/>
                  <a:pt x="17040" y="106499"/>
                </a:cubicBezTo>
                <a:lnTo>
                  <a:pt x="17040" y="17040"/>
                </a:lnTo>
                <a:close/>
                <a:moveTo>
                  <a:pt x="125296" y="40097"/>
                </a:moveTo>
                <a:cubicBezTo>
                  <a:pt x="128624" y="36769"/>
                  <a:pt x="128624" y="31364"/>
                  <a:pt x="125296" y="28036"/>
                </a:cubicBezTo>
                <a:cubicBezTo>
                  <a:pt x="121968" y="24708"/>
                  <a:pt x="116563" y="24708"/>
                  <a:pt x="113235" y="28036"/>
                </a:cubicBezTo>
                <a:lnTo>
                  <a:pt x="85199" y="56098"/>
                </a:lnTo>
                <a:lnTo>
                  <a:pt x="69917" y="40842"/>
                </a:lnTo>
                <a:cubicBezTo>
                  <a:pt x="66588" y="37514"/>
                  <a:pt x="61184" y="37514"/>
                  <a:pt x="57856" y="40842"/>
                </a:cubicBezTo>
                <a:lnTo>
                  <a:pt x="32296" y="66402"/>
                </a:lnTo>
                <a:cubicBezTo>
                  <a:pt x="28968" y="69730"/>
                  <a:pt x="28968" y="75135"/>
                  <a:pt x="32296" y="78463"/>
                </a:cubicBezTo>
                <a:cubicBezTo>
                  <a:pt x="35624" y="81791"/>
                  <a:pt x="41029" y="81791"/>
                  <a:pt x="44357" y="78463"/>
                </a:cubicBezTo>
                <a:lnTo>
                  <a:pt x="63899" y="58921"/>
                </a:lnTo>
                <a:lnTo>
                  <a:pt x="79182" y="74203"/>
                </a:lnTo>
                <a:cubicBezTo>
                  <a:pt x="82510" y="77531"/>
                  <a:pt x="87915" y="77531"/>
                  <a:pt x="91243" y="74203"/>
                </a:cubicBezTo>
                <a:lnTo>
                  <a:pt x="125323" y="401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6914338" y="2232218"/>
            <a:ext cx="4915992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 Financial Trading Systems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914338" y="2470776"/>
            <a:ext cx="4907472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Loan/CLO trading platforms requiring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SLA guarantees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Low-latency inference directly impacts trade execution and profitability.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20183" y="3118289"/>
            <a:ext cx="5435706" cy="886071"/>
          </a:xfrm>
          <a:custGeom>
            <a:avLst/>
            <a:gdLst/>
            <a:ahLst/>
            <a:cxnLst/>
            <a:rect l="l" t="t" r="r" b="b"/>
            <a:pathLst>
              <a:path w="5435706" h="886071">
                <a:moveTo>
                  <a:pt x="0" y="0"/>
                </a:moveTo>
                <a:lnTo>
                  <a:pt x="5435706" y="0"/>
                </a:lnTo>
                <a:lnTo>
                  <a:pt x="543570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3" name="Shape 40"/>
          <p:cNvSpPr/>
          <p:nvPr/>
        </p:nvSpPr>
        <p:spPr>
          <a:xfrm>
            <a:off x="6420183" y="3118289"/>
            <a:ext cx="34080" cy="886071"/>
          </a:xfrm>
          <a:custGeom>
            <a:avLst/>
            <a:gdLst/>
            <a:ahLst/>
            <a:cxnLst/>
            <a:rect l="l" t="t" r="r" b="b"/>
            <a:pathLst>
              <a:path w="34080" h="886071">
                <a:moveTo>
                  <a:pt x="0" y="0"/>
                </a:moveTo>
                <a:lnTo>
                  <a:pt x="34080" y="0"/>
                </a:lnTo>
                <a:lnTo>
                  <a:pt x="34080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4" name="Shape 41"/>
          <p:cNvSpPr/>
          <p:nvPr/>
        </p:nvSpPr>
        <p:spPr>
          <a:xfrm>
            <a:off x="6539462" y="3220528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42"/>
          <p:cNvSpPr/>
          <p:nvPr/>
        </p:nvSpPr>
        <p:spPr>
          <a:xfrm>
            <a:off x="6590581" y="3288688"/>
            <a:ext cx="170398" cy="136319"/>
          </a:xfrm>
          <a:custGeom>
            <a:avLst/>
            <a:gdLst/>
            <a:ahLst/>
            <a:cxnLst/>
            <a:rect l="l" t="t" r="r" b="b"/>
            <a:pathLst>
              <a:path w="170398" h="136319">
                <a:moveTo>
                  <a:pt x="85199" y="59639"/>
                </a:moveTo>
                <a:cubicBezTo>
                  <a:pt x="100482" y="59639"/>
                  <a:pt x="112889" y="47232"/>
                  <a:pt x="112889" y="31950"/>
                </a:cubicBezTo>
                <a:cubicBezTo>
                  <a:pt x="112889" y="16667"/>
                  <a:pt x="100482" y="4260"/>
                  <a:pt x="85199" y="4260"/>
                </a:cubicBezTo>
                <a:cubicBezTo>
                  <a:pt x="69917" y="4260"/>
                  <a:pt x="57509" y="16667"/>
                  <a:pt x="57509" y="31950"/>
                </a:cubicBezTo>
                <a:cubicBezTo>
                  <a:pt x="57509" y="47232"/>
                  <a:pt x="69917" y="59639"/>
                  <a:pt x="85199" y="59639"/>
                </a:cubicBezTo>
                <a:close/>
                <a:moveTo>
                  <a:pt x="25560" y="61769"/>
                </a:moveTo>
                <a:cubicBezTo>
                  <a:pt x="36140" y="61769"/>
                  <a:pt x="44730" y="53180"/>
                  <a:pt x="44730" y="42600"/>
                </a:cubicBezTo>
                <a:cubicBezTo>
                  <a:pt x="44730" y="32019"/>
                  <a:pt x="36140" y="23430"/>
                  <a:pt x="25560" y="23430"/>
                </a:cubicBezTo>
                <a:cubicBezTo>
                  <a:pt x="14980" y="23430"/>
                  <a:pt x="6390" y="32019"/>
                  <a:pt x="6390" y="42600"/>
                </a:cubicBezTo>
                <a:cubicBezTo>
                  <a:pt x="6390" y="53180"/>
                  <a:pt x="14980" y="61769"/>
                  <a:pt x="25560" y="61769"/>
                </a:cubicBezTo>
                <a:close/>
                <a:moveTo>
                  <a:pt x="0" y="110759"/>
                </a:moveTo>
                <a:lnTo>
                  <a:pt x="0" y="119279"/>
                </a:lnTo>
                <a:cubicBezTo>
                  <a:pt x="0" y="123991"/>
                  <a:pt x="3807" y="127799"/>
                  <a:pt x="8520" y="127799"/>
                </a:cubicBezTo>
                <a:lnTo>
                  <a:pt x="31604" y="127799"/>
                </a:lnTo>
                <a:cubicBezTo>
                  <a:pt x="30459" y="125190"/>
                  <a:pt x="29820" y="122314"/>
                  <a:pt x="29820" y="119279"/>
                </a:cubicBezTo>
                <a:lnTo>
                  <a:pt x="29820" y="115019"/>
                </a:lnTo>
                <a:cubicBezTo>
                  <a:pt x="29820" y="100855"/>
                  <a:pt x="35145" y="87915"/>
                  <a:pt x="43904" y="78117"/>
                </a:cubicBezTo>
                <a:cubicBezTo>
                  <a:pt x="40789" y="77185"/>
                  <a:pt x="37488" y="76679"/>
                  <a:pt x="34080" y="76679"/>
                </a:cubicBezTo>
                <a:cubicBezTo>
                  <a:pt x="15256" y="76679"/>
                  <a:pt x="0" y="91935"/>
                  <a:pt x="0" y="110759"/>
                </a:cubicBezTo>
                <a:close/>
                <a:moveTo>
                  <a:pt x="164008" y="42600"/>
                </a:moveTo>
                <a:cubicBezTo>
                  <a:pt x="164008" y="32019"/>
                  <a:pt x="155419" y="23430"/>
                  <a:pt x="144839" y="23430"/>
                </a:cubicBezTo>
                <a:cubicBezTo>
                  <a:pt x="134258" y="23430"/>
                  <a:pt x="125669" y="32019"/>
                  <a:pt x="125669" y="42600"/>
                </a:cubicBezTo>
                <a:cubicBezTo>
                  <a:pt x="125669" y="53180"/>
                  <a:pt x="134258" y="61769"/>
                  <a:pt x="144839" y="61769"/>
                </a:cubicBezTo>
                <a:cubicBezTo>
                  <a:pt x="155419" y="61769"/>
                  <a:pt x="164008" y="53180"/>
                  <a:pt x="164008" y="42600"/>
                </a:cubicBezTo>
                <a:close/>
                <a:moveTo>
                  <a:pt x="42600" y="115019"/>
                </a:moveTo>
                <a:lnTo>
                  <a:pt x="42600" y="119279"/>
                </a:lnTo>
                <a:cubicBezTo>
                  <a:pt x="42600" y="123991"/>
                  <a:pt x="46407" y="127799"/>
                  <a:pt x="51119" y="127799"/>
                </a:cubicBezTo>
                <a:lnTo>
                  <a:pt x="92867" y="127799"/>
                </a:lnTo>
                <a:cubicBezTo>
                  <a:pt x="90977" y="122048"/>
                  <a:pt x="91190" y="115977"/>
                  <a:pt x="95716" y="110759"/>
                </a:cubicBezTo>
                <a:cubicBezTo>
                  <a:pt x="91988" y="106446"/>
                  <a:pt x="90258" y="100189"/>
                  <a:pt x="92681" y="93905"/>
                </a:cubicBezTo>
                <a:cubicBezTo>
                  <a:pt x="94438" y="89353"/>
                  <a:pt x="96914" y="85093"/>
                  <a:pt x="99976" y="81312"/>
                </a:cubicBezTo>
                <a:cubicBezTo>
                  <a:pt x="101414" y="79555"/>
                  <a:pt x="103064" y="78197"/>
                  <a:pt x="104848" y="77212"/>
                </a:cubicBezTo>
                <a:cubicBezTo>
                  <a:pt x="98964" y="74150"/>
                  <a:pt x="92281" y="72419"/>
                  <a:pt x="85199" y="72419"/>
                </a:cubicBezTo>
                <a:cubicBezTo>
                  <a:pt x="61663" y="72419"/>
                  <a:pt x="42600" y="91483"/>
                  <a:pt x="42600" y="115019"/>
                </a:cubicBezTo>
                <a:close/>
                <a:moveTo>
                  <a:pt x="166298" y="103277"/>
                </a:moveTo>
                <a:cubicBezTo>
                  <a:pt x="167975" y="102319"/>
                  <a:pt x="168827" y="100322"/>
                  <a:pt x="168109" y="98485"/>
                </a:cubicBezTo>
                <a:cubicBezTo>
                  <a:pt x="166831" y="95183"/>
                  <a:pt x="165047" y="92068"/>
                  <a:pt x="162810" y="89326"/>
                </a:cubicBezTo>
                <a:cubicBezTo>
                  <a:pt x="161586" y="87808"/>
                  <a:pt x="159429" y="87542"/>
                  <a:pt x="157752" y="88527"/>
                </a:cubicBezTo>
                <a:cubicBezTo>
                  <a:pt x="151947" y="91882"/>
                  <a:pt x="144812" y="87782"/>
                  <a:pt x="144812" y="81046"/>
                </a:cubicBezTo>
                <a:cubicBezTo>
                  <a:pt x="144812" y="79102"/>
                  <a:pt x="143507" y="77371"/>
                  <a:pt x="141590" y="77079"/>
                </a:cubicBezTo>
                <a:cubicBezTo>
                  <a:pt x="138156" y="76546"/>
                  <a:pt x="134455" y="76546"/>
                  <a:pt x="131020" y="77079"/>
                </a:cubicBezTo>
                <a:cubicBezTo>
                  <a:pt x="129103" y="77371"/>
                  <a:pt x="127799" y="79102"/>
                  <a:pt x="127799" y="81046"/>
                </a:cubicBezTo>
                <a:cubicBezTo>
                  <a:pt x="127799" y="87755"/>
                  <a:pt x="120663" y="91882"/>
                  <a:pt x="114859" y="88527"/>
                </a:cubicBezTo>
                <a:cubicBezTo>
                  <a:pt x="113182" y="87569"/>
                  <a:pt x="111025" y="87835"/>
                  <a:pt x="109800" y="89326"/>
                </a:cubicBezTo>
                <a:cubicBezTo>
                  <a:pt x="107564" y="92068"/>
                  <a:pt x="105780" y="95183"/>
                  <a:pt x="104502" y="98485"/>
                </a:cubicBezTo>
                <a:cubicBezTo>
                  <a:pt x="103810" y="100295"/>
                  <a:pt x="104635" y="102292"/>
                  <a:pt x="106313" y="103251"/>
                </a:cubicBezTo>
                <a:cubicBezTo>
                  <a:pt x="112143" y="106605"/>
                  <a:pt x="112143" y="114832"/>
                  <a:pt x="106313" y="118214"/>
                </a:cubicBezTo>
                <a:cubicBezTo>
                  <a:pt x="104635" y="119172"/>
                  <a:pt x="103783" y="121169"/>
                  <a:pt x="104502" y="122980"/>
                </a:cubicBezTo>
                <a:cubicBezTo>
                  <a:pt x="105780" y="126281"/>
                  <a:pt x="107564" y="129396"/>
                  <a:pt x="109800" y="132139"/>
                </a:cubicBezTo>
                <a:cubicBezTo>
                  <a:pt x="111025" y="133656"/>
                  <a:pt x="113182" y="133922"/>
                  <a:pt x="114859" y="132937"/>
                </a:cubicBezTo>
                <a:cubicBezTo>
                  <a:pt x="120663" y="129583"/>
                  <a:pt x="127799" y="133709"/>
                  <a:pt x="127799" y="140419"/>
                </a:cubicBezTo>
                <a:cubicBezTo>
                  <a:pt x="127799" y="142362"/>
                  <a:pt x="129103" y="144093"/>
                  <a:pt x="131020" y="144386"/>
                </a:cubicBezTo>
                <a:cubicBezTo>
                  <a:pt x="134455" y="144918"/>
                  <a:pt x="138156" y="144918"/>
                  <a:pt x="141590" y="144386"/>
                </a:cubicBezTo>
                <a:cubicBezTo>
                  <a:pt x="143507" y="144093"/>
                  <a:pt x="144812" y="142362"/>
                  <a:pt x="144812" y="140419"/>
                </a:cubicBezTo>
                <a:cubicBezTo>
                  <a:pt x="144812" y="133709"/>
                  <a:pt x="151947" y="129583"/>
                  <a:pt x="157752" y="132937"/>
                </a:cubicBezTo>
                <a:cubicBezTo>
                  <a:pt x="159429" y="133896"/>
                  <a:pt x="161586" y="133630"/>
                  <a:pt x="162810" y="132139"/>
                </a:cubicBezTo>
                <a:cubicBezTo>
                  <a:pt x="165047" y="129396"/>
                  <a:pt x="166831" y="126281"/>
                  <a:pt x="168109" y="122980"/>
                </a:cubicBezTo>
                <a:cubicBezTo>
                  <a:pt x="168801" y="121169"/>
                  <a:pt x="167975" y="119172"/>
                  <a:pt x="166298" y="118214"/>
                </a:cubicBezTo>
                <a:cubicBezTo>
                  <a:pt x="160467" y="114859"/>
                  <a:pt x="160467" y="106632"/>
                  <a:pt x="166298" y="103251"/>
                </a:cubicBezTo>
                <a:close/>
                <a:moveTo>
                  <a:pt x="125669" y="110759"/>
                </a:moveTo>
                <a:cubicBezTo>
                  <a:pt x="125669" y="104881"/>
                  <a:pt x="130441" y="100109"/>
                  <a:pt x="136319" y="100109"/>
                </a:cubicBezTo>
                <a:cubicBezTo>
                  <a:pt x="142196" y="100109"/>
                  <a:pt x="146969" y="104881"/>
                  <a:pt x="146969" y="110759"/>
                </a:cubicBezTo>
                <a:cubicBezTo>
                  <a:pt x="146969" y="116637"/>
                  <a:pt x="142196" y="121409"/>
                  <a:pt x="136319" y="121409"/>
                </a:cubicBezTo>
                <a:cubicBezTo>
                  <a:pt x="130441" y="121409"/>
                  <a:pt x="125669" y="116637"/>
                  <a:pt x="125669" y="1107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6914338" y="3220528"/>
            <a:ext cx="4915992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High-Concurrency Customer-Facing APIs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14338" y="3459086"/>
            <a:ext cx="4907472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APIs serving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&gt; 500 req/s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strict latency requirements. Customer experience depends on P99 performance.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20183" y="4106600"/>
            <a:ext cx="5435706" cy="886071"/>
          </a:xfrm>
          <a:custGeom>
            <a:avLst/>
            <a:gdLst/>
            <a:ahLst/>
            <a:cxnLst/>
            <a:rect l="l" t="t" r="r" b="b"/>
            <a:pathLst>
              <a:path w="5435706" h="886071">
                <a:moveTo>
                  <a:pt x="0" y="0"/>
                </a:moveTo>
                <a:lnTo>
                  <a:pt x="5435706" y="0"/>
                </a:lnTo>
                <a:lnTo>
                  <a:pt x="543570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9" name="Shape 46"/>
          <p:cNvSpPr/>
          <p:nvPr/>
        </p:nvSpPr>
        <p:spPr>
          <a:xfrm>
            <a:off x="6420183" y="4106600"/>
            <a:ext cx="34080" cy="886071"/>
          </a:xfrm>
          <a:custGeom>
            <a:avLst/>
            <a:gdLst/>
            <a:ahLst/>
            <a:cxnLst/>
            <a:rect l="l" t="t" r="r" b="b"/>
            <a:pathLst>
              <a:path w="34080" h="886071">
                <a:moveTo>
                  <a:pt x="0" y="0"/>
                </a:moveTo>
                <a:lnTo>
                  <a:pt x="34080" y="0"/>
                </a:lnTo>
                <a:lnTo>
                  <a:pt x="34080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0" name="Shape 47"/>
          <p:cNvSpPr/>
          <p:nvPr/>
        </p:nvSpPr>
        <p:spPr>
          <a:xfrm>
            <a:off x="6539462" y="4208839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Shape 48"/>
          <p:cNvSpPr/>
          <p:nvPr/>
        </p:nvSpPr>
        <p:spPr>
          <a:xfrm>
            <a:off x="6607621" y="4276998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0"/>
                </a:moveTo>
                <a:cubicBezTo>
                  <a:pt x="69384" y="0"/>
                  <a:pt x="70609" y="266"/>
                  <a:pt x="71727" y="772"/>
                </a:cubicBezTo>
                <a:lnTo>
                  <a:pt x="121888" y="22045"/>
                </a:lnTo>
                <a:cubicBezTo>
                  <a:pt x="127745" y="24521"/>
                  <a:pt x="132112" y="30299"/>
                  <a:pt x="132085" y="37275"/>
                </a:cubicBezTo>
                <a:cubicBezTo>
                  <a:pt x="131952" y="63686"/>
                  <a:pt x="121089" y="112010"/>
                  <a:pt x="75215" y="133976"/>
                </a:cubicBezTo>
                <a:cubicBezTo>
                  <a:pt x="70769" y="136106"/>
                  <a:pt x="65603" y="136106"/>
                  <a:pt x="61157" y="133976"/>
                </a:cubicBezTo>
                <a:cubicBezTo>
                  <a:pt x="15256" y="112010"/>
                  <a:pt x="4420" y="63686"/>
                  <a:pt x="4287" y="37275"/>
                </a:cubicBezTo>
                <a:cubicBezTo>
                  <a:pt x="4260" y="30299"/>
                  <a:pt x="8626" y="24521"/>
                  <a:pt x="14484" y="22045"/>
                </a:cubicBezTo>
                <a:lnTo>
                  <a:pt x="64618" y="772"/>
                </a:lnTo>
                <a:cubicBezTo>
                  <a:pt x="65736" y="266"/>
                  <a:pt x="66935" y="0"/>
                  <a:pt x="68159" y="0"/>
                </a:cubicBezTo>
                <a:close/>
                <a:moveTo>
                  <a:pt x="68159" y="17785"/>
                </a:moveTo>
                <a:lnTo>
                  <a:pt x="68159" y="118453"/>
                </a:lnTo>
                <a:cubicBezTo>
                  <a:pt x="104901" y="100668"/>
                  <a:pt x="114779" y="61264"/>
                  <a:pt x="115019" y="37674"/>
                </a:cubicBezTo>
                <a:lnTo>
                  <a:pt x="68159" y="17812"/>
                </a:lnTo>
                <a:lnTo>
                  <a:pt x="68159" y="17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6914338" y="4208839"/>
            <a:ext cx="4915992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SLA-Guaranteed Services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914338" y="4447396"/>
            <a:ext cx="4907472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Systems where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P99 tail latency affects user experience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or business outcomes. Zero-failure requirement under extreme load.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420183" y="5094910"/>
            <a:ext cx="5435706" cy="886071"/>
          </a:xfrm>
          <a:custGeom>
            <a:avLst/>
            <a:gdLst/>
            <a:ahLst/>
            <a:cxnLst/>
            <a:rect l="l" t="t" r="r" b="b"/>
            <a:pathLst>
              <a:path w="5435706" h="886071">
                <a:moveTo>
                  <a:pt x="0" y="0"/>
                </a:moveTo>
                <a:lnTo>
                  <a:pt x="5435706" y="0"/>
                </a:lnTo>
                <a:lnTo>
                  <a:pt x="5435706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55" name="Shape 52"/>
          <p:cNvSpPr/>
          <p:nvPr/>
        </p:nvSpPr>
        <p:spPr>
          <a:xfrm>
            <a:off x="6420183" y="5094910"/>
            <a:ext cx="34080" cy="886071"/>
          </a:xfrm>
          <a:custGeom>
            <a:avLst/>
            <a:gdLst/>
            <a:ahLst/>
            <a:cxnLst/>
            <a:rect l="l" t="t" r="r" b="b"/>
            <a:pathLst>
              <a:path w="34080" h="886071">
                <a:moveTo>
                  <a:pt x="0" y="0"/>
                </a:moveTo>
                <a:lnTo>
                  <a:pt x="34080" y="0"/>
                </a:lnTo>
                <a:lnTo>
                  <a:pt x="34080" y="886071"/>
                </a:lnTo>
                <a:lnTo>
                  <a:pt x="0" y="886071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6" name="Shape 53"/>
          <p:cNvSpPr/>
          <p:nvPr/>
        </p:nvSpPr>
        <p:spPr>
          <a:xfrm>
            <a:off x="6539462" y="5197149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34080" y="0"/>
                </a:moveTo>
                <a:lnTo>
                  <a:pt x="238558" y="0"/>
                </a:lnTo>
                <a:cubicBezTo>
                  <a:pt x="257379" y="0"/>
                  <a:pt x="272637" y="15258"/>
                  <a:pt x="272637" y="34080"/>
                </a:cubicBezTo>
                <a:lnTo>
                  <a:pt x="272637" y="238558"/>
                </a:lnTo>
                <a:cubicBezTo>
                  <a:pt x="272637" y="257379"/>
                  <a:pt x="257379" y="272637"/>
                  <a:pt x="238558" y="272637"/>
                </a:cubicBezTo>
                <a:lnTo>
                  <a:pt x="34080" y="272637"/>
                </a:lnTo>
                <a:cubicBezTo>
                  <a:pt x="15258" y="272637"/>
                  <a:pt x="0" y="257379"/>
                  <a:pt x="0" y="238558"/>
                </a:cubicBezTo>
                <a:lnTo>
                  <a:pt x="0" y="34080"/>
                </a:lnTo>
                <a:cubicBezTo>
                  <a:pt x="0" y="15271"/>
                  <a:pt x="15271" y="0"/>
                  <a:pt x="340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Shape 54"/>
          <p:cNvSpPr/>
          <p:nvPr/>
        </p:nvSpPr>
        <p:spPr>
          <a:xfrm>
            <a:off x="6607621" y="5265308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75614" y="-346"/>
                </a:moveTo>
                <a:cubicBezTo>
                  <a:pt x="71008" y="-3009"/>
                  <a:pt x="65310" y="-3009"/>
                  <a:pt x="60704" y="-346"/>
                </a:cubicBezTo>
                <a:lnTo>
                  <a:pt x="38286" y="12594"/>
                </a:lnTo>
                <a:cubicBezTo>
                  <a:pt x="33680" y="15256"/>
                  <a:pt x="30831" y="20182"/>
                  <a:pt x="30831" y="25506"/>
                </a:cubicBezTo>
                <a:lnTo>
                  <a:pt x="30831" y="52637"/>
                </a:lnTo>
                <a:lnTo>
                  <a:pt x="7322" y="66216"/>
                </a:lnTo>
                <a:cubicBezTo>
                  <a:pt x="2716" y="68878"/>
                  <a:pt x="-133" y="73804"/>
                  <a:pt x="-133" y="79129"/>
                </a:cubicBezTo>
                <a:lnTo>
                  <a:pt x="-133" y="105035"/>
                </a:lnTo>
                <a:cubicBezTo>
                  <a:pt x="-133" y="110360"/>
                  <a:pt x="2716" y="115285"/>
                  <a:pt x="7322" y="117948"/>
                </a:cubicBezTo>
                <a:lnTo>
                  <a:pt x="29766" y="130887"/>
                </a:lnTo>
                <a:cubicBezTo>
                  <a:pt x="34373" y="133550"/>
                  <a:pt x="40070" y="133550"/>
                  <a:pt x="44676" y="130887"/>
                </a:cubicBezTo>
                <a:lnTo>
                  <a:pt x="68186" y="117309"/>
                </a:lnTo>
                <a:lnTo>
                  <a:pt x="91696" y="130887"/>
                </a:lnTo>
                <a:cubicBezTo>
                  <a:pt x="96302" y="133550"/>
                  <a:pt x="101999" y="133550"/>
                  <a:pt x="106605" y="130887"/>
                </a:cubicBezTo>
                <a:lnTo>
                  <a:pt x="128997" y="117948"/>
                </a:lnTo>
                <a:cubicBezTo>
                  <a:pt x="133603" y="115285"/>
                  <a:pt x="136452" y="110360"/>
                  <a:pt x="136452" y="105035"/>
                </a:cubicBezTo>
                <a:lnTo>
                  <a:pt x="136452" y="79129"/>
                </a:lnTo>
                <a:cubicBezTo>
                  <a:pt x="136452" y="73804"/>
                  <a:pt x="133603" y="68878"/>
                  <a:pt x="128997" y="66216"/>
                </a:cubicBezTo>
                <a:lnTo>
                  <a:pt x="105487" y="52637"/>
                </a:lnTo>
                <a:lnTo>
                  <a:pt x="105487" y="25506"/>
                </a:lnTo>
                <a:cubicBezTo>
                  <a:pt x="105487" y="20182"/>
                  <a:pt x="102638" y="15256"/>
                  <a:pt x="98032" y="12594"/>
                </a:cubicBezTo>
                <a:lnTo>
                  <a:pt x="75614" y="-346"/>
                </a:lnTo>
                <a:close/>
                <a:moveTo>
                  <a:pt x="61769" y="77904"/>
                </a:moveTo>
                <a:lnTo>
                  <a:pt x="61769" y="106259"/>
                </a:lnTo>
                <a:lnTo>
                  <a:pt x="38260" y="119838"/>
                </a:lnTo>
                <a:cubicBezTo>
                  <a:pt x="37940" y="120024"/>
                  <a:pt x="37568" y="120131"/>
                  <a:pt x="37195" y="120131"/>
                </a:cubicBezTo>
                <a:lnTo>
                  <a:pt x="37195" y="92095"/>
                </a:lnTo>
                <a:lnTo>
                  <a:pt x="61769" y="77904"/>
                </a:lnTo>
                <a:close/>
                <a:moveTo>
                  <a:pt x="123379" y="78064"/>
                </a:moveTo>
                <a:cubicBezTo>
                  <a:pt x="123565" y="78383"/>
                  <a:pt x="123672" y="78756"/>
                  <a:pt x="123672" y="79129"/>
                </a:cubicBezTo>
                <a:lnTo>
                  <a:pt x="123672" y="105035"/>
                </a:lnTo>
                <a:cubicBezTo>
                  <a:pt x="123672" y="105807"/>
                  <a:pt x="123273" y="106499"/>
                  <a:pt x="122607" y="106872"/>
                </a:cubicBezTo>
                <a:lnTo>
                  <a:pt x="100162" y="119811"/>
                </a:lnTo>
                <a:cubicBezTo>
                  <a:pt x="99843" y="119998"/>
                  <a:pt x="99470" y="120104"/>
                  <a:pt x="99097" y="120104"/>
                </a:cubicBezTo>
                <a:lnTo>
                  <a:pt x="99097" y="92068"/>
                </a:lnTo>
                <a:lnTo>
                  <a:pt x="123379" y="78064"/>
                </a:lnTo>
                <a:close/>
                <a:moveTo>
                  <a:pt x="92734" y="25506"/>
                </a:moveTo>
                <a:lnTo>
                  <a:pt x="92734" y="52637"/>
                </a:lnTo>
                <a:lnTo>
                  <a:pt x="68159" y="66828"/>
                </a:lnTo>
                <a:lnTo>
                  <a:pt x="68159" y="38473"/>
                </a:lnTo>
                <a:lnTo>
                  <a:pt x="92441" y="24468"/>
                </a:lnTo>
                <a:cubicBezTo>
                  <a:pt x="92627" y="24788"/>
                  <a:pt x="92734" y="25160"/>
                  <a:pt x="92734" y="255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6914338" y="5197149"/>
            <a:ext cx="4915992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Kubernetes Deployments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914338" y="5435706"/>
            <a:ext cx="4907472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Microservices requiring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memory-predictable deployments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G1GC provides stable resource usage for auto-scaling configurations.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357836" y="6144574"/>
            <a:ext cx="11493367" cy="715673"/>
          </a:xfrm>
          <a:custGeom>
            <a:avLst/>
            <a:gdLst/>
            <a:ahLst/>
            <a:cxnLst/>
            <a:rect l="l" t="t" r="r" b="b"/>
            <a:pathLst>
              <a:path w="11493367" h="715673">
                <a:moveTo>
                  <a:pt x="0" y="0"/>
                </a:moveTo>
                <a:lnTo>
                  <a:pt x="11493367" y="0"/>
                </a:lnTo>
                <a:lnTo>
                  <a:pt x="11493367" y="715673"/>
                </a:lnTo>
                <a:lnTo>
                  <a:pt x="0" y="71567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61" name="Shape 58"/>
          <p:cNvSpPr/>
          <p:nvPr/>
        </p:nvSpPr>
        <p:spPr>
          <a:xfrm>
            <a:off x="357836" y="6144574"/>
            <a:ext cx="34080" cy="715673"/>
          </a:xfrm>
          <a:custGeom>
            <a:avLst/>
            <a:gdLst/>
            <a:ahLst/>
            <a:cxnLst/>
            <a:rect l="l" t="t" r="r" b="b"/>
            <a:pathLst>
              <a:path w="34080" h="715673">
                <a:moveTo>
                  <a:pt x="0" y="0"/>
                </a:moveTo>
                <a:lnTo>
                  <a:pt x="34080" y="0"/>
                </a:lnTo>
                <a:lnTo>
                  <a:pt x="34080" y="715673"/>
                </a:lnTo>
                <a:lnTo>
                  <a:pt x="0" y="71567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2" name="Shape 59"/>
          <p:cNvSpPr/>
          <p:nvPr/>
        </p:nvSpPr>
        <p:spPr>
          <a:xfrm>
            <a:off x="511195" y="6301327"/>
            <a:ext cx="170398" cy="136319"/>
          </a:xfrm>
          <a:custGeom>
            <a:avLst/>
            <a:gdLst/>
            <a:ahLst/>
            <a:cxnLst/>
            <a:rect l="l" t="t" r="r" b="b"/>
            <a:pathLst>
              <a:path w="170398" h="136319">
                <a:moveTo>
                  <a:pt x="102239" y="8520"/>
                </a:moveTo>
                <a:lnTo>
                  <a:pt x="136319" y="8520"/>
                </a:lnTo>
                <a:cubicBezTo>
                  <a:pt x="141031" y="8520"/>
                  <a:pt x="144839" y="12327"/>
                  <a:pt x="144839" y="17040"/>
                </a:cubicBezTo>
                <a:cubicBezTo>
                  <a:pt x="144839" y="21752"/>
                  <a:pt x="141031" y="25560"/>
                  <a:pt x="136319" y="25560"/>
                </a:cubicBezTo>
                <a:lnTo>
                  <a:pt x="106073" y="25560"/>
                </a:lnTo>
                <a:cubicBezTo>
                  <a:pt x="104688" y="32429"/>
                  <a:pt x="99976" y="38100"/>
                  <a:pt x="93719" y="40816"/>
                </a:cubicBezTo>
                <a:lnTo>
                  <a:pt x="93719" y="119279"/>
                </a:lnTo>
                <a:lnTo>
                  <a:pt x="136319" y="119279"/>
                </a:lnTo>
                <a:cubicBezTo>
                  <a:pt x="141031" y="119279"/>
                  <a:pt x="144839" y="123086"/>
                  <a:pt x="144839" y="127799"/>
                </a:cubicBezTo>
                <a:cubicBezTo>
                  <a:pt x="144839" y="132511"/>
                  <a:pt x="141031" y="136319"/>
                  <a:pt x="136319" y="136319"/>
                </a:cubicBezTo>
                <a:lnTo>
                  <a:pt x="34080" y="136319"/>
                </a:lnTo>
                <a:cubicBezTo>
                  <a:pt x="29367" y="136319"/>
                  <a:pt x="25560" y="132511"/>
                  <a:pt x="25560" y="127799"/>
                </a:cubicBezTo>
                <a:cubicBezTo>
                  <a:pt x="25560" y="123086"/>
                  <a:pt x="29367" y="119279"/>
                  <a:pt x="34080" y="119279"/>
                </a:cubicBezTo>
                <a:lnTo>
                  <a:pt x="76679" y="119279"/>
                </a:lnTo>
                <a:lnTo>
                  <a:pt x="76679" y="40816"/>
                </a:lnTo>
                <a:cubicBezTo>
                  <a:pt x="70422" y="38073"/>
                  <a:pt x="65710" y="32402"/>
                  <a:pt x="64325" y="25560"/>
                </a:cubicBezTo>
                <a:lnTo>
                  <a:pt x="34080" y="25560"/>
                </a:lnTo>
                <a:cubicBezTo>
                  <a:pt x="29367" y="25560"/>
                  <a:pt x="25560" y="21752"/>
                  <a:pt x="25560" y="17040"/>
                </a:cubicBezTo>
                <a:cubicBezTo>
                  <a:pt x="25560" y="12327"/>
                  <a:pt x="29367" y="8520"/>
                  <a:pt x="34080" y="8520"/>
                </a:cubicBezTo>
                <a:lnTo>
                  <a:pt x="68159" y="8520"/>
                </a:lnTo>
                <a:cubicBezTo>
                  <a:pt x="72047" y="3355"/>
                  <a:pt x="78223" y="0"/>
                  <a:pt x="85199" y="0"/>
                </a:cubicBezTo>
                <a:cubicBezTo>
                  <a:pt x="92175" y="0"/>
                  <a:pt x="98352" y="3355"/>
                  <a:pt x="102239" y="8520"/>
                </a:cubicBezTo>
                <a:close/>
                <a:moveTo>
                  <a:pt x="117042" y="85199"/>
                </a:moveTo>
                <a:lnTo>
                  <a:pt x="155595" y="85199"/>
                </a:lnTo>
                <a:lnTo>
                  <a:pt x="136319" y="52131"/>
                </a:lnTo>
                <a:lnTo>
                  <a:pt x="117042" y="85199"/>
                </a:lnTo>
                <a:close/>
                <a:moveTo>
                  <a:pt x="136319" y="110759"/>
                </a:moveTo>
                <a:cubicBezTo>
                  <a:pt x="119572" y="110759"/>
                  <a:pt x="105647" y="101706"/>
                  <a:pt x="102771" y="89752"/>
                </a:cubicBezTo>
                <a:cubicBezTo>
                  <a:pt x="102079" y="86823"/>
                  <a:pt x="103038" y="83815"/>
                  <a:pt x="104555" y="81205"/>
                </a:cubicBezTo>
                <a:lnTo>
                  <a:pt x="129902" y="37754"/>
                </a:lnTo>
                <a:cubicBezTo>
                  <a:pt x="131233" y="35464"/>
                  <a:pt x="133683" y="34080"/>
                  <a:pt x="136319" y="34080"/>
                </a:cubicBezTo>
                <a:cubicBezTo>
                  <a:pt x="138955" y="34080"/>
                  <a:pt x="141404" y="35491"/>
                  <a:pt x="142735" y="37754"/>
                </a:cubicBezTo>
                <a:lnTo>
                  <a:pt x="168082" y="81205"/>
                </a:lnTo>
                <a:cubicBezTo>
                  <a:pt x="169600" y="83815"/>
                  <a:pt x="170558" y="86823"/>
                  <a:pt x="169866" y="89752"/>
                </a:cubicBezTo>
                <a:cubicBezTo>
                  <a:pt x="166990" y="101680"/>
                  <a:pt x="153066" y="110759"/>
                  <a:pt x="136319" y="110759"/>
                </a:cubicBezTo>
                <a:close/>
                <a:moveTo>
                  <a:pt x="33760" y="52131"/>
                </a:moveTo>
                <a:lnTo>
                  <a:pt x="14484" y="85199"/>
                </a:lnTo>
                <a:lnTo>
                  <a:pt x="53063" y="85199"/>
                </a:lnTo>
                <a:lnTo>
                  <a:pt x="33760" y="52131"/>
                </a:lnTo>
                <a:close/>
                <a:moveTo>
                  <a:pt x="240" y="89752"/>
                </a:moveTo>
                <a:cubicBezTo>
                  <a:pt x="-453" y="86823"/>
                  <a:pt x="506" y="83815"/>
                  <a:pt x="2023" y="81205"/>
                </a:cubicBezTo>
                <a:lnTo>
                  <a:pt x="27370" y="37754"/>
                </a:lnTo>
                <a:cubicBezTo>
                  <a:pt x="28701" y="35464"/>
                  <a:pt x="31151" y="34080"/>
                  <a:pt x="33787" y="34080"/>
                </a:cubicBezTo>
                <a:cubicBezTo>
                  <a:pt x="36423" y="34080"/>
                  <a:pt x="38872" y="35491"/>
                  <a:pt x="40203" y="37754"/>
                </a:cubicBezTo>
                <a:lnTo>
                  <a:pt x="65550" y="81205"/>
                </a:lnTo>
                <a:cubicBezTo>
                  <a:pt x="67068" y="83815"/>
                  <a:pt x="68026" y="86823"/>
                  <a:pt x="67334" y="89752"/>
                </a:cubicBezTo>
                <a:cubicBezTo>
                  <a:pt x="64458" y="101680"/>
                  <a:pt x="50534" y="110759"/>
                  <a:pt x="33787" y="110759"/>
                </a:cubicBezTo>
                <a:cubicBezTo>
                  <a:pt x="17040" y="110759"/>
                  <a:pt x="3115" y="101706"/>
                  <a:pt x="240" y="8975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Text 60"/>
          <p:cNvSpPr/>
          <p:nvPr/>
        </p:nvSpPr>
        <p:spPr>
          <a:xfrm>
            <a:off x="727319" y="6280892"/>
            <a:ext cx="11055725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Decision Framework: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Choose FastAPI for development velocity and Python ecosystem integration. Choose Spring Boot for production performance, reliability, and scalability requirements. The 48% throughput advantage and 2-3× lower tail latency justify the Java investment for business-critical ML serving.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centerresources.com/70c0cc1376aa7428b0f3f4e9ed3f9de04c62e2e3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5538" r="1553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1343025" cy="342900"/>
          </a:xfrm>
          <a:custGeom>
            <a:avLst/>
            <a:gdLst/>
            <a:ahLst/>
            <a:cxnLst/>
            <a:rect l="l" t="t" r="r" b="b"/>
            <a:pathLst>
              <a:path w="1343025" h="342900">
                <a:moveTo>
                  <a:pt x="0" y="0"/>
                </a:moveTo>
                <a:lnTo>
                  <a:pt x="1343025" y="0"/>
                </a:lnTo>
                <a:lnTo>
                  <a:pt x="13430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14097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87877" y="3810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ML Inference Performance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87877" y="5715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March 25,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160859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Production Recommendation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196095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381000" y="2227659"/>
            <a:ext cx="11430000" cy="771525"/>
          </a:xfrm>
          <a:custGeom>
            <a:avLst/>
            <a:gdLst/>
            <a:ahLst/>
            <a:cxnLst/>
            <a:rect l="l" t="t" r="r" b="b"/>
            <a:pathLst>
              <a:path w="11430000" h="771525">
                <a:moveTo>
                  <a:pt x="0" y="0"/>
                </a:moveTo>
                <a:lnTo>
                  <a:pt x="11430000" y="0"/>
                </a:lnTo>
                <a:lnTo>
                  <a:pt x="11430000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2456259"/>
            <a:ext cx="11068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loan/CLO trading platforms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requiring low-latency ML inference at scale,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+ ONNX Runtime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 the superior choice.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0050" y="3223022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0" y="0"/>
                </a:moveTo>
                <a:lnTo>
                  <a:pt x="2724150" y="0"/>
                </a:lnTo>
                <a:lnTo>
                  <a:pt x="27241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00050" y="3223022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375422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48%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383262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Higher Throughput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1500" y="40993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Consistent across all load levels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5650" y="3223022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0" y="0"/>
                </a:moveTo>
                <a:lnTo>
                  <a:pt x="2724150" y="0"/>
                </a:lnTo>
                <a:lnTo>
                  <a:pt x="27241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5650" y="3223022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467100" y="3375422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2-3×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67100" y="383262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P99 Latency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67100" y="40993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for SLA compliance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1250" y="3223022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0" y="0"/>
                </a:moveTo>
                <a:lnTo>
                  <a:pt x="2724150" y="0"/>
                </a:lnTo>
                <a:lnTo>
                  <a:pt x="27241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0"/>
          <p:cNvSpPr/>
          <p:nvPr/>
        </p:nvSpPr>
        <p:spPr>
          <a:xfrm>
            <a:off x="6191250" y="3223022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362700" y="3375422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62700" y="383262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Failure Rate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62700" y="40993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tested load levels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086850" y="3223022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0" y="0"/>
                </a:moveTo>
                <a:lnTo>
                  <a:pt x="2724150" y="0"/>
                </a:lnTo>
                <a:lnTo>
                  <a:pt x="27241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5"/>
          <p:cNvSpPr/>
          <p:nvPr/>
        </p:nvSpPr>
        <p:spPr>
          <a:xfrm>
            <a:off x="9086850" y="3223022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9258300" y="3375422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58300" y="383262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Memory Footprint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258300" y="409932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G1GC bounds JVM heap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4670822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0" y="0"/>
                </a:moveTo>
                <a:lnTo>
                  <a:pt x="11430000" y="0"/>
                </a:lnTo>
                <a:lnTo>
                  <a:pt x="11430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3" name="Shape 30"/>
          <p:cNvSpPr/>
          <p:nvPr/>
        </p:nvSpPr>
        <p:spPr>
          <a:xfrm>
            <a:off x="595313" y="489942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847725" y="4861322"/>
            <a:ext cx="10858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Spring Boot delivers: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Superior throughput (~48% advantage), significantly lower tail latency (2-3× better P99), stable memory consumption under extreme load, and zero failures across all tested scenarios. The architectural advantages of Java's shared-memory threading, JIT compilation, and native JNI bindings create a compelling case for production ML serving infrastructure.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23888" y="62865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Contact for questions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139910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2347079" y="62865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 report available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782526" y="63093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37947" y="0"/>
                  <a:pt x="41672" y="3724"/>
                  <a:pt x="41672" y="8334"/>
                </a:cubicBezTo>
                <a:lnTo>
                  <a:pt x="41672" y="16669"/>
                </a:lnTo>
                <a:lnTo>
                  <a:pt x="75009" y="16669"/>
                </a:lnTo>
                <a:lnTo>
                  <a:pt x="75009" y="8334"/>
                </a:lnTo>
                <a:cubicBezTo>
                  <a:pt x="75009" y="3724"/>
                  <a:pt x="78734" y="0"/>
                  <a:pt x="83344" y="0"/>
                </a:cubicBezTo>
                <a:cubicBezTo>
                  <a:pt x="87954" y="0"/>
                  <a:pt x="91678" y="3724"/>
                  <a:pt x="91678" y="8334"/>
                </a:cubicBezTo>
                <a:lnTo>
                  <a:pt x="91678" y="16669"/>
                </a:lnTo>
                <a:lnTo>
                  <a:pt x="100013" y="16669"/>
                </a:lnTo>
                <a:cubicBezTo>
                  <a:pt x="109206" y="16669"/>
                  <a:pt x="116681" y="24144"/>
                  <a:pt x="116681" y="3333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3337"/>
                </a:lnTo>
                <a:cubicBezTo>
                  <a:pt x="0" y="24144"/>
                  <a:pt x="7475" y="16669"/>
                  <a:pt x="16669" y="16669"/>
                </a:cubicBezTo>
                <a:lnTo>
                  <a:pt x="25003" y="16669"/>
                </a:lnTo>
                <a:lnTo>
                  <a:pt x="25003" y="8334"/>
                </a:lnTo>
                <a:cubicBezTo>
                  <a:pt x="25003" y="3724"/>
                  <a:pt x="28728" y="0"/>
                  <a:pt x="33337" y="0"/>
                </a:cubicBezTo>
                <a:close/>
                <a:moveTo>
                  <a:pt x="16669" y="62508"/>
                </a:moveTo>
                <a:lnTo>
                  <a:pt x="16669" y="70842"/>
                </a:lnTo>
                <a:cubicBezTo>
                  <a:pt x="16669" y="73134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3134"/>
                  <a:pt x="33337" y="70842"/>
                </a:cubicBezTo>
                <a:lnTo>
                  <a:pt x="33337" y="62508"/>
                </a:lnTo>
                <a:cubicBezTo>
                  <a:pt x="33337" y="60216"/>
                  <a:pt x="31462" y="58341"/>
                  <a:pt x="29170" y="58341"/>
                </a:cubicBezTo>
                <a:lnTo>
                  <a:pt x="20836" y="58341"/>
                </a:lnTo>
                <a:cubicBezTo>
                  <a:pt x="18544" y="58341"/>
                  <a:pt x="16669" y="60216"/>
                  <a:pt x="16669" y="62508"/>
                </a:cubicBezTo>
                <a:close/>
                <a:moveTo>
                  <a:pt x="50006" y="62508"/>
                </a:moveTo>
                <a:lnTo>
                  <a:pt x="50006" y="70842"/>
                </a:lnTo>
                <a:cubicBezTo>
                  <a:pt x="50006" y="73134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3134"/>
                  <a:pt x="66675" y="70842"/>
                </a:cubicBezTo>
                <a:lnTo>
                  <a:pt x="66675" y="62508"/>
                </a:lnTo>
                <a:cubicBezTo>
                  <a:pt x="66675" y="60216"/>
                  <a:pt x="64800" y="58341"/>
                  <a:pt x="62508" y="58341"/>
                </a:cubicBezTo>
                <a:lnTo>
                  <a:pt x="54173" y="58341"/>
                </a:lnTo>
                <a:cubicBezTo>
                  <a:pt x="51881" y="58341"/>
                  <a:pt x="50006" y="60216"/>
                  <a:pt x="50006" y="62508"/>
                </a:cubicBezTo>
                <a:close/>
                <a:moveTo>
                  <a:pt x="87511" y="58341"/>
                </a:moveTo>
                <a:cubicBezTo>
                  <a:pt x="85219" y="58341"/>
                  <a:pt x="83344" y="60216"/>
                  <a:pt x="83344" y="62508"/>
                </a:cubicBezTo>
                <a:lnTo>
                  <a:pt x="83344" y="70842"/>
                </a:lnTo>
                <a:cubicBezTo>
                  <a:pt x="83344" y="73134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3134"/>
                  <a:pt x="100013" y="70842"/>
                </a:cubicBezTo>
                <a:lnTo>
                  <a:pt x="100013" y="62508"/>
                </a:lnTo>
                <a:cubicBezTo>
                  <a:pt x="100013" y="60216"/>
                  <a:pt x="98137" y="58341"/>
                  <a:pt x="95845" y="58341"/>
                </a:cubicBezTo>
                <a:lnTo>
                  <a:pt x="87511" y="58341"/>
                </a:lnTo>
                <a:close/>
                <a:moveTo>
                  <a:pt x="16669" y="95845"/>
                </a:move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29170" y="108347"/>
                </a:lnTo>
                <a:cubicBezTo>
                  <a:pt x="31462" y="108347"/>
                  <a:pt x="33337" y="106472"/>
                  <a:pt x="33337" y="104180"/>
                </a:cubicBezTo>
                <a:lnTo>
                  <a:pt x="33337" y="95845"/>
                </a:lnTo>
                <a:cubicBezTo>
                  <a:pt x="33337" y="9355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93553"/>
                  <a:pt x="16669" y="95845"/>
                </a:cubicBezTo>
                <a:close/>
                <a:moveTo>
                  <a:pt x="54173" y="91678"/>
                </a:moveTo>
                <a:cubicBezTo>
                  <a:pt x="51881" y="91678"/>
                  <a:pt x="50006" y="93553"/>
                  <a:pt x="50006" y="95845"/>
                </a:cubicBezTo>
                <a:lnTo>
                  <a:pt x="50006" y="104180"/>
                </a:lnTo>
                <a:cubicBezTo>
                  <a:pt x="50006" y="106472"/>
                  <a:pt x="51881" y="108347"/>
                  <a:pt x="54173" y="108347"/>
                </a:cubicBezTo>
                <a:lnTo>
                  <a:pt x="62508" y="108347"/>
                </a:lnTo>
                <a:cubicBezTo>
                  <a:pt x="64800" y="108347"/>
                  <a:pt x="66675" y="106472"/>
                  <a:pt x="66675" y="104180"/>
                </a:cubicBezTo>
                <a:lnTo>
                  <a:pt x="66675" y="95845"/>
                </a:lnTo>
                <a:cubicBezTo>
                  <a:pt x="66675" y="93553"/>
                  <a:pt x="64800" y="91678"/>
                  <a:pt x="62508" y="91678"/>
                </a:cubicBezTo>
                <a:lnTo>
                  <a:pt x="54173" y="91678"/>
                </a:lnTo>
                <a:close/>
                <a:moveTo>
                  <a:pt x="83344" y="95845"/>
                </a:moveTo>
                <a:lnTo>
                  <a:pt x="83344" y="104180"/>
                </a:lnTo>
                <a:cubicBezTo>
                  <a:pt x="83344" y="106472"/>
                  <a:pt x="85219" y="108347"/>
                  <a:pt x="87511" y="108347"/>
                </a:cubicBezTo>
                <a:lnTo>
                  <a:pt x="95845" y="108347"/>
                </a:lnTo>
                <a:cubicBezTo>
                  <a:pt x="98137" y="108347"/>
                  <a:pt x="100013" y="106472"/>
                  <a:pt x="100013" y="104180"/>
                </a:cubicBezTo>
                <a:lnTo>
                  <a:pt x="100013" y="95845"/>
                </a:lnTo>
                <a:cubicBezTo>
                  <a:pt x="100013" y="9355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93553"/>
                  <a:pt x="83344" y="9584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8983742" y="62865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Generated: March 25, 2026 | Analysis Version: 1.0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Inference Microservice Performance Analysis — FastAPI vs Spring Boot</dc:title>
  <dc:subject>ML Inference Microservice Performance Analysis — FastAPI vs Spring Boot</dc:subject>
  <dc:creator>Kimi</dc:creator>
  <cp:lastModifiedBy>Kimi</cp:lastModifiedBy>
  <cp:revision>1</cp:revision>
  <dcterms:created xsi:type="dcterms:W3CDTF">2026-03-26T02:28:00Z</dcterms:created>
  <dcterms:modified xsi:type="dcterms:W3CDTF">2026-03-26T02:28:00Z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{"Label":"ML Inference Microservice Performance Analysis — FastAPI vs Spring Boot","ContentProducer":"001191110108MACG2KBH8F10000","ProduceID":"19d27eb0-b6f2-8e4c-8000-0000add105c7","ReservedCode1":"","ContentPropagator":"001191110108MACG2KBH8F20000","PropagateID":"19d27eb0-b6f2-8e4c-8000-0000add105c7","ReservedCode2":""}</vt:lpwstr>
  </property>
</Properties>
</file>