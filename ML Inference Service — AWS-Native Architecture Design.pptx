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  <p:embeddedFont>
      <p:font typeface="Quattrocento Sans" charset="-122" pitchFamily="34"/>
      <p:regular r:id="rId20"/>
    </p:embeddedFont>
    <p:embeddedFont>
      <p:font typeface="MiSans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s8.com/c3d766b635d73444d1859c29c86471d9a2d1a9a7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21" b="782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365D">
                  <a:alpha val="95000"/>
                </a:srgbClr>
              </a:gs>
              <a:gs pos="50000">
                <a:srgbClr val="2B6CB0">
                  <a:alpha val="85000"/>
                </a:srgbClr>
              </a:gs>
              <a:gs pos="100000">
                <a:srgbClr val="4299E1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682115"/>
            <a:ext cx="2588895" cy="388620"/>
          </a:xfrm>
          <a:custGeom>
            <a:avLst/>
            <a:gdLst/>
            <a:ahLst/>
            <a:cxnLst/>
            <a:rect l="l" t="t" r="r" b="b"/>
            <a:pathLst>
              <a:path w="2588895" h="388620">
                <a:moveTo>
                  <a:pt x="76201" y="0"/>
                </a:moveTo>
                <a:lnTo>
                  <a:pt x="2512694" y="0"/>
                </a:lnTo>
                <a:cubicBezTo>
                  <a:pt x="2554779" y="0"/>
                  <a:pt x="2588895" y="34116"/>
                  <a:pt x="2588895" y="76201"/>
                </a:cubicBezTo>
                <a:lnTo>
                  <a:pt x="2588895" y="312419"/>
                </a:lnTo>
                <a:cubicBezTo>
                  <a:pt x="2588895" y="354504"/>
                  <a:pt x="2554779" y="388620"/>
                  <a:pt x="2512694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299E1">
              <a:alpha val="30196"/>
            </a:srgbClr>
          </a:solidFill>
          <a:ln w="10160">
            <a:solidFill>
              <a:srgbClr val="4299E1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762125"/>
            <a:ext cx="234910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AWS-NATIVE ARCHITECTURE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531745"/>
            <a:ext cx="54768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Inference Service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47472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741420"/>
            <a:ext cx="73723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Boot + ONNX Runtime | Production-Grade Model Serving on AWS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722495"/>
            <a:ext cx="1619250" cy="457200"/>
          </a:xfrm>
          <a:custGeom>
            <a:avLst/>
            <a:gdLst/>
            <a:ahLst/>
            <a:cxnLst/>
            <a:rect l="l" t="t" r="r" b="b"/>
            <a:pathLst>
              <a:path w="1619250" h="457200">
                <a:moveTo>
                  <a:pt x="76202" y="0"/>
                </a:moveTo>
                <a:lnTo>
                  <a:pt x="1543048" y="0"/>
                </a:lnTo>
                <a:cubicBezTo>
                  <a:pt x="1585133" y="0"/>
                  <a:pt x="1619250" y="34117"/>
                  <a:pt x="1619250" y="76202"/>
                </a:cubicBezTo>
                <a:lnTo>
                  <a:pt x="1619250" y="380998"/>
                </a:lnTo>
                <a:cubicBezTo>
                  <a:pt x="1619250" y="423083"/>
                  <a:pt x="1585133" y="457200"/>
                  <a:pt x="15430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483679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80546" y="90636"/>
                </a:moveTo>
                <a:cubicBezTo>
                  <a:pt x="80233" y="100727"/>
                  <a:pt x="85279" y="105236"/>
                  <a:pt x="85412" y="108049"/>
                </a:cubicBezTo>
                <a:cubicBezTo>
                  <a:pt x="85368" y="108630"/>
                  <a:pt x="85145" y="109165"/>
                  <a:pt x="84832" y="109657"/>
                </a:cubicBezTo>
                <a:cubicBezTo>
                  <a:pt x="84519" y="110148"/>
                  <a:pt x="84073" y="110550"/>
                  <a:pt x="83582" y="110817"/>
                </a:cubicBezTo>
                <a:lnTo>
                  <a:pt x="77867" y="114836"/>
                </a:lnTo>
                <a:cubicBezTo>
                  <a:pt x="77108" y="115372"/>
                  <a:pt x="76260" y="115639"/>
                  <a:pt x="75367" y="115684"/>
                </a:cubicBezTo>
                <a:cubicBezTo>
                  <a:pt x="75188" y="115684"/>
                  <a:pt x="71705" y="116488"/>
                  <a:pt x="66214" y="104254"/>
                </a:cubicBezTo>
                <a:cubicBezTo>
                  <a:pt x="62865" y="108451"/>
                  <a:pt x="58623" y="111800"/>
                  <a:pt x="53757" y="114077"/>
                </a:cubicBezTo>
                <a:cubicBezTo>
                  <a:pt x="48890" y="116354"/>
                  <a:pt x="43622" y="117515"/>
                  <a:pt x="38264" y="117425"/>
                </a:cubicBezTo>
                <a:cubicBezTo>
                  <a:pt x="30986" y="117827"/>
                  <a:pt x="11296" y="113318"/>
                  <a:pt x="12323" y="92333"/>
                </a:cubicBezTo>
                <a:cubicBezTo>
                  <a:pt x="11609" y="75233"/>
                  <a:pt x="27548" y="64606"/>
                  <a:pt x="43979" y="65544"/>
                </a:cubicBezTo>
                <a:cubicBezTo>
                  <a:pt x="47149" y="65544"/>
                  <a:pt x="53623" y="65723"/>
                  <a:pt x="64963" y="68357"/>
                </a:cubicBezTo>
                <a:lnTo>
                  <a:pt x="64963" y="61392"/>
                </a:lnTo>
                <a:cubicBezTo>
                  <a:pt x="66169" y="49560"/>
                  <a:pt x="58400" y="40407"/>
                  <a:pt x="44961" y="41791"/>
                </a:cubicBezTo>
                <a:cubicBezTo>
                  <a:pt x="43889" y="41791"/>
                  <a:pt x="36299" y="41568"/>
                  <a:pt x="24512" y="46300"/>
                </a:cubicBezTo>
                <a:cubicBezTo>
                  <a:pt x="21208" y="47818"/>
                  <a:pt x="20806" y="47551"/>
                  <a:pt x="19690" y="47551"/>
                </a:cubicBezTo>
                <a:cubicBezTo>
                  <a:pt x="16386" y="47551"/>
                  <a:pt x="17725" y="37951"/>
                  <a:pt x="18395" y="36746"/>
                </a:cubicBezTo>
                <a:cubicBezTo>
                  <a:pt x="20717" y="33888"/>
                  <a:pt x="34424" y="28530"/>
                  <a:pt x="47818" y="28620"/>
                </a:cubicBezTo>
                <a:cubicBezTo>
                  <a:pt x="56793" y="27816"/>
                  <a:pt x="65723" y="30584"/>
                  <a:pt x="72688" y="36344"/>
                </a:cubicBezTo>
                <a:cubicBezTo>
                  <a:pt x="75501" y="39514"/>
                  <a:pt x="77688" y="43220"/>
                  <a:pt x="79028" y="47238"/>
                </a:cubicBezTo>
                <a:cubicBezTo>
                  <a:pt x="80367" y="51256"/>
                  <a:pt x="80903" y="55498"/>
                  <a:pt x="80590" y="59740"/>
                </a:cubicBezTo>
                <a:lnTo>
                  <a:pt x="80590" y="90681"/>
                </a:lnTo>
                <a:close/>
                <a:moveTo>
                  <a:pt x="41970" y="105102"/>
                </a:moveTo>
                <a:cubicBezTo>
                  <a:pt x="56436" y="104879"/>
                  <a:pt x="62597" y="96173"/>
                  <a:pt x="63981" y="91485"/>
                </a:cubicBezTo>
                <a:cubicBezTo>
                  <a:pt x="65097" y="86975"/>
                  <a:pt x="64919" y="84162"/>
                  <a:pt x="64919" y="79251"/>
                </a:cubicBezTo>
                <a:cubicBezTo>
                  <a:pt x="60588" y="78224"/>
                  <a:pt x="54382" y="77063"/>
                  <a:pt x="47238" y="77063"/>
                </a:cubicBezTo>
                <a:cubicBezTo>
                  <a:pt x="40451" y="76572"/>
                  <a:pt x="28129" y="79564"/>
                  <a:pt x="28620" y="91485"/>
                </a:cubicBezTo>
                <a:cubicBezTo>
                  <a:pt x="28084" y="98986"/>
                  <a:pt x="33576" y="105504"/>
                  <a:pt x="42014" y="105102"/>
                </a:cubicBezTo>
                <a:close/>
                <a:moveTo>
                  <a:pt x="118274" y="115416"/>
                </a:moveTo>
                <a:cubicBezTo>
                  <a:pt x="114746" y="115729"/>
                  <a:pt x="113139" y="113228"/>
                  <a:pt x="112603" y="110773"/>
                </a:cubicBezTo>
                <a:lnTo>
                  <a:pt x="90368" y="37237"/>
                </a:lnTo>
                <a:cubicBezTo>
                  <a:pt x="89922" y="35987"/>
                  <a:pt x="89654" y="34736"/>
                  <a:pt x="89520" y="33397"/>
                </a:cubicBezTo>
                <a:cubicBezTo>
                  <a:pt x="89431" y="32861"/>
                  <a:pt x="89565" y="32325"/>
                  <a:pt x="89877" y="31879"/>
                </a:cubicBezTo>
                <a:cubicBezTo>
                  <a:pt x="90190" y="31433"/>
                  <a:pt x="90681" y="31165"/>
                  <a:pt x="91217" y="31075"/>
                </a:cubicBezTo>
                <a:cubicBezTo>
                  <a:pt x="91306" y="31075"/>
                  <a:pt x="90279" y="31075"/>
                  <a:pt x="101129" y="31075"/>
                </a:cubicBezTo>
                <a:cubicBezTo>
                  <a:pt x="105058" y="30673"/>
                  <a:pt x="106308" y="33754"/>
                  <a:pt x="106754" y="35719"/>
                </a:cubicBezTo>
                <a:lnTo>
                  <a:pt x="122739" y="98584"/>
                </a:lnTo>
                <a:lnTo>
                  <a:pt x="137562" y="35719"/>
                </a:lnTo>
                <a:cubicBezTo>
                  <a:pt x="137785" y="34290"/>
                  <a:pt x="138857" y="30763"/>
                  <a:pt x="143277" y="31165"/>
                </a:cubicBezTo>
                <a:lnTo>
                  <a:pt x="150956" y="31165"/>
                </a:lnTo>
                <a:cubicBezTo>
                  <a:pt x="151939" y="31075"/>
                  <a:pt x="155912" y="30941"/>
                  <a:pt x="156627" y="35808"/>
                </a:cubicBezTo>
                <a:lnTo>
                  <a:pt x="171495" y="99432"/>
                </a:lnTo>
                <a:lnTo>
                  <a:pt x="187970" y="35763"/>
                </a:lnTo>
                <a:cubicBezTo>
                  <a:pt x="188193" y="34781"/>
                  <a:pt x="189175" y="30673"/>
                  <a:pt x="193640" y="31120"/>
                </a:cubicBezTo>
                <a:lnTo>
                  <a:pt x="202436" y="31120"/>
                </a:lnTo>
                <a:cubicBezTo>
                  <a:pt x="202838" y="31075"/>
                  <a:pt x="205204" y="30763"/>
                  <a:pt x="204802" y="34960"/>
                </a:cubicBezTo>
                <a:cubicBezTo>
                  <a:pt x="204624" y="35763"/>
                  <a:pt x="206320" y="30182"/>
                  <a:pt x="181228" y="110817"/>
                </a:cubicBezTo>
                <a:cubicBezTo>
                  <a:pt x="180737" y="113273"/>
                  <a:pt x="179085" y="115773"/>
                  <a:pt x="175558" y="115461"/>
                </a:cubicBezTo>
                <a:lnTo>
                  <a:pt x="167208" y="115461"/>
                </a:lnTo>
                <a:cubicBezTo>
                  <a:pt x="162342" y="115997"/>
                  <a:pt x="161627" y="111130"/>
                  <a:pt x="161538" y="110683"/>
                </a:cubicBezTo>
                <a:lnTo>
                  <a:pt x="146715" y="49470"/>
                </a:lnTo>
                <a:lnTo>
                  <a:pt x="132070" y="110639"/>
                </a:lnTo>
                <a:cubicBezTo>
                  <a:pt x="131981" y="111130"/>
                  <a:pt x="131311" y="115952"/>
                  <a:pt x="126400" y="115416"/>
                </a:cubicBezTo>
                <a:lnTo>
                  <a:pt x="118229" y="115416"/>
                </a:lnTo>
                <a:lnTo>
                  <a:pt x="118229" y="115416"/>
                </a:lnTo>
                <a:close/>
                <a:moveTo>
                  <a:pt x="240387" y="117917"/>
                </a:moveTo>
                <a:cubicBezTo>
                  <a:pt x="237753" y="117917"/>
                  <a:pt x="225251" y="117783"/>
                  <a:pt x="214759" y="112425"/>
                </a:cubicBezTo>
                <a:cubicBezTo>
                  <a:pt x="213732" y="111978"/>
                  <a:pt x="212839" y="111264"/>
                  <a:pt x="212214" y="110282"/>
                </a:cubicBezTo>
                <a:cubicBezTo>
                  <a:pt x="211589" y="109299"/>
                  <a:pt x="211276" y="108228"/>
                  <a:pt x="211276" y="107112"/>
                </a:cubicBezTo>
                <a:lnTo>
                  <a:pt x="211276" y="102334"/>
                </a:lnTo>
                <a:cubicBezTo>
                  <a:pt x="211276" y="98539"/>
                  <a:pt x="214045" y="99253"/>
                  <a:pt x="215205" y="99700"/>
                </a:cubicBezTo>
                <a:cubicBezTo>
                  <a:pt x="219670" y="101531"/>
                  <a:pt x="222572" y="102870"/>
                  <a:pt x="228064" y="103986"/>
                </a:cubicBezTo>
                <a:cubicBezTo>
                  <a:pt x="244450" y="107335"/>
                  <a:pt x="251639" y="102959"/>
                  <a:pt x="253380" y="101977"/>
                </a:cubicBezTo>
                <a:cubicBezTo>
                  <a:pt x="259273" y="98494"/>
                  <a:pt x="259720" y="90502"/>
                  <a:pt x="255746" y="86395"/>
                </a:cubicBezTo>
                <a:cubicBezTo>
                  <a:pt x="251058" y="82466"/>
                  <a:pt x="248826" y="82332"/>
                  <a:pt x="232038" y="77019"/>
                </a:cubicBezTo>
                <a:cubicBezTo>
                  <a:pt x="229984" y="76438"/>
                  <a:pt x="212527" y="70946"/>
                  <a:pt x="212482" y="53623"/>
                </a:cubicBezTo>
                <a:cubicBezTo>
                  <a:pt x="212214" y="41032"/>
                  <a:pt x="223644" y="28530"/>
                  <a:pt x="243513" y="28620"/>
                </a:cubicBezTo>
                <a:cubicBezTo>
                  <a:pt x="249183" y="28620"/>
                  <a:pt x="264229" y="30450"/>
                  <a:pt x="268337" y="35585"/>
                </a:cubicBezTo>
                <a:cubicBezTo>
                  <a:pt x="268962" y="36522"/>
                  <a:pt x="269230" y="37639"/>
                  <a:pt x="269185" y="38710"/>
                </a:cubicBezTo>
                <a:lnTo>
                  <a:pt x="269185" y="43220"/>
                </a:lnTo>
                <a:cubicBezTo>
                  <a:pt x="269185" y="45184"/>
                  <a:pt x="268471" y="46211"/>
                  <a:pt x="266998" y="46211"/>
                </a:cubicBezTo>
                <a:cubicBezTo>
                  <a:pt x="263560" y="45809"/>
                  <a:pt x="257443" y="41211"/>
                  <a:pt x="245031" y="41389"/>
                </a:cubicBezTo>
                <a:cubicBezTo>
                  <a:pt x="241950" y="41211"/>
                  <a:pt x="227216" y="41791"/>
                  <a:pt x="227886" y="52551"/>
                </a:cubicBezTo>
                <a:cubicBezTo>
                  <a:pt x="227707" y="61034"/>
                  <a:pt x="239762" y="64204"/>
                  <a:pt x="241146" y="64562"/>
                </a:cubicBezTo>
                <a:cubicBezTo>
                  <a:pt x="257443" y="69473"/>
                  <a:pt x="262845" y="70277"/>
                  <a:pt x="269319" y="77778"/>
                </a:cubicBezTo>
                <a:cubicBezTo>
                  <a:pt x="276954" y="87690"/>
                  <a:pt x="272847" y="99343"/>
                  <a:pt x="271239" y="102513"/>
                </a:cubicBezTo>
                <a:cubicBezTo>
                  <a:pt x="262711" y="119256"/>
                  <a:pt x="240700" y="117872"/>
                  <a:pt x="240298" y="117872"/>
                </a:cubicBezTo>
                <a:close/>
                <a:moveTo>
                  <a:pt x="258336" y="164753"/>
                </a:moveTo>
                <a:cubicBezTo>
                  <a:pt x="227082" y="187836"/>
                  <a:pt x="181674" y="200114"/>
                  <a:pt x="142920" y="200114"/>
                </a:cubicBezTo>
                <a:cubicBezTo>
                  <a:pt x="90636" y="200471"/>
                  <a:pt x="40094" y="181228"/>
                  <a:pt x="1250" y="146224"/>
                </a:cubicBezTo>
                <a:cubicBezTo>
                  <a:pt x="-1652" y="143589"/>
                  <a:pt x="893" y="139973"/>
                  <a:pt x="4465" y="141982"/>
                </a:cubicBezTo>
                <a:cubicBezTo>
                  <a:pt x="47551" y="166628"/>
                  <a:pt x="96307" y="179576"/>
                  <a:pt x="145956" y="179531"/>
                </a:cubicBezTo>
                <a:cubicBezTo>
                  <a:pt x="183014" y="179353"/>
                  <a:pt x="219670" y="171807"/>
                  <a:pt x="253826" y="157430"/>
                </a:cubicBezTo>
                <a:cubicBezTo>
                  <a:pt x="259095" y="155198"/>
                  <a:pt x="263560" y="160913"/>
                  <a:pt x="258336" y="164753"/>
                </a:cubicBezTo>
                <a:close/>
                <a:moveTo>
                  <a:pt x="271373" y="149885"/>
                </a:moveTo>
                <a:cubicBezTo>
                  <a:pt x="267355" y="144750"/>
                  <a:pt x="244897" y="147474"/>
                  <a:pt x="234851" y="148679"/>
                </a:cubicBezTo>
                <a:cubicBezTo>
                  <a:pt x="231815" y="149036"/>
                  <a:pt x="231324" y="146402"/>
                  <a:pt x="234047" y="144438"/>
                </a:cubicBezTo>
                <a:cubicBezTo>
                  <a:pt x="251951" y="131847"/>
                  <a:pt x="281330" y="135463"/>
                  <a:pt x="284678" y="139705"/>
                </a:cubicBezTo>
                <a:cubicBezTo>
                  <a:pt x="288027" y="143947"/>
                  <a:pt x="283741" y="173370"/>
                  <a:pt x="266998" y="187434"/>
                </a:cubicBezTo>
                <a:cubicBezTo>
                  <a:pt x="264408" y="189622"/>
                  <a:pt x="261952" y="188461"/>
                  <a:pt x="263113" y="185604"/>
                </a:cubicBezTo>
                <a:cubicBezTo>
                  <a:pt x="266864" y="176093"/>
                  <a:pt x="275347" y="155019"/>
                  <a:pt x="271329" y="149885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1" name="Text 8"/>
          <p:cNvSpPr/>
          <p:nvPr/>
        </p:nvSpPr>
        <p:spPr>
          <a:xfrm>
            <a:off x="971550" y="483679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ECS Fargate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226588" y="4722495"/>
            <a:ext cx="1800225" cy="457200"/>
          </a:xfrm>
          <a:custGeom>
            <a:avLst/>
            <a:gdLst/>
            <a:ahLst/>
            <a:cxnLst/>
            <a:rect l="l" t="t" r="r" b="b"/>
            <a:pathLst>
              <a:path w="1800225" h="457200">
                <a:moveTo>
                  <a:pt x="76202" y="0"/>
                </a:moveTo>
                <a:lnTo>
                  <a:pt x="1724023" y="0"/>
                </a:lnTo>
                <a:cubicBezTo>
                  <a:pt x="1766108" y="0"/>
                  <a:pt x="1800225" y="34117"/>
                  <a:pt x="1800225" y="76202"/>
                </a:cubicBezTo>
                <a:lnTo>
                  <a:pt x="1800225" y="380998"/>
                </a:lnTo>
                <a:cubicBezTo>
                  <a:pt x="1800225" y="423083"/>
                  <a:pt x="1766108" y="457200"/>
                  <a:pt x="17240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445663" y="483679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4" name="Text 11"/>
          <p:cNvSpPr/>
          <p:nvPr/>
        </p:nvSpPr>
        <p:spPr>
          <a:xfrm>
            <a:off x="2817138" y="4836795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ONNX Runtime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59461" y="4722495"/>
            <a:ext cx="1571625" cy="457200"/>
          </a:xfrm>
          <a:custGeom>
            <a:avLst/>
            <a:gdLst/>
            <a:ahLst/>
            <a:cxnLst/>
            <a:rect l="l" t="t" r="r" b="b"/>
            <a:pathLst>
              <a:path w="1571625" h="457200">
                <a:moveTo>
                  <a:pt x="76202" y="0"/>
                </a:moveTo>
                <a:lnTo>
                  <a:pt x="1495423" y="0"/>
                </a:lnTo>
                <a:cubicBezTo>
                  <a:pt x="1537508" y="0"/>
                  <a:pt x="1571625" y="34117"/>
                  <a:pt x="1571625" y="76202"/>
                </a:cubicBezTo>
                <a:lnTo>
                  <a:pt x="1571625" y="380998"/>
                </a:lnTo>
                <a:cubicBezTo>
                  <a:pt x="1571625" y="423083"/>
                  <a:pt x="1537508" y="457200"/>
                  <a:pt x="14954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507111" y="483679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24033" y="139705"/>
                </a:moveTo>
                <a:cubicBezTo>
                  <a:pt x="128409" y="136714"/>
                  <a:pt x="134481" y="134124"/>
                  <a:pt x="134481" y="134124"/>
                </a:cubicBezTo>
                <a:cubicBezTo>
                  <a:pt x="134481" y="134124"/>
                  <a:pt x="117202" y="137249"/>
                  <a:pt x="100013" y="138678"/>
                </a:cubicBezTo>
                <a:cubicBezTo>
                  <a:pt x="78983" y="140419"/>
                  <a:pt x="56391" y="140777"/>
                  <a:pt x="45050" y="139258"/>
                </a:cubicBezTo>
                <a:cubicBezTo>
                  <a:pt x="18217" y="135687"/>
                  <a:pt x="59784" y="125819"/>
                  <a:pt x="59784" y="125819"/>
                </a:cubicBezTo>
                <a:cubicBezTo>
                  <a:pt x="59784" y="125819"/>
                  <a:pt x="43666" y="124748"/>
                  <a:pt x="23798" y="134302"/>
                </a:cubicBezTo>
                <a:cubicBezTo>
                  <a:pt x="357" y="145643"/>
                  <a:pt x="81841" y="150822"/>
                  <a:pt x="124033" y="139705"/>
                </a:cubicBezTo>
                <a:close/>
                <a:moveTo>
                  <a:pt x="85904" y="125373"/>
                </a:moveTo>
                <a:cubicBezTo>
                  <a:pt x="77420" y="106308"/>
                  <a:pt x="48801" y="89565"/>
                  <a:pt x="85904" y="60275"/>
                </a:cubicBezTo>
                <a:cubicBezTo>
                  <a:pt x="132204" y="23753"/>
                  <a:pt x="108451" y="0"/>
                  <a:pt x="108451" y="0"/>
                </a:cubicBezTo>
                <a:cubicBezTo>
                  <a:pt x="118050" y="37728"/>
                  <a:pt x="74697" y="49158"/>
                  <a:pt x="59025" y="72598"/>
                </a:cubicBezTo>
                <a:cubicBezTo>
                  <a:pt x="48354" y="88627"/>
                  <a:pt x="64249" y="105817"/>
                  <a:pt x="85904" y="125373"/>
                </a:cubicBezTo>
                <a:close/>
                <a:moveTo>
                  <a:pt x="137071" y="46702"/>
                </a:moveTo>
                <a:cubicBezTo>
                  <a:pt x="137115" y="46702"/>
                  <a:pt x="58847" y="66258"/>
                  <a:pt x="96217" y="109299"/>
                </a:cubicBezTo>
                <a:cubicBezTo>
                  <a:pt x="107246" y="121980"/>
                  <a:pt x="93315" y="133410"/>
                  <a:pt x="93315" y="133410"/>
                </a:cubicBezTo>
                <a:cubicBezTo>
                  <a:pt x="93315" y="133410"/>
                  <a:pt x="121310" y="118943"/>
                  <a:pt x="108451" y="100861"/>
                </a:cubicBezTo>
                <a:cubicBezTo>
                  <a:pt x="96441" y="83984"/>
                  <a:pt x="87243" y="75590"/>
                  <a:pt x="137071" y="46702"/>
                </a:cubicBezTo>
                <a:close/>
                <a:moveTo>
                  <a:pt x="134347" y="167476"/>
                </a:moveTo>
                <a:cubicBezTo>
                  <a:pt x="134124" y="167923"/>
                  <a:pt x="133811" y="168280"/>
                  <a:pt x="133454" y="168637"/>
                </a:cubicBezTo>
                <a:cubicBezTo>
                  <a:pt x="190738" y="153591"/>
                  <a:pt x="169664" y="115550"/>
                  <a:pt x="142295" y="125194"/>
                </a:cubicBezTo>
                <a:cubicBezTo>
                  <a:pt x="140821" y="125730"/>
                  <a:pt x="139526" y="126712"/>
                  <a:pt x="138633" y="128007"/>
                </a:cubicBezTo>
                <a:cubicBezTo>
                  <a:pt x="140241" y="127427"/>
                  <a:pt x="141893" y="126980"/>
                  <a:pt x="143545" y="126668"/>
                </a:cubicBezTo>
                <a:cubicBezTo>
                  <a:pt x="157386" y="123765"/>
                  <a:pt x="177254" y="145197"/>
                  <a:pt x="134347" y="167476"/>
                </a:cubicBezTo>
                <a:close/>
                <a:moveTo>
                  <a:pt x="155377" y="195292"/>
                </a:moveTo>
                <a:cubicBezTo>
                  <a:pt x="155377" y="195292"/>
                  <a:pt x="161851" y="200605"/>
                  <a:pt x="148277" y="204758"/>
                </a:cubicBezTo>
                <a:cubicBezTo>
                  <a:pt x="122426" y="212571"/>
                  <a:pt x="40764" y="214938"/>
                  <a:pt x="18083" y="205070"/>
                </a:cubicBezTo>
                <a:cubicBezTo>
                  <a:pt x="9912" y="201543"/>
                  <a:pt x="25226" y="196587"/>
                  <a:pt x="30048" y="195560"/>
                </a:cubicBezTo>
                <a:cubicBezTo>
                  <a:pt x="35049" y="194489"/>
                  <a:pt x="37951" y="194667"/>
                  <a:pt x="37951" y="194667"/>
                </a:cubicBezTo>
                <a:cubicBezTo>
                  <a:pt x="28888" y="188282"/>
                  <a:pt x="-20672" y="207213"/>
                  <a:pt x="12769" y="212616"/>
                </a:cubicBezTo>
                <a:cubicBezTo>
                  <a:pt x="103942" y="227439"/>
                  <a:pt x="179040" y="205963"/>
                  <a:pt x="155377" y="195292"/>
                </a:cubicBezTo>
                <a:close/>
                <a:moveTo>
                  <a:pt x="55587" y="176808"/>
                </a:moveTo>
                <a:cubicBezTo>
                  <a:pt x="20449" y="186630"/>
                  <a:pt x="76974" y="206901"/>
                  <a:pt x="121712" y="187747"/>
                </a:cubicBezTo>
                <a:cubicBezTo>
                  <a:pt x="117336" y="186050"/>
                  <a:pt x="113139" y="183996"/>
                  <a:pt x="109121" y="181585"/>
                </a:cubicBezTo>
                <a:cubicBezTo>
                  <a:pt x="89163" y="185380"/>
                  <a:pt x="79921" y="185648"/>
                  <a:pt x="61793" y="183594"/>
                </a:cubicBezTo>
                <a:cubicBezTo>
                  <a:pt x="46836" y="181898"/>
                  <a:pt x="55587" y="176808"/>
                  <a:pt x="55587" y="176808"/>
                </a:cubicBezTo>
                <a:close/>
                <a:moveTo>
                  <a:pt x="135865" y="220206"/>
                </a:moveTo>
                <a:cubicBezTo>
                  <a:pt x="100727" y="226814"/>
                  <a:pt x="57373" y="226055"/>
                  <a:pt x="31700" y="221813"/>
                </a:cubicBezTo>
                <a:cubicBezTo>
                  <a:pt x="31700" y="221769"/>
                  <a:pt x="36969" y="226144"/>
                  <a:pt x="64026" y="227886"/>
                </a:cubicBezTo>
                <a:cubicBezTo>
                  <a:pt x="105192" y="230520"/>
                  <a:pt x="168414" y="226412"/>
                  <a:pt x="169887" y="206946"/>
                </a:cubicBezTo>
                <a:cubicBezTo>
                  <a:pt x="169887" y="206946"/>
                  <a:pt x="167030" y="214313"/>
                  <a:pt x="135865" y="220206"/>
                </a:cubicBezTo>
                <a:close/>
                <a:moveTo>
                  <a:pt x="116398" y="157609"/>
                </a:moveTo>
                <a:cubicBezTo>
                  <a:pt x="89967" y="162699"/>
                  <a:pt x="74652" y="162565"/>
                  <a:pt x="55319" y="160556"/>
                </a:cubicBezTo>
                <a:cubicBezTo>
                  <a:pt x="40362" y="158993"/>
                  <a:pt x="50140" y="151760"/>
                  <a:pt x="50140" y="151760"/>
                </a:cubicBezTo>
                <a:cubicBezTo>
                  <a:pt x="11385" y="164619"/>
                  <a:pt x="71661" y="179174"/>
                  <a:pt x="125819" y="163324"/>
                </a:cubicBezTo>
                <a:cubicBezTo>
                  <a:pt x="122337" y="162074"/>
                  <a:pt x="119122" y="160154"/>
                  <a:pt x="116398" y="157609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7" name="Text 14"/>
          <p:cNvSpPr/>
          <p:nvPr/>
        </p:nvSpPr>
        <p:spPr>
          <a:xfrm>
            <a:off x="4850011" y="4836795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Boot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2000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24000"/>
            <a:ext cx="5543550" cy="904875"/>
          </a:xfrm>
          <a:custGeom>
            <a:avLst/>
            <a:gdLst/>
            <a:ahLst/>
            <a:cxnLst/>
            <a:rect l="l" t="t" r="r" b="b"/>
            <a:pathLst>
              <a:path w="5543550" h="904875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790571"/>
                </a:lnTo>
                <a:cubicBezTo>
                  <a:pt x="5543550" y="853699"/>
                  <a:pt x="5492374" y="904875"/>
                  <a:pt x="5429246" y="904875"/>
                </a:cubicBez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524000"/>
            <a:ext cx="38100" cy="904875"/>
          </a:xfrm>
          <a:custGeom>
            <a:avLst/>
            <a:gdLst/>
            <a:ahLst/>
            <a:cxnLst/>
            <a:rect l="l" t="t" r="r" b="b"/>
            <a:pathLst>
              <a:path w="38100" h="904875">
                <a:moveTo>
                  <a:pt x="38100" y="0"/>
                </a:moveTo>
                <a:lnTo>
                  <a:pt x="38100" y="0"/>
                </a:lnTo>
                <a:lnTo>
                  <a:pt x="38100" y="904875"/>
                </a:ln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561975" y="1714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714500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 &amp; Performance Benchmarks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2019300"/>
            <a:ext cx="41719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vs AWS production constraints and expected throughput scaling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7450" y="1524000"/>
            <a:ext cx="5543550" cy="904875"/>
          </a:xfrm>
          <a:custGeom>
            <a:avLst/>
            <a:gdLst/>
            <a:ahLst/>
            <a:cxnLst/>
            <a:rect l="l" t="t" r="r" b="b"/>
            <a:pathLst>
              <a:path w="5543550" h="904875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790571"/>
                </a:lnTo>
                <a:cubicBezTo>
                  <a:pt x="5543550" y="853699"/>
                  <a:pt x="5492374" y="904875"/>
                  <a:pt x="5429246" y="904875"/>
                </a:cubicBez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7450" y="1524000"/>
            <a:ext cx="38100" cy="904875"/>
          </a:xfrm>
          <a:custGeom>
            <a:avLst/>
            <a:gdLst/>
            <a:ahLst/>
            <a:cxnLst/>
            <a:rect l="l" t="t" r="r" b="b"/>
            <a:pathLst>
              <a:path w="38100" h="904875">
                <a:moveTo>
                  <a:pt x="38100" y="0"/>
                </a:moveTo>
                <a:lnTo>
                  <a:pt x="38100" y="0"/>
                </a:lnTo>
                <a:lnTo>
                  <a:pt x="38100" y="904875"/>
                </a:ln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6429375" y="1714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1714500"/>
            <a:ext cx="374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Architecture Diagram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2019300"/>
            <a:ext cx="3724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end-to-end service architecture with all components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2578894"/>
            <a:ext cx="5543550" cy="904875"/>
          </a:xfrm>
          <a:custGeom>
            <a:avLst/>
            <a:gdLst/>
            <a:ahLst/>
            <a:cxnLst/>
            <a:rect l="l" t="t" r="r" b="b"/>
            <a:pathLst>
              <a:path w="5543550" h="904875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790571"/>
                </a:lnTo>
                <a:cubicBezTo>
                  <a:pt x="5543550" y="853699"/>
                  <a:pt x="5492374" y="904875"/>
                  <a:pt x="5429246" y="904875"/>
                </a:cubicBez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2578894"/>
            <a:ext cx="38100" cy="904875"/>
          </a:xfrm>
          <a:custGeom>
            <a:avLst/>
            <a:gdLst/>
            <a:ahLst/>
            <a:cxnLst/>
            <a:rect l="l" t="t" r="r" b="b"/>
            <a:pathLst>
              <a:path w="38100" h="904875">
                <a:moveTo>
                  <a:pt x="38100" y="0"/>
                </a:moveTo>
                <a:lnTo>
                  <a:pt x="38100" y="0"/>
                </a:lnTo>
                <a:lnTo>
                  <a:pt x="38100" y="904875"/>
                </a:ln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27693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0" name="Text 18"/>
          <p:cNvSpPr/>
          <p:nvPr/>
        </p:nvSpPr>
        <p:spPr>
          <a:xfrm>
            <a:off x="561975" y="2769394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2769394"/>
            <a:ext cx="3924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Strategy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3074194"/>
            <a:ext cx="39052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Instance selection, thread allocation, and ECS Fargate advantages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7450" y="2578894"/>
            <a:ext cx="5543550" cy="904875"/>
          </a:xfrm>
          <a:custGeom>
            <a:avLst/>
            <a:gdLst/>
            <a:ahLst/>
            <a:cxnLst/>
            <a:rect l="l" t="t" r="r" b="b"/>
            <a:pathLst>
              <a:path w="5543550" h="904875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790571"/>
                </a:lnTo>
                <a:cubicBezTo>
                  <a:pt x="5543550" y="853699"/>
                  <a:pt x="5492374" y="904875"/>
                  <a:pt x="5429246" y="904875"/>
                </a:cubicBez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7450" y="2578894"/>
            <a:ext cx="38100" cy="904875"/>
          </a:xfrm>
          <a:custGeom>
            <a:avLst/>
            <a:gdLst/>
            <a:ahLst/>
            <a:cxnLst/>
            <a:rect l="l" t="t" r="r" b="b"/>
            <a:pathLst>
              <a:path w="38100" h="904875">
                <a:moveTo>
                  <a:pt x="38100" y="0"/>
                </a:moveTo>
                <a:lnTo>
                  <a:pt x="38100" y="0"/>
                </a:lnTo>
                <a:lnTo>
                  <a:pt x="38100" y="904875"/>
                </a:ln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27693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26" name="Text 24"/>
          <p:cNvSpPr/>
          <p:nvPr/>
        </p:nvSpPr>
        <p:spPr>
          <a:xfrm>
            <a:off x="6429375" y="2769394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2769394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Structure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3074194"/>
            <a:ext cx="33051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package organization and CDK infrastructure code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3633788"/>
            <a:ext cx="5543550" cy="904875"/>
          </a:xfrm>
          <a:custGeom>
            <a:avLst/>
            <a:gdLst/>
            <a:ahLst/>
            <a:cxnLst/>
            <a:rect l="l" t="t" r="r" b="b"/>
            <a:pathLst>
              <a:path w="5543550" h="904875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790571"/>
                </a:lnTo>
                <a:cubicBezTo>
                  <a:pt x="5543550" y="853699"/>
                  <a:pt x="5492374" y="904875"/>
                  <a:pt x="5429246" y="904875"/>
                </a:cubicBez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0050" y="3633788"/>
            <a:ext cx="38100" cy="904875"/>
          </a:xfrm>
          <a:custGeom>
            <a:avLst/>
            <a:gdLst/>
            <a:ahLst/>
            <a:cxnLst/>
            <a:rect l="l" t="t" r="r" b="b"/>
            <a:pathLst>
              <a:path w="38100" h="904875">
                <a:moveTo>
                  <a:pt x="38100" y="0"/>
                </a:moveTo>
                <a:lnTo>
                  <a:pt x="38100" y="0"/>
                </a:lnTo>
                <a:lnTo>
                  <a:pt x="38100" y="904875"/>
                </a:ln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600" y="38242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2" name="Text 30"/>
          <p:cNvSpPr/>
          <p:nvPr/>
        </p:nvSpPr>
        <p:spPr>
          <a:xfrm>
            <a:off x="561975" y="382428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19200" y="3824288"/>
            <a:ext cx="421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Configuration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19200" y="4129088"/>
            <a:ext cx="42005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SSM Parameter Store integration and S3 model loading with EFS cache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67450" y="3633788"/>
            <a:ext cx="5543550" cy="904875"/>
          </a:xfrm>
          <a:custGeom>
            <a:avLst/>
            <a:gdLst/>
            <a:ahLst/>
            <a:cxnLst/>
            <a:rect l="l" t="t" r="r" b="b"/>
            <a:pathLst>
              <a:path w="5543550" h="904875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790571"/>
                </a:lnTo>
                <a:cubicBezTo>
                  <a:pt x="5543550" y="853699"/>
                  <a:pt x="5492374" y="904875"/>
                  <a:pt x="5429246" y="904875"/>
                </a:cubicBez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7450" y="3633788"/>
            <a:ext cx="38100" cy="904875"/>
          </a:xfrm>
          <a:custGeom>
            <a:avLst/>
            <a:gdLst/>
            <a:ahLst/>
            <a:cxnLst/>
            <a:rect l="l" t="t" r="r" b="b"/>
            <a:pathLst>
              <a:path w="38100" h="904875">
                <a:moveTo>
                  <a:pt x="38100" y="0"/>
                </a:moveTo>
                <a:lnTo>
                  <a:pt x="38100" y="0"/>
                </a:lnTo>
                <a:lnTo>
                  <a:pt x="38100" y="904875"/>
                </a:ln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7" name="Shape 35"/>
          <p:cNvSpPr/>
          <p:nvPr/>
        </p:nvSpPr>
        <p:spPr>
          <a:xfrm>
            <a:off x="6477000" y="38242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8" name="Text 36"/>
          <p:cNvSpPr/>
          <p:nvPr/>
        </p:nvSpPr>
        <p:spPr>
          <a:xfrm>
            <a:off x="6429375" y="382428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6600" y="3824288"/>
            <a:ext cx="370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Layer Design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86600" y="4129088"/>
            <a:ext cx="36861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Standardized inference endpoints and model-agnostic routing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4688681"/>
            <a:ext cx="5543550" cy="904875"/>
          </a:xfrm>
          <a:custGeom>
            <a:avLst/>
            <a:gdLst/>
            <a:ahLst/>
            <a:cxnLst/>
            <a:rect l="l" t="t" r="r" b="b"/>
            <a:pathLst>
              <a:path w="5543550" h="904875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790571"/>
                </a:lnTo>
                <a:cubicBezTo>
                  <a:pt x="5543550" y="853699"/>
                  <a:pt x="5492374" y="904875"/>
                  <a:pt x="5429246" y="904875"/>
                </a:cubicBez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00050" y="4688681"/>
            <a:ext cx="38100" cy="904875"/>
          </a:xfrm>
          <a:custGeom>
            <a:avLst/>
            <a:gdLst/>
            <a:ahLst/>
            <a:cxnLst/>
            <a:rect l="l" t="t" r="r" b="b"/>
            <a:pathLst>
              <a:path w="38100" h="904875">
                <a:moveTo>
                  <a:pt x="38100" y="0"/>
                </a:moveTo>
                <a:lnTo>
                  <a:pt x="38100" y="0"/>
                </a:lnTo>
                <a:lnTo>
                  <a:pt x="38100" y="904875"/>
                </a:ln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600" y="48791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44" name="Text 42"/>
          <p:cNvSpPr/>
          <p:nvPr/>
        </p:nvSpPr>
        <p:spPr>
          <a:xfrm>
            <a:off x="561975" y="487918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19200" y="4879181"/>
            <a:ext cx="358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Observability &amp; Monitoring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19200" y="5183981"/>
            <a:ext cx="35623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CloudWatch, X-Ray, Prometheus metrics and drift detection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67450" y="4688681"/>
            <a:ext cx="5543550" cy="904875"/>
          </a:xfrm>
          <a:custGeom>
            <a:avLst/>
            <a:gdLst/>
            <a:ahLst/>
            <a:cxnLst/>
            <a:rect l="l" t="t" r="r" b="b"/>
            <a:pathLst>
              <a:path w="5543550" h="904875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790571"/>
                </a:lnTo>
                <a:cubicBezTo>
                  <a:pt x="5543550" y="853699"/>
                  <a:pt x="5492374" y="904875"/>
                  <a:pt x="5429246" y="904875"/>
                </a:cubicBez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67450" y="4688681"/>
            <a:ext cx="38100" cy="904875"/>
          </a:xfrm>
          <a:custGeom>
            <a:avLst/>
            <a:gdLst/>
            <a:ahLst/>
            <a:cxnLst/>
            <a:rect l="l" t="t" r="r" b="b"/>
            <a:pathLst>
              <a:path w="38100" h="904875">
                <a:moveTo>
                  <a:pt x="38100" y="0"/>
                </a:moveTo>
                <a:lnTo>
                  <a:pt x="38100" y="0"/>
                </a:lnTo>
                <a:lnTo>
                  <a:pt x="38100" y="904875"/>
                </a:ln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49" name="Shape 47"/>
          <p:cNvSpPr/>
          <p:nvPr/>
        </p:nvSpPr>
        <p:spPr>
          <a:xfrm>
            <a:off x="6477000" y="48791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50" name="Text 48"/>
          <p:cNvSpPr/>
          <p:nvPr/>
        </p:nvSpPr>
        <p:spPr>
          <a:xfrm>
            <a:off x="6429375" y="487918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86600" y="4879181"/>
            <a:ext cx="3543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 Reload &amp; Auto-Scaling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86600" y="5183981"/>
            <a:ext cx="35242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Zero-downtime model swaps and dynamic capacity scaling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00050" y="5743575"/>
            <a:ext cx="5543550" cy="904875"/>
          </a:xfrm>
          <a:custGeom>
            <a:avLst/>
            <a:gdLst/>
            <a:ahLst/>
            <a:cxnLst/>
            <a:rect l="l" t="t" r="r" b="b"/>
            <a:pathLst>
              <a:path w="5543550" h="904875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790571"/>
                </a:lnTo>
                <a:cubicBezTo>
                  <a:pt x="5543550" y="853699"/>
                  <a:pt x="5492374" y="904875"/>
                  <a:pt x="5429246" y="904875"/>
                </a:cubicBez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00050" y="5743575"/>
            <a:ext cx="38100" cy="904875"/>
          </a:xfrm>
          <a:custGeom>
            <a:avLst/>
            <a:gdLst/>
            <a:ahLst/>
            <a:cxnLst/>
            <a:rect l="l" t="t" r="r" b="b"/>
            <a:pathLst>
              <a:path w="38100" h="904875">
                <a:moveTo>
                  <a:pt x="38100" y="0"/>
                </a:moveTo>
                <a:lnTo>
                  <a:pt x="38100" y="0"/>
                </a:lnTo>
                <a:lnTo>
                  <a:pt x="38100" y="904875"/>
                </a:ln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" y="5934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6" name="Text 54"/>
          <p:cNvSpPr/>
          <p:nvPr/>
        </p:nvSpPr>
        <p:spPr>
          <a:xfrm>
            <a:off x="561975" y="59340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219200" y="5934075"/>
            <a:ext cx="3933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&amp; Deployment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219200" y="6238875"/>
            <a:ext cx="39147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IAM roles, network security, and ECS Fargate deployment pipeline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267450" y="5743575"/>
            <a:ext cx="5543550" cy="904875"/>
          </a:xfrm>
          <a:custGeom>
            <a:avLst/>
            <a:gdLst/>
            <a:ahLst/>
            <a:cxnLst/>
            <a:rect l="l" t="t" r="r" b="b"/>
            <a:pathLst>
              <a:path w="5543550" h="904875">
                <a:moveTo>
                  <a:pt x="38100" y="0"/>
                </a:moveTo>
                <a:lnTo>
                  <a:pt x="5429246" y="0"/>
                </a:lnTo>
                <a:cubicBezTo>
                  <a:pt x="5492374" y="0"/>
                  <a:pt x="5543550" y="51176"/>
                  <a:pt x="5543550" y="114304"/>
                </a:cubicBezTo>
                <a:lnTo>
                  <a:pt x="5543550" y="790571"/>
                </a:lnTo>
                <a:cubicBezTo>
                  <a:pt x="5543550" y="853699"/>
                  <a:pt x="5492374" y="904875"/>
                  <a:pt x="5429246" y="904875"/>
                </a:cubicBez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267450" y="5743575"/>
            <a:ext cx="38100" cy="904875"/>
          </a:xfrm>
          <a:custGeom>
            <a:avLst/>
            <a:gdLst/>
            <a:ahLst/>
            <a:cxnLst/>
            <a:rect l="l" t="t" r="r" b="b"/>
            <a:pathLst>
              <a:path w="38100" h="904875">
                <a:moveTo>
                  <a:pt x="38100" y="0"/>
                </a:moveTo>
                <a:lnTo>
                  <a:pt x="38100" y="0"/>
                </a:lnTo>
                <a:lnTo>
                  <a:pt x="38100" y="904875"/>
                </a:lnTo>
                <a:lnTo>
                  <a:pt x="38100" y="904875"/>
                </a:lnTo>
                <a:cubicBezTo>
                  <a:pt x="17072" y="904875"/>
                  <a:pt x="0" y="887803"/>
                  <a:pt x="0" y="8667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61" name="Shape 59"/>
          <p:cNvSpPr/>
          <p:nvPr/>
        </p:nvSpPr>
        <p:spPr>
          <a:xfrm>
            <a:off x="6477000" y="5934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62" name="Text 60"/>
          <p:cNvSpPr/>
          <p:nvPr/>
        </p:nvSpPr>
        <p:spPr>
          <a:xfrm>
            <a:off x="6429375" y="59340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086600" y="5934075"/>
            <a:ext cx="3409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Design Decisions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086600" y="6238875"/>
            <a:ext cx="33909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of 12 critical architectural choices and rationale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465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/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5715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Local to AWS Production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57300"/>
            <a:ext cx="11430000" cy="3057525"/>
          </a:xfrm>
          <a:custGeom>
            <a:avLst/>
            <a:gdLst/>
            <a:ahLst/>
            <a:cxnLst/>
            <a:rect l="l" t="t" r="r" b="b"/>
            <a:pathLst>
              <a:path w="11430000" h="3057525">
                <a:moveTo>
                  <a:pt x="114290" y="0"/>
                </a:moveTo>
                <a:lnTo>
                  <a:pt x="11315710" y="0"/>
                </a:lnTo>
                <a:cubicBezTo>
                  <a:pt x="11378830" y="0"/>
                  <a:pt x="11430000" y="51170"/>
                  <a:pt x="11430000" y="114290"/>
                </a:cubicBezTo>
                <a:lnTo>
                  <a:pt x="11430000" y="2943235"/>
                </a:lnTo>
                <a:cubicBezTo>
                  <a:pt x="11430000" y="3006355"/>
                  <a:pt x="11378830" y="3057525"/>
                  <a:pt x="11315710" y="3057525"/>
                </a:cubicBezTo>
                <a:lnTo>
                  <a:pt x="114290" y="3057525"/>
                </a:lnTo>
                <a:cubicBezTo>
                  <a:pt x="51170" y="3057525"/>
                  <a:pt x="0" y="3006355"/>
                  <a:pt x="0" y="294323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3413" y="1524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7" name="Text 5"/>
          <p:cNvSpPr/>
          <p:nvPr/>
        </p:nvSpPr>
        <p:spPr>
          <a:xfrm>
            <a:off x="847725" y="1485900"/>
            <a:ext cx="1082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 Comparison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2442210"/>
            <a:ext cx="5372100" cy="7620"/>
          </a:xfrm>
          <a:custGeom>
            <a:avLst/>
            <a:gdLst/>
            <a:ahLst/>
            <a:cxnLst/>
            <a:rect l="l" t="t" r="r" b="b"/>
            <a:pathLst>
              <a:path w="5372100" h="7620">
                <a:moveTo>
                  <a:pt x="0" y="0"/>
                </a:moveTo>
                <a:lnTo>
                  <a:pt x="5372100" y="0"/>
                </a:lnTo>
                <a:lnTo>
                  <a:pt x="53721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2B6CB0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1943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B6CB0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3900" y="205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04775"/>
                </a:lnTo>
                <a:cubicBezTo>
                  <a:pt x="0" y="115282"/>
                  <a:pt x="8543" y="123825"/>
                  <a:pt x="19050" y="123825"/>
                </a:cubicBezTo>
                <a:lnTo>
                  <a:pt x="61912" y="123825"/>
                </a:lnTo>
                <a:lnTo>
                  <a:pt x="57150" y="138113"/>
                </a:lnTo>
                <a:lnTo>
                  <a:pt x="35719" y="138113"/>
                </a:lnTo>
                <a:cubicBezTo>
                  <a:pt x="31760" y="138113"/>
                  <a:pt x="28575" y="141297"/>
                  <a:pt x="28575" y="145256"/>
                </a:cubicBezTo>
                <a:cubicBezTo>
                  <a:pt x="28575" y="149215"/>
                  <a:pt x="31760" y="152400"/>
                  <a:pt x="35719" y="152400"/>
                </a:cubicBezTo>
                <a:lnTo>
                  <a:pt x="116681" y="152400"/>
                </a:lnTo>
                <a:cubicBezTo>
                  <a:pt x="120640" y="152400"/>
                  <a:pt x="123825" y="149215"/>
                  <a:pt x="123825" y="145256"/>
                </a:cubicBezTo>
                <a:cubicBezTo>
                  <a:pt x="123825" y="141297"/>
                  <a:pt x="120640" y="138113"/>
                  <a:pt x="116681" y="138113"/>
                </a:cubicBezTo>
                <a:lnTo>
                  <a:pt x="95250" y="138113"/>
                </a:lnTo>
                <a:lnTo>
                  <a:pt x="90488" y="123825"/>
                </a:lnTo>
                <a:lnTo>
                  <a:pt x="133350" y="123825"/>
                </a:lnTo>
                <a:cubicBezTo>
                  <a:pt x="143857" y="123825"/>
                  <a:pt x="152400" y="115282"/>
                  <a:pt x="152400" y="104775"/>
                </a:cubicBezTo>
                <a:lnTo>
                  <a:pt x="152400" y="28575"/>
                </a:lnTo>
                <a:cubicBezTo>
                  <a:pt x="152400" y="18068"/>
                  <a:pt x="143857" y="9525"/>
                  <a:pt x="133350" y="9525"/>
                </a:cubicBezTo>
                <a:lnTo>
                  <a:pt x="19050" y="9525"/>
                </a:lnTo>
                <a:close/>
                <a:moveTo>
                  <a:pt x="28575" y="28575"/>
                </a:move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85725"/>
                </a:lnTo>
                <a:cubicBezTo>
                  <a:pt x="133350" y="90994"/>
                  <a:pt x="129094" y="95250"/>
                  <a:pt x="123825" y="95250"/>
                </a:cubicBezTo>
                <a:lnTo>
                  <a:pt x="28575" y="95250"/>
                </a:lnTo>
                <a:cubicBezTo>
                  <a:pt x="23306" y="95250"/>
                  <a:pt x="19050" y="90994"/>
                  <a:pt x="19050" y="85725"/>
                </a:cubicBezTo>
                <a:lnTo>
                  <a:pt x="19050" y="38100"/>
                </a:lnTo>
                <a:cubicBezTo>
                  <a:pt x="19050" y="32831"/>
                  <a:pt x="23306" y="28575"/>
                  <a:pt x="28575" y="28575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1905000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Development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4900" y="2171700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ctadev-vd-58 workstation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8650" y="258889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45839" y="6251"/>
                </a:moveTo>
                <a:cubicBezTo>
                  <a:pt x="45839" y="2787"/>
                  <a:pt x="43052" y="0"/>
                  <a:pt x="39588" y="0"/>
                </a:cubicBezTo>
                <a:cubicBezTo>
                  <a:pt x="36124" y="0"/>
                  <a:pt x="33337" y="2787"/>
                  <a:pt x="33337" y="6251"/>
                </a:cubicBezTo>
                <a:lnTo>
                  <a:pt x="33337" y="16669"/>
                </a:lnTo>
                <a:cubicBezTo>
                  <a:pt x="24144" y="16669"/>
                  <a:pt x="16669" y="24144"/>
                  <a:pt x="16669" y="33337"/>
                </a:cubicBezTo>
                <a:lnTo>
                  <a:pt x="6251" y="33337"/>
                </a:lnTo>
                <a:cubicBezTo>
                  <a:pt x="2787" y="33337"/>
                  <a:pt x="0" y="36124"/>
                  <a:pt x="0" y="39588"/>
                </a:cubicBezTo>
                <a:cubicBezTo>
                  <a:pt x="0" y="43052"/>
                  <a:pt x="2787" y="45839"/>
                  <a:pt x="6251" y="45839"/>
                </a:cubicBezTo>
                <a:lnTo>
                  <a:pt x="16669" y="45839"/>
                </a:lnTo>
                <a:lnTo>
                  <a:pt x="16669" y="60424"/>
                </a:lnTo>
                <a:lnTo>
                  <a:pt x="6251" y="60424"/>
                </a:lnTo>
                <a:cubicBezTo>
                  <a:pt x="2787" y="60424"/>
                  <a:pt x="0" y="63211"/>
                  <a:pt x="0" y="66675"/>
                </a:cubicBezTo>
                <a:cubicBezTo>
                  <a:pt x="0" y="70139"/>
                  <a:pt x="2787" y="72926"/>
                  <a:pt x="6251" y="72926"/>
                </a:cubicBezTo>
                <a:lnTo>
                  <a:pt x="16669" y="72926"/>
                </a:lnTo>
                <a:lnTo>
                  <a:pt x="16669" y="87511"/>
                </a:lnTo>
                <a:lnTo>
                  <a:pt x="6251" y="87511"/>
                </a:lnTo>
                <a:cubicBezTo>
                  <a:pt x="2787" y="87511"/>
                  <a:pt x="0" y="90298"/>
                  <a:pt x="0" y="93762"/>
                </a:cubicBezTo>
                <a:cubicBezTo>
                  <a:pt x="0" y="97226"/>
                  <a:pt x="2787" y="100013"/>
                  <a:pt x="6251" y="100013"/>
                </a:cubicBezTo>
                <a:lnTo>
                  <a:pt x="16669" y="100013"/>
                </a:lnTo>
                <a:cubicBezTo>
                  <a:pt x="16669" y="109206"/>
                  <a:pt x="24144" y="116681"/>
                  <a:pt x="33337" y="116681"/>
                </a:cubicBezTo>
                <a:lnTo>
                  <a:pt x="33337" y="127099"/>
                </a:lnTo>
                <a:cubicBezTo>
                  <a:pt x="33337" y="130563"/>
                  <a:pt x="36124" y="133350"/>
                  <a:pt x="39588" y="133350"/>
                </a:cubicBezTo>
                <a:cubicBezTo>
                  <a:pt x="43052" y="133350"/>
                  <a:pt x="45839" y="130563"/>
                  <a:pt x="45839" y="127099"/>
                </a:cubicBezTo>
                <a:lnTo>
                  <a:pt x="45839" y="116681"/>
                </a:lnTo>
                <a:lnTo>
                  <a:pt x="60424" y="116681"/>
                </a:lnTo>
                <a:lnTo>
                  <a:pt x="60424" y="127099"/>
                </a:lnTo>
                <a:cubicBezTo>
                  <a:pt x="60424" y="130563"/>
                  <a:pt x="63211" y="133350"/>
                  <a:pt x="66675" y="133350"/>
                </a:cubicBezTo>
                <a:cubicBezTo>
                  <a:pt x="70139" y="133350"/>
                  <a:pt x="72926" y="130563"/>
                  <a:pt x="72926" y="127099"/>
                </a:cubicBezTo>
                <a:lnTo>
                  <a:pt x="72926" y="116681"/>
                </a:lnTo>
                <a:lnTo>
                  <a:pt x="87511" y="116681"/>
                </a:lnTo>
                <a:lnTo>
                  <a:pt x="87511" y="127099"/>
                </a:lnTo>
                <a:cubicBezTo>
                  <a:pt x="87511" y="130563"/>
                  <a:pt x="90298" y="133350"/>
                  <a:pt x="93762" y="133350"/>
                </a:cubicBezTo>
                <a:cubicBezTo>
                  <a:pt x="97226" y="133350"/>
                  <a:pt x="100013" y="130563"/>
                  <a:pt x="100013" y="127099"/>
                </a:cubicBezTo>
                <a:lnTo>
                  <a:pt x="100013" y="116681"/>
                </a:lnTo>
                <a:cubicBezTo>
                  <a:pt x="109206" y="116681"/>
                  <a:pt x="116681" y="109206"/>
                  <a:pt x="116681" y="100013"/>
                </a:cubicBezTo>
                <a:lnTo>
                  <a:pt x="127099" y="100013"/>
                </a:lnTo>
                <a:cubicBezTo>
                  <a:pt x="130563" y="100013"/>
                  <a:pt x="133350" y="97226"/>
                  <a:pt x="133350" y="93762"/>
                </a:cubicBezTo>
                <a:cubicBezTo>
                  <a:pt x="133350" y="90298"/>
                  <a:pt x="130563" y="87511"/>
                  <a:pt x="127099" y="87511"/>
                </a:cubicBezTo>
                <a:lnTo>
                  <a:pt x="116681" y="87511"/>
                </a:lnTo>
                <a:lnTo>
                  <a:pt x="116681" y="72926"/>
                </a:lnTo>
                <a:lnTo>
                  <a:pt x="127099" y="72926"/>
                </a:lnTo>
                <a:cubicBezTo>
                  <a:pt x="130563" y="72926"/>
                  <a:pt x="133350" y="70139"/>
                  <a:pt x="133350" y="66675"/>
                </a:cubicBezTo>
                <a:cubicBezTo>
                  <a:pt x="133350" y="63211"/>
                  <a:pt x="130563" y="60424"/>
                  <a:pt x="127099" y="60424"/>
                </a:cubicBezTo>
                <a:lnTo>
                  <a:pt x="116681" y="60424"/>
                </a:lnTo>
                <a:lnTo>
                  <a:pt x="116681" y="45839"/>
                </a:lnTo>
                <a:lnTo>
                  <a:pt x="127099" y="45839"/>
                </a:lnTo>
                <a:cubicBezTo>
                  <a:pt x="130563" y="45839"/>
                  <a:pt x="133350" y="43052"/>
                  <a:pt x="133350" y="39588"/>
                </a:cubicBezTo>
                <a:cubicBezTo>
                  <a:pt x="133350" y="36124"/>
                  <a:pt x="130563" y="33337"/>
                  <a:pt x="127099" y="33337"/>
                </a:cubicBez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100013" y="6251"/>
                </a:lnTo>
                <a:cubicBezTo>
                  <a:pt x="100013" y="2787"/>
                  <a:pt x="97226" y="0"/>
                  <a:pt x="93762" y="0"/>
                </a:cubicBezTo>
                <a:cubicBezTo>
                  <a:pt x="90298" y="0"/>
                  <a:pt x="87511" y="2787"/>
                  <a:pt x="87511" y="6251"/>
                </a:cubicBezTo>
                <a:lnTo>
                  <a:pt x="87511" y="16669"/>
                </a:lnTo>
                <a:lnTo>
                  <a:pt x="72926" y="16669"/>
                </a:lnTo>
                <a:lnTo>
                  <a:pt x="72926" y="6251"/>
                </a:lnTo>
                <a:cubicBezTo>
                  <a:pt x="72926" y="2787"/>
                  <a:pt x="70139" y="0"/>
                  <a:pt x="66675" y="0"/>
                </a:cubicBezTo>
                <a:cubicBezTo>
                  <a:pt x="63211" y="0"/>
                  <a:pt x="60424" y="2787"/>
                  <a:pt x="60424" y="6251"/>
                </a:cubicBezTo>
                <a:lnTo>
                  <a:pt x="60424" y="16669"/>
                </a:lnTo>
                <a:lnTo>
                  <a:pt x="45839" y="16669"/>
                </a:lnTo>
                <a:lnTo>
                  <a:pt x="45839" y="6251"/>
                </a:lnTo>
                <a:close/>
                <a:moveTo>
                  <a:pt x="41672" y="33337"/>
                </a:moveTo>
                <a:lnTo>
                  <a:pt x="91678" y="33337"/>
                </a:lnTo>
                <a:cubicBezTo>
                  <a:pt x="96288" y="33337"/>
                  <a:pt x="100013" y="37062"/>
                  <a:pt x="100013" y="41672"/>
                </a:cubicBezTo>
                <a:lnTo>
                  <a:pt x="100013" y="91678"/>
                </a:lnTo>
                <a:cubicBezTo>
                  <a:pt x="100013" y="96288"/>
                  <a:pt x="96288" y="100013"/>
                  <a:pt x="91678" y="100013"/>
                </a:cubicBezTo>
                <a:lnTo>
                  <a:pt x="41672" y="100013"/>
                </a:lnTo>
                <a:cubicBezTo>
                  <a:pt x="37062" y="100013"/>
                  <a:pt x="33337" y="96288"/>
                  <a:pt x="33337" y="91678"/>
                </a:cubicBezTo>
                <a:lnTo>
                  <a:pt x="33337" y="41672"/>
                </a:lnTo>
                <a:cubicBezTo>
                  <a:pt x="33337" y="37062"/>
                  <a:pt x="37062" y="33337"/>
                  <a:pt x="41672" y="33337"/>
                </a:cubicBezTo>
                <a:close/>
                <a:moveTo>
                  <a:pt x="45839" y="45839"/>
                </a:moveTo>
                <a:lnTo>
                  <a:pt x="45839" y="87511"/>
                </a:lnTo>
                <a:lnTo>
                  <a:pt x="87511" y="87511"/>
                </a:lnTo>
                <a:lnTo>
                  <a:pt x="87511" y="45839"/>
                </a:lnTo>
                <a:lnTo>
                  <a:pt x="45839" y="45839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852488" y="2560320"/>
            <a:ext cx="2447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shared CPU cores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limited parallelism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6984" y="285559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852488" y="2827020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machine, no failover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single point of failure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8650" y="312229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75009" y="8334"/>
                </a:moveTo>
                <a:cubicBezTo>
                  <a:pt x="75009" y="3724"/>
                  <a:pt x="71285" y="0"/>
                  <a:pt x="66675" y="0"/>
                </a:cubicBezTo>
                <a:cubicBezTo>
                  <a:pt x="62065" y="0"/>
                  <a:pt x="58341" y="3724"/>
                  <a:pt x="58341" y="8334"/>
                </a:cubicBezTo>
                <a:lnTo>
                  <a:pt x="58341" y="62508"/>
                </a:lnTo>
                <a:cubicBezTo>
                  <a:pt x="58341" y="64800"/>
                  <a:pt x="56465" y="66675"/>
                  <a:pt x="54173" y="66675"/>
                </a:cubicBezTo>
                <a:cubicBezTo>
                  <a:pt x="51881" y="66675"/>
                  <a:pt x="50006" y="64800"/>
                  <a:pt x="50006" y="62508"/>
                </a:cubicBezTo>
                <a:lnTo>
                  <a:pt x="50006" y="16669"/>
                </a:lnTo>
                <a:cubicBezTo>
                  <a:pt x="50006" y="12059"/>
                  <a:pt x="46282" y="8334"/>
                  <a:pt x="41672" y="8334"/>
                </a:cubicBezTo>
                <a:cubicBezTo>
                  <a:pt x="37062" y="8334"/>
                  <a:pt x="33337" y="12059"/>
                  <a:pt x="33337" y="16669"/>
                </a:cubicBezTo>
                <a:lnTo>
                  <a:pt x="33337" y="87511"/>
                </a:lnTo>
                <a:cubicBezTo>
                  <a:pt x="33337" y="87902"/>
                  <a:pt x="33337" y="88318"/>
                  <a:pt x="33364" y="88709"/>
                </a:cubicBezTo>
                <a:lnTo>
                  <a:pt x="17606" y="73707"/>
                </a:lnTo>
                <a:cubicBezTo>
                  <a:pt x="13439" y="69748"/>
                  <a:pt x="6850" y="69905"/>
                  <a:pt x="2865" y="74072"/>
                </a:cubicBezTo>
                <a:cubicBezTo>
                  <a:pt x="-1120" y="78239"/>
                  <a:pt x="-938" y="84828"/>
                  <a:pt x="3230" y="88813"/>
                </a:cubicBezTo>
                <a:lnTo>
                  <a:pt x="32504" y="116681"/>
                </a:lnTo>
                <a:cubicBezTo>
                  <a:pt x="43729" y="127386"/>
                  <a:pt x="58653" y="133350"/>
                  <a:pt x="74176" y="133350"/>
                </a:cubicBezTo>
                <a:lnTo>
                  <a:pt x="79177" y="133350"/>
                </a:lnTo>
                <a:cubicBezTo>
                  <a:pt x="104492" y="133350"/>
                  <a:pt x="125016" y="112827"/>
                  <a:pt x="125016" y="87511"/>
                </a:cubicBezTo>
                <a:lnTo>
                  <a:pt x="125016" y="33337"/>
                </a:lnTo>
                <a:cubicBezTo>
                  <a:pt x="125016" y="28728"/>
                  <a:pt x="121291" y="25003"/>
                  <a:pt x="116681" y="25003"/>
                </a:cubicBezTo>
                <a:cubicBezTo>
                  <a:pt x="112071" y="25003"/>
                  <a:pt x="108347" y="28728"/>
                  <a:pt x="108347" y="33337"/>
                </a:cubicBezTo>
                <a:lnTo>
                  <a:pt x="108347" y="62508"/>
                </a:lnTo>
                <a:cubicBezTo>
                  <a:pt x="108347" y="64800"/>
                  <a:pt x="106472" y="66675"/>
                  <a:pt x="104180" y="66675"/>
                </a:cubicBezTo>
                <a:cubicBezTo>
                  <a:pt x="101888" y="66675"/>
                  <a:pt x="100013" y="64800"/>
                  <a:pt x="100013" y="62508"/>
                </a:cubicBezTo>
                <a:lnTo>
                  <a:pt x="100013" y="16669"/>
                </a:lnTo>
                <a:cubicBezTo>
                  <a:pt x="100013" y="12059"/>
                  <a:pt x="96288" y="8334"/>
                  <a:pt x="91678" y="8334"/>
                </a:cubicBezTo>
                <a:cubicBezTo>
                  <a:pt x="87068" y="8334"/>
                  <a:pt x="83344" y="12059"/>
                  <a:pt x="83344" y="16669"/>
                </a:cubicBezTo>
                <a:lnTo>
                  <a:pt x="83344" y="62508"/>
                </a:lnTo>
                <a:cubicBezTo>
                  <a:pt x="83344" y="64800"/>
                  <a:pt x="81469" y="66675"/>
                  <a:pt x="79177" y="66675"/>
                </a:cubicBezTo>
                <a:cubicBezTo>
                  <a:pt x="76885" y="66675"/>
                  <a:pt x="75009" y="64800"/>
                  <a:pt x="75009" y="62508"/>
                </a:cubicBezTo>
                <a:lnTo>
                  <a:pt x="75009" y="8334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852488" y="3093720"/>
            <a:ext cx="2647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scale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human intervention required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8650" y="338899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7475" y="16669"/>
                  <a:pt x="0" y="24144"/>
                  <a:pt x="0" y="33337"/>
                </a:cubicBezTo>
                <a:lnTo>
                  <a:pt x="0" y="35265"/>
                </a:lnTo>
                <a:cubicBezTo>
                  <a:pt x="0" y="37036"/>
                  <a:pt x="1146" y="38546"/>
                  <a:pt x="2631" y="39510"/>
                </a:cubicBezTo>
                <a:cubicBezTo>
                  <a:pt x="6068" y="41750"/>
                  <a:pt x="8334" y="45605"/>
                  <a:pt x="8334" y="50006"/>
                </a:cubicBezTo>
                <a:cubicBezTo>
                  <a:pt x="8334" y="54408"/>
                  <a:pt x="6068" y="58262"/>
                  <a:pt x="2631" y="60502"/>
                </a:cubicBezTo>
                <a:cubicBezTo>
                  <a:pt x="1146" y="61466"/>
                  <a:pt x="0" y="62977"/>
                  <a:pt x="0" y="64748"/>
                </a:cubicBezTo>
                <a:lnTo>
                  <a:pt x="0" y="79177"/>
                </a:lnTo>
                <a:lnTo>
                  <a:pt x="133350" y="79177"/>
                </a:lnTo>
                <a:lnTo>
                  <a:pt x="133350" y="64748"/>
                </a:lnTo>
                <a:cubicBezTo>
                  <a:pt x="133350" y="62977"/>
                  <a:pt x="132204" y="61466"/>
                  <a:pt x="130719" y="60502"/>
                </a:cubicBezTo>
                <a:cubicBezTo>
                  <a:pt x="127282" y="58262"/>
                  <a:pt x="125016" y="54408"/>
                  <a:pt x="125016" y="50006"/>
                </a:cubicBezTo>
                <a:cubicBezTo>
                  <a:pt x="125016" y="45605"/>
                  <a:pt x="127282" y="41750"/>
                  <a:pt x="130719" y="39510"/>
                </a:cubicBezTo>
                <a:cubicBezTo>
                  <a:pt x="132204" y="38546"/>
                  <a:pt x="133350" y="37036"/>
                  <a:pt x="133350" y="35265"/>
                </a:cubicBezTo>
                <a:lnTo>
                  <a:pt x="133350" y="33337"/>
                </a:lnTo>
                <a:cubicBezTo>
                  <a:pt x="133350" y="24144"/>
                  <a:pt x="125875" y="16669"/>
                  <a:pt x="116681" y="16669"/>
                </a:cubicBezTo>
                <a:lnTo>
                  <a:pt x="16669" y="16669"/>
                </a:lnTo>
                <a:close/>
                <a:moveTo>
                  <a:pt x="133350" y="108347"/>
                </a:moveTo>
                <a:lnTo>
                  <a:pt x="133350" y="91678"/>
                </a:lnTo>
                <a:lnTo>
                  <a:pt x="0" y="91678"/>
                </a:lnTo>
                <a:lnTo>
                  <a:pt x="0" y="108347"/>
                </a:lnTo>
                <a:cubicBezTo>
                  <a:pt x="0" y="112957"/>
                  <a:pt x="3724" y="116681"/>
                  <a:pt x="8334" y="116681"/>
                </a:cubicBezTo>
                <a:lnTo>
                  <a:pt x="25003" y="116681"/>
                </a:lnTo>
                <a:lnTo>
                  <a:pt x="25003" y="110430"/>
                </a:lnTo>
                <a:cubicBezTo>
                  <a:pt x="25003" y="106966"/>
                  <a:pt x="27790" y="104180"/>
                  <a:pt x="31254" y="104180"/>
                </a:cubicBezTo>
                <a:cubicBezTo>
                  <a:pt x="34718" y="104180"/>
                  <a:pt x="37505" y="106966"/>
                  <a:pt x="37505" y="110430"/>
                </a:cubicBezTo>
                <a:lnTo>
                  <a:pt x="37505" y="116681"/>
                </a:lnTo>
                <a:lnTo>
                  <a:pt x="60424" y="116681"/>
                </a:lnTo>
                <a:lnTo>
                  <a:pt x="60424" y="110430"/>
                </a:lnTo>
                <a:cubicBezTo>
                  <a:pt x="60424" y="106966"/>
                  <a:pt x="63211" y="104180"/>
                  <a:pt x="66675" y="104180"/>
                </a:cubicBezTo>
                <a:cubicBezTo>
                  <a:pt x="70139" y="104180"/>
                  <a:pt x="72926" y="106966"/>
                  <a:pt x="72926" y="110430"/>
                </a:cubicBezTo>
                <a:lnTo>
                  <a:pt x="72926" y="116681"/>
                </a:lnTo>
                <a:lnTo>
                  <a:pt x="95845" y="116681"/>
                </a:lnTo>
                <a:lnTo>
                  <a:pt x="95845" y="110430"/>
                </a:lnTo>
                <a:cubicBezTo>
                  <a:pt x="95845" y="106966"/>
                  <a:pt x="98632" y="104180"/>
                  <a:pt x="102096" y="104180"/>
                </a:cubicBezTo>
                <a:cubicBezTo>
                  <a:pt x="105560" y="104180"/>
                  <a:pt x="108347" y="106966"/>
                  <a:pt x="108347" y="110430"/>
                </a:cubicBezTo>
                <a:lnTo>
                  <a:pt x="108347" y="116681"/>
                </a:lnTo>
                <a:lnTo>
                  <a:pt x="125016" y="116681"/>
                </a:lnTo>
                <a:cubicBezTo>
                  <a:pt x="129626" y="116681"/>
                  <a:pt x="133350" y="112957"/>
                  <a:pt x="133350" y="108347"/>
                </a:cubicBezTo>
                <a:close/>
                <a:moveTo>
                  <a:pt x="41672" y="41672"/>
                </a:moveTo>
                <a:lnTo>
                  <a:pt x="41672" y="58341"/>
                </a:lnTo>
                <a:cubicBezTo>
                  <a:pt x="41672" y="62951"/>
                  <a:pt x="37947" y="66675"/>
                  <a:pt x="33337" y="66675"/>
                </a:cubicBezTo>
                <a:cubicBezTo>
                  <a:pt x="28728" y="66675"/>
                  <a:pt x="25003" y="62951"/>
                  <a:pt x="25003" y="58341"/>
                </a:cubicBezTo>
                <a:lnTo>
                  <a:pt x="25003" y="41672"/>
                </a:lnTo>
                <a:cubicBezTo>
                  <a:pt x="25003" y="37062"/>
                  <a:pt x="28728" y="33337"/>
                  <a:pt x="33337" y="33337"/>
                </a:cubicBezTo>
                <a:cubicBezTo>
                  <a:pt x="37947" y="33337"/>
                  <a:pt x="41672" y="37062"/>
                  <a:pt x="41672" y="41672"/>
                </a:cubicBezTo>
                <a:close/>
                <a:moveTo>
                  <a:pt x="75009" y="41672"/>
                </a:moveTo>
                <a:lnTo>
                  <a:pt x="75009" y="58341"/>
                </a:lnTo>
                <a:cubicBezTo>
                  <a:pt x="75009" y="62951"/>
                  <a:pt x="71285" y="66675"/>
                  <a:pt x="66675" y="66675"/>
                </a:cubicBezTo>
                <a:cubicBezTo>
                  <a:pt x="62065" y="66675"/>
                  <a:pt x="58341" y="62951"/>
                  <a:pt x="58341" y="58341"/>
                </a:cubicBezTo>
                <a:lnTo>
                  <a:pt x="58341" y="41672"/>
                </a:lnTo>
                <a:cubicBezTo>
                  <a:pt x="58341" y="37062"/>
                  <a:pt x="62065" y="33337"/>
                  <a:pt x="66675" y="33337"/>
                </a:cubicBezTo>
                <a:cubicBezTo>
                  <a:pt x="71285" y="33337"/>
                  <a:pt x="75009" y="37062"/>
                  <a:pt x="75009" y="41672"/>
                </a:cubicBezTo>
                <a:close/>
                <a:moveTo>
                  <a:pt x="108347" y="41672"/>
                </a:moveTo>
                <a:lnTo>
                  <a:pt x="108347" y="58341"/>
                </a:lnTo>
                <a:cubicBezTo>
                  <a:pt x="108347" y="62951"/>
                  <a:pt x="104622" y="66675"/>
                  <a:pt x="100013" y="66675"/>
                </a:cubicBezTo>
                <a:cubicBezTo>
                  <a:pt x="95403" y="66675"/>
                  <a:pt x="91678" y="62951"/>
                  <a:pt x="91678" y="58341"/>
                </a:cubicBezTo>
                <a:lnTo>
                  <a:pt x="91678" y="41672"/>
                </a:lnTo>
                <a:cubicBezTo>
                  <a:pt x="91678" y="37062"/>
                  <a:pt x="95403" y="33337"/>
                  <a:pt x="100013" y="33337"/>
                </a:cubicBezTo>
                <a:cubicBezTo>
                  <a:pt x="104622" y="33337"/>
                  <a:pt x="108347" y="37062"/>
                  <a:pt x="108347" y="41672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852488" y="3360420"/>
            <a:ext cx="2647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Fixed memory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cannot adjust per workload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8650" y="365569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43495" y="43495"/>
                </a:moveTo>
                <a:cubicBezTo>
                  <a:pt x="45943" y="41047"/>
                  <a:pt x="49902" y="41047"/>
                  <a:pt x="52324" y="43495"/>
                </a:cubicBezTo>
                <a:lnTo>
                  <a:pt x="66649" y="57820"/>
                </a:lnTo>
                <a:lnTo>
                  <a:pt x="80974" y="43495"/>
                </a:lnTo>
                <a:cubicBezTo>
                  <a:pt x="83422" y="41047"/>
                  <a:pt x="87381" y="41047"/>
                  <a:pt x="89803" y="43495"/>
                </a:cubicBezTo>
                <a:cubicBezTo>
                  <a:pt x="92225" y="45943"/>
                  <a:pt x="92251" y="49902"/>
                  <a:pt x="89803" y="52324"/>
                </a:cubicBezTo>
                <a:lnTo>
                  <a:pt x="75478" y="66649"/>
                </a:lnTo>
                <a:lnTo>
                  <a:pt x="89803" y="80974"/>
                </a:lnTo>
                <a:cubicBezTo>
                  <a:pt x="92251" y="83422"/>
                  <a:pt x="92251" y="87381"/>
                  <a:pt x="89803" y="89803"/>
                </a:cubicBezTo>
                <a:cubicBezTo>
                  <a:pt x="87355" y="92225"/>
                  <a:pt x="83396" y="92251"/>
                  <a:pt x="80974" y="89803"/>
                </a:cubicBezTo>
                <a:lnTo>
                  <a:pt x="66649" y="75478"/>
                </a:lnTo>
                <a:lnTo>
                  <a:pt x="52324" y="89803"/>
                </a:lnTo>
                <a:cubicBezTo>
                  <a:pt x="49876" y="92251"/>
                  <a:pt x="45917" y="92251"/>
                  <a:pt x="43495" y="89803"/>
                </a:cubicBezTo>
                <a:cubicBezTo>
                  <a:pt x="41073" y="87355"/>
                  <a:pt x="41047" y="83396"/>
                  <a:pt x="43495" y="80974"/>
                </a:cubicBezTo>
                <a:lnTo>
                  <a:pt x="57820" y="66649"/>
                </a:lnTo>
                <a:lnTo>
                  <a:pt x="43495" y="52324"/>
                </a:lnTo>
                <a:cubicBezTo>
                  <a:pt x="41047" y="49876"/>
                  <a:pt x="41047" y="45917"/>
                  <a:pt x="43495" y="43495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852488" y="3627120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GPU option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CPU-only inference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0316" y="392239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24" name="Text 22"/>
          <p:cNvSpPr/>
          <p:nvPr/>
        </p:nvSpPr>
        <p:spPr>
          <a:xfrm>
            <a:off x="852488" y="3893820"/>
            <a:ext cx="3257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port management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conflict resolution needed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300" y="2442210"/>
            <a:ext cx="5372100" cy="7620"/>
          </a:xfrm>
          <a:custGeom>
            <a:avLst/>
            <a:gdLst/>
            <a:ahLst/>
            <a:cxnLst/>
            <a:rect l="l" t="t" r="r" b="b"/>
            <a:pathLst>
              <a:path w="5372100" h="7620">
                <a:moveTo>
                  <a:pt x="0" y="0"/>
                </a:moveTo>
                <a:lnTo>
                  <a:pt x="5372100" y="0"/>
                </a:lnTo>
                <a:lnTo>
                  <a:pt x="53721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299E1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10300" y="1943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305550" y="20574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53697" y="60424"/>
                </a:moveTo>
                <a:cubicBezTo>
                  <a:pt x="53489" y="67151"/>
                  <a:pt x="56852" y="70158"/>
                  <a:pt x="56942" y="72033"/>
                </a:cubicBezTo>
                <a:cubicBezTo>
                  <a:pt x="56912" y="72420"/>
                  <a:pt x="56763" y="72777"/>
                  <a:pt x="56555" y="73104"/>
                </a:cubicBezTo>
                <a:cubicBezTo>
                  <a:pt x="56346" y="73432"/>
                  <a:pt x="56049" y="73700"/>
                  <a:pt x="55721" y="73878"/>
                </a:cubicBezTo>
                <a:lnTo>
                  <a:pt x="51911" y="76557"/>
                </a:lnTo>
                <a:cubicBezTo>
                  <a:pt x="51405" y="76914"/>
                  <a:pt x="50840" y="77093"/>
                  <a:pt x="50244" y="77123"/>
                </a:cubicBezTo>
                <a:cubicBezTo>
                  <a:pt x="50125" y="77123"/>
                  <a:pt x="47804" y="77659"/>
                  <a:pt x="44142" y="69503"/>
                </a:cubicBezTo>
                <a:cubicBezTo>
                  <a:pt x="41910" y="72301"/>
                  <a:pt x="39082" y="74533"/>
                  <a:pt x="35838" y="76051"/>
                </a:cubicBezTo>
                <a:cubicBezTo>
                  <a:pt x="32593" y="77569"/>
                  <a:pt x="29081" y="78343"/>
                  <a:pt x="25509" y="78284"/>
                </a:cubicBezTo>
                <a:cubicBezTo>
                  <a:pt x="20657" y="78551"/>
                  <a:pt x="7531" y="75545"/>
                  <a:pt x="8215" y="61555"/>
                </a:cubicBezTo>
                <a:cubicBezTo>
                  <a:pt x="7739" y="50155"/>
                  <a:pt x="18365" y="43071"/>
                  <a:pt x="29319" y="43696"/>
                </a:cubicBezTo>
                <a:cubicBezTo>
                  <a:pt x="31432" y="43696"/>
                  <a:pt x="35749" y="43815"/>
                  <a:pt x="43309" y="45571"/>
                </a:cubicBezTo>
                <a:lnTo>
                  <a:pt x="43309" y="40928"/>
                </a:lnTo>
                <a:cubicBezTo>
                  <a:pt x="44113" y="33040"/>
                  <a:pt x="38933" y="26938"/>
                  <a:pt x="29974" y="27861"/>
                </a:cubicBezTo>
                <a:cubicBezTo>
                  <a:pt x="29260" y="27861"/>
                  <a:pt x="24199" y="27712"/>
                  <a:pt x="16341" y="30867"/>
                </a:cubicBezTo>
                <a:cubicBezTo>
                  <a:pt x="14139" y="31879"/>
                  <a:pt x="13871" y="31700"/>
                  <a:pt x="13127" y="31700"/>
                </a:cubicBezTo>
                <a:cubicBezTo>
                  <a:pt x="10924" y="31700"/>
                  <a:pt x="11817" y="25301"/>
                  <a:pt x="12263" y="24497"/>
                </a:cubicBezTo>
                <a:cubicBezTo>
                  <a:pt x="13811" y="22592"/>
                  <a:pt x="22949" y="19020"/>
                  <a:pt x="31879" y="19080"/>
                </a:cubicBezTo>
                <a:cubicBezTo>
                  <a:pt x="37862" y="18544"/>
                  <a:pt x="43815" y="20389"/>
                  <a:pt x="48458" y="24229"/>
                </a:cubicBezTo>
                <a:cubicBezTo>
                  <a:pt x="50334" y="26343"/>
                  <a:pt x="51792" y="28813"/>
                  <a:pt x="52685" y="31492"/>
                </a:cubicBezTo>
                <a:cubicBezTo>
                  <a:pt x="53578" y="34171"/>
                  <a:pt x="53935" y="36999"/>
                  <a:pt x="53727" y="39826"/>
                </a:cubicBezTo>
                <a:lnTo>
                  <a:pt x="53727" y="60454"/>
                </a:lnTo>
                <a:close/>
                <a:moveTo>
                  <a:pt x="27980" y="70068"/>
                </a:moveTo>
                <a:cubicBezTo>
                  <a:pt x="37624" y="69919"/>
                  <a:pt x="41731" y="64115"/>
                  <a:pt x="42654" y="60990"/>
                </a:cubicBezTo>
                <a:cubicBezTo>
                  <a:pt x="43398" y="57983"/>
                  <a:pt x="43279" y="56108"/>
                  <a:pt x="43279" y="52834"/>
                </a:cubicBezTo>
                <a:cubicBezTo>
                  <a:pt x="40392" y="52149"/>
                  <a:pt x="36255" y="51375"/>
                  <a:pt x="31492" y="51375"/>
                </a:cubicBezTo>
                <a:cubicBezTo>
                  <a:pt x="26968" y="51048"/>
                  <a:pt x="18752" y="53042"/>
                  <a:pt x="19080" y="60990"/>
                </a:cubicBezTo>
                <a:cubicBezTo>
                  <a:pt x="18723" y="65990"/>
                  <a:pt x="22384" y="70336"/>
                  <a:pt x="28009" y="70068"/>
                </a:cubicBezTo>
                <a:close/>
                <a:moveTo>
                  <a:pt x="78849" y="76944"/>
                </a:moveTo>
                <a:cubicBezTo>
                  <a:pt x="76498" y="77152"/>
                  <a:pt x="75426" y="75486"/>
                  <a:pt x="75069" y="73849"/>
                </a:cubicBezTo>
                <a:lnTo>
                  <a:pt x="60246" y="24825"/>
                </a:lnTo>
                <a:cubicBezTo>
                  <a:pt x="59948" y="23991"/>
                  <a:pt x="59769" y="23158"/>
                  <a:pt x="59680" y="22265"/>
                </a:cubicBezTo>
                <a:cubicBezTo>
                  <a:pt x="59621" y="21908"/>
                  <a:pt x="59710" y="21550"/>
                  <a:pt x="59918" y="21253"/>
                </a:cubicBezTo>
                <a:cubicBezTo>
                  <a:pt x="60127" y="20955"/>
                  <a:pt x="60454" y="20776"/>
                  <a:pt x="60811" y="20717"/>
                </a:cubicBezTo>
                <a:cubicBezTo>
                  <a:pt x="60871" y="20717"/>
                  <a:pt x="60186" y="20717"/>
                  <a:pt x="67419" y="20717"/>
                </a:cubicBezTo>
                <a:cubicBezTo>
                  <a:pt x="70039" y="20449"/>
                  <a:pt x="70872" y="22503"/>
                  <a:pt x="71170" y="23813"/>
                </a:cubicBezTo>
                <a:lnTo>
                  <a:pt x="81826" y="65723"/>
                </a:lnTo>
                <a:lnTo>
                  <a:pt x="91708" y="23813"/>
                </a:lnTo>
                <a:cubicBezTo>
                  <a:pt x="91857" y="22860"/>
                  <a:pt x="92571" y="20509"/>
                  <a:pt x="95518" y="20776"/>
                </a:cubicBezTo>
                <a:lnTo>
                  <a:pt x="100638" y="20776"/>
                </a:lnTo>
                <a:cubicBezTo>
                  <a:pt x="101292" y="20717"/>
                  <a:pt x="103942" y="20628"/>
                  <a:pt x="104418" y="23872"/>
                </a:cubicBezTo>
                <a:lnTo>
                  <a:pt x="114330" y="66288"/>
                </a:lnTo>
                <a:lnTo>
                  <a:pt x="125313" y="23842"/>
                </a:lnTo>
                <a:cubicBezTo>
                  <a:pt x="125462" y="23187"/>
                  <a:pt x="126117" y="20449"/>
                  <a:pt x="129094" y="20747"/>
                </a:cubicBezTo>
                <a:lnTo>
                  <a:pt x="134957" y="20747"/>
                </a:lnTo>
                <a:cubicBezTo>
                  <a:pt x="135225" y="20717"/>
                  <a:pt x="136803" y="20509"/>
                  <a:pt x="136535" y="23306"/>
                </a:cubicBezTo>
                <a:cubicBezTo>
                  <a:pt x="136416" y="23842"/>
                  <a:pt x="137547" y="20122"/>
                  <a:pt x="120819" y="73878"/>
                </a:cubicBezTo>
                <a:cubicBezTo>
                  <a:pt x="120491" y="75515"/>
                  <a:pt x="119390" y="77182"/>
                  <a:pt x="117038" y="76974"/>
                </a:cubicBezTo>
                <a:lnTo>
                  <a:pt x="111472" y="76974"/>
                </a:lnTo>
                <a:cubicBezTo>
                  <a:pt x="108228" y="77331"/>
                  <a:pt x="107752" y="74087"/>
                  <a:pt x="107692" y="73789"/>
                </a:cubicBezTo>
                <a:lnTo>
                  <a:pt x="97810" y="32980"/>
                </a:lnTo>
                <a:lnTo>
                  <a:pt x="88047" y="73759"/>
                </a:lnTo>
                <a:cubicBezTo>
                  <a:pt x="87987" y="74087"/>
                  <a:pt x="87541" y="77301"/>
                  <a:pt x="84266" y="76944"/>
                </a:cubicBezTo>
                <a:lnTo>
                  <a:pt x="78819" y="76944"/>
                </a:lnTo>
                <a:lnTo>
                  <a:pt x="78819" y="76944"/>
                </a:lnTo>
                <a:close/>
                <a:moveTo>
                  <a:pt x="160258" y="78611"/>
                </a:moveTo>
                <a:cubicBezTo>
                  <a:pt x="158502" y="78611"/>
                  <a:pt x="150168" y="78522"/>
                  <a:pt x="143173" y="74950"/>
                </a:cubicBezTo>
                <a:cubicBezTo>
                  <a:pt x="142488" y="74652"/>
                  <a:pt x="141893" y="74176"/>
                  <a:pt x="141476" y="73521"/>
                </a:cubicBezTo>
                <a:cubicBezTo>
                  <a:pt x="141059" y="72866"/>
                  <a:pt x="140851" y="72152"/>
                  <a:pt x="140851" y="71408"/>
                </a:cubicBezTo>
                <a:lnTo>
                  <a:pt x="140851" y="68223"/>
                </a:lnTo>
                <a:cubicBezTo>
                  <a:pt x="140851" y="65693"/>
                  <a:pt x="142696" y="66169"/>
                  <a:pt x="143470" y="66467"/>
                </a:cubicBezTo>
                <a:cubicBezTo>
                  <a:pt x="146447" y="67687"/>
                  <a:pt x="148382" y="68580"/>
                  <a:pt x="152043" y="69324"/>
                </a:cubicBezTo>
                <a:cubicBezTo>
                  <a:pt x="162967" y="71557"/>
                  <a:pt x="167759" y="68640"/>
                  <a:pt x="168920" y="67985"/>
                </a:cubicBezTo>
                <a:cubicBezTo>
                  <a:pt x="172849" y="65663"/>
                  <a:pt x="173147" y="60335"/>
                  <a:pt x="170497" y="57596"/>
                </a:cubicBezTo>
                <a:cubicBezTo>
                  <a:pt x="167372" y="54977"/>
                  <a:pt x="165884" y="54888"/>
                  <a:pt x="154692" y="51346"/>
                </a:cubicBezTo>
                <a:cubicBezTo>
                  <a:pt x="153323" y="50959"/>
                  <a:pt x="141684" y="47298"/>
                  <a:pt x="141655" y="35749"/>
                </a:cubicBezTo>
                <a:cubicBezTo>
                  <a:pt x="141476" y="27355"/>
                  <a:pt x="149096" y="19020"/>
                  <a:pt x="162342" y="19080"/>
                </a:cubicBezTo>
                <a:cubicBezTo>
                  <a:pt x="166122" y="19080"/>
                  <a:pt x="176153" y="20300"/>
                  <a:pt x="178891" y="23723"/>
                </a:cubicBezTo>
                <a:cubicBezTo>
                  <a:pt x="179308" y="24348"/>
                  <a:pt x="179487" y="25092"/>
                  <a:pt x="179457" y="25807"/>
                </a:cubicBezTo>
                <a:lnTo>
                  <a:pt x="179457" y="28813"/>
                </a:lnTo>
                <a:cubicBezTo>
                  <a:pt x="179457" y="30123"/>
                  <a:pt x="178981" y="30807"/>
                  <a:pt x="177998" y="30807"/>
                </a:cubicBezTo>
                <a:cubicBezTo>
                  <a:pt x="175706" y="30540"/>
                  <a:pt x="171629" y="27474"/>
                  <a:pt x="163354" y="27593"/>
                </a:cubicBezTo>
                <a:cubicBezTo>
                  <a:pt x="161300" y="27474"/>
                  <a:pt x="151477" y="27861"/>
                  <a:pt x="151924" y="35034"/>
                </a:cubicBezTo>
                <a:cubicBezTo>
                  <a:pt x="151805" y="40690"/>
                  <a:pt x="159841" y="42803"/>
                  <a:pt x="160764" y="43041"/>
                </a:cubicBezTo>
                <a:cubicBezTo>
                  <a:pt x="171629" y="46315"/>
                  <a:pt x="175230" y="46851"/>
                  <a:pt x="179546" y="51852"/>
                </a:cubicBezTo>
                <a:cubicBezTo>
                  <a:pt x="184636" y="58460"/>
                  <a:pt x="181898" y="66229"/>
                  <a:pt x="180826" y="68342"/>
                </a:cubicBezTo>
                <a:cubicBezTo>
                  <a:pt x="175141" y="79504"/>
                  <a:pt x="160466" y="78581"/>
                  <a:pt x="160199" y="78581"/>
                </a:cubicBezTo>
                <a:close/>
                <a:moveTo>
                  <a:pt x="172224" y="109835"/>
                </a:moveTo>
                <a:cubicBezTo>
                  <a:pt x="151388" y="125224"/>
                  <a:pt x="121116" y="133410"/>
                  <a:pt x="95280" y="133410"/>
                </a:cubicBezTo>
                <a:cubicBezTo>
                  <a:pt x="60424" y="133648"/>
                  <a:pt x="26730" y="120819"/>
                  <a:pt x="833" y="97482"/>
                </a:cubicBezTo>
                <a:cubicBezTo>
                  <a:pt x="-1101" y="95726"/>
                  <a:pt x="595" y="93315"/>
                  <a:pt x="2977" y="94655"/>
                </a:cubicBezTo>
                <a:cubicBezTo>
                  <a:pt x="31700" y="111085"/>
                  <a:pt x="64204" y="119717"/>
                  <a:pt x="97304" y="119688"/>
                </a:cubicBezTo>
                <a:cubicBezTo>
                  <a:pt x="122009" y="119569"/>
                  <a:pt x="146447" y="114538"/>
                  <a:pt x="169218" y="104954"/>
                </a:cubicBezTo>
                <a:cubicBezTo>
                  <a:pt x="172730" y="103465"/>
                  <a:pt x="175706" y="107275"/>
                  <a:pt x="172224" y="109835"/>
                </a:cubicBezTo>
                <a:close/>
                <a:moveTo>
                  <a:pt x="180915" y="99923"/>
                </a:moveTo>
                <a:cubicBezTo>
                  <a:pt x="178237" y="96500"/>
                  <a:pt x="163264" y="98316"/>
                  <a:pt x="156567" y="99120"/>
                </a:cubicBezTo>
                <a:cubicBezTo>
                  <a:pt x="154543" y="99358"/>
                  <a:pt x="154216" y="97601"/>
                  <a:pt x="156031" y="96292"/>
                </a:cubicBezTo>
                <a:cubicBezTo>
                  <a:pt x="167967" y="87898"/>
                  <a:pt x="187553" y="90309"/>
                  <a:pt x="189786" y="93137"/>
                </a:cubicBezTo>
                <a:cubicBezTo>
                  <a:pt x="192018" y="95964"/>
                  <a:pt x="189161" y="115580"/>
                  <a:pt x="177998" y="124956"/>
                </a:cubicBezTo>
                <a:cubicBezTo>
                  <a:pt x="176272" y="126415"/>
                  <a:pt x="174635" y="125641"/>
                  <a:pt x="175409" y="123736"/>
                </a:cubicBezTo>
                <a:cubicBezTo>
                  <a:pt x="177909" y="117396"/>
                  <a:pt x="183565" y="103346"/>
                  <a:pt x="180886" y="99923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8" name="Text 26"/>
          <p:cNvSpPr/>
          <p:nvPr/>
        </p:nvSpPr>
        <p:spPr>
          <a:xfrm>
            <a:off x="6705600" y="1905000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Production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05600" y="217170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2A4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ECS Fargate Multi-AZ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29350" y="258889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45839" y="6251"/>
                </a:moveTo>
                <a:cubicBezTo>
                  <a:pt x="45839" y="2787"/>
                  <a:pt x="43052" y="0"/>
                  <a:pt x="39588" y="0"/>
                </a:cubicBezTo>
                <a:cubicBezTo>
                  <a:pt x="36124" y="0"/>
                  <a:pt x="33337" y="2787"/>
                  <a:pt x="33337" y="6251"/>
                </a:cubicBezTo>
                <a:lnTo>
                  <a:pt x="33337" y="16669"/>
                </a:lnTo>
                <a:cubicBezTo>
                  <a:pt x="24144" y="16669"/>
                  <a:pt x="16669" y="24144"/>
                  <a:pt x="16669" y="33337"/>
                </a:cubicBezTo>
                <a:lnTo>
                  <a:pt x="6251" y="33337"/>
                </a:lnTo>
                <a:cubicBezTo>
                  <a:pt x="2787" y="33337"/>
                  <a:pt x="0" y="36124"/>
                  <a:pt x="0" y="39588"/>
                </a:cubicBezTo>
                <a:cubicBezTo>
                  <a:pt x="0" y="43052"/>
                  <a:pt x="2787" y="45839"/>
                  <a:pt x="6251" y="45839"/>
                </a:cubicBezTo>
                <a:lnTo>
                  <a:pt x="16669" y="45839"/>
                </a:lnTo>
                <a:lnTo>
                  <a:pt x="16669" y="60424"/>
                </a:lnTo>
                <a:lnTo>
                  <a:pt x="6251" y="60424"/>
                </a:lnTo>
                <a:cubicBezTo>
                  <a:pt x="2787" y="60424"/>
                  <a:pt x="0" y="63211"/>
                  <a:pt x="0" y="66675"/>
                </a:cubicBezTo>
                <a:cubicBezTo>
                  <a:pt x="0" y="70139"/>
                  <a:pt x="2787" y="72926"/>
                  <a:pt x="6251" y="72926"/>
                </a:cubicBezTo>
                <a:lnTo>
                  <a:pt x="16669" y="72926"/>
                </a:lnTo>
                <a:lnTo>
                  <a:pt x="16669" y="87511"/>
                </a:lnTo>
                <a:lnTo>
                  <a:pt x="6251" y="87511"/>
                </a:lnTo>
                <a:cubicBezTo>
                  <a:pt x="2787" y="87511"/>
                  <a:pt x="0" y="90298"/>
                  <a:pt x="0" y="93762"/>
                </a:cubicBezTo>
                <a:cubicBezTo>
                  <a:pt x="0" y="97226"/>
                  <a:pt x="2787" y="100013"/>
                  <a:pt x="6251" y="100013"/>
                </a:cubicBezTo>
                <a:lnTo>
                  <a:pt x="16669" y="100013"/>
                </a:lnTo>
                <a:cubicBezTo>
                  <a:pt x="16669" y="109206"/>
                  <a:pt x="24144" y="116681"/>
                  <a:pt x="33337" y="116681"/>
                </a:cubicBezTo>
                <a:lnTo>
                  <a:pt x="33337" y="127099"/>
                </a:lnTo>
                <a:cubicBezTo>
                  <a:pt x="33337" y="130563"/>
                  <a:pt x="36124" y="133350"/>
                  <a:pt x="39588" y="133350"/>
                </a:cubicBezTo>
                <a:cubicBezTo>
                  <a:pt x="43052" y="133350"/>
                  <a:pt x="45839" y="130563"/>
                  <a:pt x="45839" y="127099"/>
                </a:cubicBezTo>
                <a:lnTo>
                  <a:pt x="45839" y="116681"/>
                </a:lnTo>
                <a:lnTo>
                  <a:pt x="60424" y="116681"/>
                </a:lnTo>
                <a:lnTo>
                  <a:pt x="60424" y="127099"/>
                </a:lnTo>
                <a:cubicBezTo>
                  <a:pt x="60424" y="130563"/>
                  <a:pt x="63211" y="133350"/>
                  <a:pt x="66675" y="133350"/>
                </a:cubicBezTo>
                <a:cubicBezTo>
                  <a:pt x="70139" y="133350"/>
                  <a:pt x="72926" y="130563"/>
                  <a:pt x="72926" y="127099"/>
                </a:cubicBezTo>
                <a:lnTo>
                  <a:pt x="72926" y="116681"/>
                </a:lnTo>
                <a:lnTo>
                  <a:pt x="87511" y="116681"/>
                </a:lnTo>
                <a:lnTo>
                  <a:pt x="87511" y="127099"/>
                </a:lnTo>
                <a:cubicBezTo>
                  <a:pt x="87511" y="130563"/>
                  <a:pt x="90298" y="133350"/>
                  <a:pt x="93762" y="133350"/>
                </a:cubicBezTo>
                <a:cubicBezTo>
                  <a:pt x="97226" y="133350"/>
                  <a:pt x="100013" y="130563"/>
                  <a:pt x="100013" y="127099"/>
                </a:cubicBezTo>
                <a:lnTo>
                  <a:pt x="100013" y="116681"/>
                </a:lnTo>
                <a:cubicBezTo>
                  <a:pt x="109206" y="116681"/>
                  <a:pt x="116681" y="109206"/>
                  <a:pt x="116681" y="100013"/>
                </a:cubicBezTo>
                <a:lnTo>
                  <a:pt x="127099" y="100013"/>
                </a:lnTo>
                <a:cubicBezTo>
                  <a:pt x="130563" y="100013"/>
                  <a:pt x="133350" y="97226"/>
                  <a:pt x="133350" y="93762"/>
                </a:cubicBezTo>
                <a:cubicBezTo>
                  <a:pt x="133350" y="90298"/>
                  <a:pt x="130563" y="87511"/>
                  <a:pt x="127099" y="87511"/>
                </a:cubicBezTo>
                <a:lnTo>
                  <a:pt x="116681" y="87511"/>
                </a:lnTo>
                <a:lnTo>
                  <a:pt x="116681" y="72926"/>
                </a:lnTo>
                <a:lnTo>
                  <a:pt x="127099" y="72926"/>
                </a:lnTo>
                <a:cubicBezTo>
                  <a:pt x="130563" y="72926"/>
                  <a:pt x="133350" y="70139"/>
                  <a:pt x="133350" y="66675"/>
                </a:cubicBezTo>
                <a:cubicBezTo>
                  <a:pt x="133350" y="63211"/>
                  <a:pt x="130563" y="60424"/>
                  <a:pt x="127099" y="60424"/>
                </a:cubicBezTo>
                <a:lnTo>
                  <a:pt x="116681" y="60424"/>
                </a:lnTo>
                <a:lnTo>
                  <a:pt x="116681" y="45839"/>
                </a:lnTo>
                <a:lnTo>
                  <a:pt x="127099" y="45839"/>
                </a:lnTo>
                <a:cubicBezTo>
                  <a:pt x="130563" y="45839"/>
                  <a:pt x="133350" y="43052"/>
                  <a:pt x="133350" y="39588"/>
                </a:cubicBezTo>
                <a:cubicBezTo>
                  <a:pt x="133350" y="36124"/>
                  <a:pt x="130563" y="33337"/>
                  <a:pt x="127099" y="33337"/>
                </a:cubicBez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100013" y="6251"/>
                </a:lnTo>
                <a:cubicBezTo>
                  <a:pt x="100013" y="2787"/>
                  <a:pt x="97226" y="0"/>
                  <a:pt x="93762" y="0"/>
                </a:cubicBezTo>
                <a:cubicBezTo>
                  <a:pt x="90298" y="0"/>
                  <a:pt x="87511" y="2787"/>
                  <a:pt x="87511" y="6251"/>
                </a:cubicBezTo>
                <a:lnTo>
                  <a:pt x="87511" y="16669"/>
                </a:lnTo>
                <a:lnTo>
                  <a:pt x="72926" y="16669"/>
                </a:lnTo>
                <a:lnTo>
                  <a:pt x="72926" y="6251"/>
                </a:lnTo>
                <a:cubicBezTo>
                  <a:pt x="72926" y="2787"/>
                  <a:pt x="70139" y="0"/>
                  <a:pt x="66675" y="0"/>
                </a:cubicBezTo>
                <a:cubicBezTo>
                  <a:pt x="63211" y="0"/>
                  <a:pt x="60424" y="2787"/>
                  <a:pt x="60424" y="6251"/>
                </a:cubicBezTo>
                <a:lnTo>
                  <a:pt x="60424" y="16669"/>
                </a:lnTo>
                <a:lnTo>
                  <a:pt x="45839" y="16669"/>
                </a:lnTo>
                <a:lnTo>
                  <a:pt x="45839" y="6251"/>
                </a:lnTo>
                <a:close/>
                <a:moveTo>
                  <a:pt x="41672" y="33337"/>
                </a:moveTo>
                <a:lnTo>
                  <a:pt x="91678" y="33337"/>
                </a:lnTo>
                <a:cubicBezTo>
                  <a:pt x="96288" y="33337"/>
                  <a:pt x="100013" y="37062"/>
                  <a:pt x="100013" y="41672"/>
                </a:cubicBezTo>
                <a:lnTo>
                  <a:pt x="100013" y="91678"/>
                </a:lnTo>
                <a:cubicBezTo>
                  <a:pt x="100013" y="96288"/>
                  <a:pt x="96288" y="100013"/>
                  <a:pt x="91678" y="100013"/>
                </a:cubicBezTo>
                <a:lnTo>
                  <a:pt x="41672" y="100013"/>
                </a:lnTo>
                <a:cubicBezTo>
                  <a:pt x="37062" y="100013"/>
                  <a:pt x="33337" y="96288"/>
                  <a:pt x="33337" y="91678"/>
                </a:cubicBezTo>
                <a:lnTo>
                  <a:pt x="33337" y="41672"/>
                </a:lnTo>
                <a:cubicBezTo>
                  <a:pt x="33337" y="37062"/>
                  <a:pt x="37062" y="33337"/>
                  <a:pt x="41672" y="33337"/>
                </a:cubicBezTo>
                <a:close/>
                <a:moveTo>
                  <a:pt x="45839" y="45839"/>
                </a:moveTo>
                <a:lnTo>
                  <a:pt x="45839" y="87511"/>
                </a:lnTo>
                <a:lnTo>
                  <a:pt x="87511" y="87511"/>
                </a:lnTo>
                <a:lnTo>
                  <a:pt x="87511" y="45839"/>
                </a:lnTo>
                <a:lnTo>
                  <a:pt x="45839" y="45839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1" name="Text 29"/>
          <p:cNvSpPr/>
          <p:nvPr/>
        </p:nvSpPr>
        <p:spPr>
          <a:xfrm>
            <a:off x="6453188" y="2560320"/>
            <a:ext cx="2514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 dedicated vCPUs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 task (c6i.4xlarge)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37684" y="285559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3" name="Text 31"/>
          <p:cNvSpPr/>
          <p:nvPr/>
        </p:nvSpPr>
        <p:spPr>
          <a:xfrm>
            <a:off x="6453188" y="282702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Multi-AZ ECS Fargate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auto-replicated, fault-tolerant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9350" y="312229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5" name="Text 33"/>
          <p:cNvSpPr/>
          <p:nvPr/>
        </p:nvSpPr>
        <p:spPr>
          <a:xfrm>
            <a:off x="6453188" y="3093720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Auto-scaling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P99 latency + CPU utilization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29350" y="338899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7475" y="16669"/>
                  <a:pt x="0" y="24144"/>
                  <a:pt x="0" y="33337"/>
                </a:cubicBezTo>
                <a:lnTo>
                  <a:pt x="0" y="35265"/>
                </a:lnTo>
                <a:cubicBezTo>
                  <a:pt x="0" y="37036"/>
                  <a:pt x="1146" y="38546"/>
                  <a:pt x="2631" y="39510"/>
                </a:cubicBezTo>
                <a:cubicBezTo>
                  <a:pt x="6068" y="41750"/>
                  <a:pt x="8334" y="45605"/>
                  <a:pt x="8334" y="50006"/>
                </a:cubicBezTo>
                <a:cubicBezTo>
                  <a:pt x="8334" y="54408"/>
                  <a:pt x="6068" y="58262"/>
                  <a:pt x="2631" y="60502"/>
                </a:cubicBezTo>
                <a:cubicBezTo>
                  <a:pt x="1146" y="61466"/>
                  <a:pt x="0" y="62977"/>
                  <a:pt x="0" y="64748"/>
                </a:cubicBezTo>
                <a:lnTo>
                  <a:pt x="0" y="79177"/>
                </a:lnTo>
                <a:lnTo>
                  <a:pt x="133350" y="79177"/>
                </a:lnTo>
                <a:lnTo>
                  <a:pt x="133350" y="64748"/>
                </a:lnTo>
                <a:cubicBezTo>
                  <a:pt x="133350" y="62977"/>
                  <a:pt x="132204" y="61466"/>
                  <a:pt x="130719" y="60502"/>
                </a:cubicBezTo>
                <a:cubicBezTo>
                  <a:pt x="127282" y="58262"/>
                  <a:pt x="125016" y="54408"/>
                  <a:pt x="125016" y="50006"/>
                </a:cubicBezTo>
                <a:cubicBezTo>
                  <a:pt x="125016" y="45605"/>
                  <a:pt x="127282" y="41750"/>
                  <a:pt x="130719" y="39510"/>
                </a:cubicBezTo>
                <a:cubicBezTo>
                  <a:pt x="132204" y="38546"/>
                  <a:pt x="133350" y="37036"/>
                  <a:pt x="133350" y="35265"/>
                </a:cubicBezTo>
                <a:lnTo>
                  <a:pt x="133350" y="33337"/>
                </a:lnTo>
                <a:cubicBezTo>
                  <a:pt x="133350" y="24144"/>
                  <a:pt x="125875" y="16669"/>
                  <a:pt x="116681" y="16669"/>
                </a:cubicBezTo>
                <a:lnTo>
                  <a:pt x="16669" y="16669"/>
                </a:lnTo>
                <a:close/>
                <a:moveTo>
                  <a:pt x="133350" y="108347"/>
                </a:moveTo>
                <a:lnTo>
                  <a:pt x="133350" y="91678"/>
                </a:lnTo>
                <a:lnTo>
                  <a:pt x="0" y="91678"/>
                </a:lnTo>
                <a:lnTo>
                  <a:pt x="0" y="108347"/>
                </a:lnTo>
                <a:cubicBezTo>
                  <a:pt x="0" y="112957"/>
                  <a:pt x="3724" y="116681"/>
                  <a:pt x="8334" y="116681"/>
                </a:cubicBezTo>
                <a:lnTo>
                  <a:pt x="25003" y="116681"/>
                </a:lnTo>
                <a:lnTo>
                  <a:pt x="25003" y="110430"/>
                </a:lnTo>
                <a:cubicBezTo>
                  <a:pt x="25003" y="106966"/>
                  <a:pt x="27790" y="104180"/>
                  <a:pt x="31254" y="104180"/>
                </a:cubicBezTo>
                <a:cubicBezTo>
                  <a:pt x="34718" y="104180"/>
                  <a:pt x="37505" y="106966"/>
                  <a:pt x="37505" y="110430"/>
                </a:cubicBezTo>
                <a:lnTo>
                  <a:pt x="37505" y="116681"/>
                </a:lnTo>
                <a:lnTo>
                  <a:pt x="60424" y="116681"/>
                </a:lnTo>
                <a:lnTo>
                  <a:pt x="60424" y="110430"/>
                </a:lnTo>
                <a:cubicBezTo>
                  <a:pt x="60424" y="106966"/>
                  <a:pt x="63211" y="104180"/>
                  <a:pt x="66675" y="104180"/>
                </a:cubicBezTo>
                <a:cubicBezTo>
                  <a:pt x="70139" y="104180"/>
                  <a:pt x="72926" y="106966"/>
                  <a:pt x="72926" y="110430"/>
                </a:cubicBezTo>
                <a:lnTo>
                  <a:pt x="72926" y="116681"/>
                </a:lnTo>
                <a:lnTo>
                  <a:pt x="95845" y="116681"/>
                </a:lnTo>
                <a:lnTo>
                  <a:pt x="95845" y="110430"/>
                </a:lnTo>
                <a:cubicBezTo>
                  <a:pt x="95845" y="106966"/>
                  <a:pt x="98632" y="104180"/>
                  <a:pt x="102096" y="104180"/>
                </a:cubicBezTo>
                <a:cubicBezTo>
                  <a:pt x="105560" y="104180"/>
                  <a:pt x="108347" y="106966"/>
                  <a:pt x="108347" y="110430"/>
                </a:cubicBezTo>
                <a:lnTo>
                  <a:pt x="108347" y="116681"/>
                </a:lnTo>
                <a:lnTo>
                  <a:pt x="125016" y="116681"/>
                </a:lnTo>
                <a:cubicBezTo>
                  <a:pt x="129626" y="116681"/>
                  <a:pt x="133350" y="112957"/>
                  <a:pt x="133350" y="108347"/>
                </a:cubicBezTo>
                <a:close/>
                <a:moveTo>
                  <a:pt x="41672" y="41672"/>
                </a:moveTo>
                <a:lnTo>
                  <a:pt x="41672" y="58341"/>
                </a:lnTo>
                <a:cubicBezTo>
                  <a:pt x="41672" y="62951"/>
                  <a:pt x="37947" y="66675"/>
                  <a:pt x="33337" y="66675"/>
                </a:cubicBezTo>
                <a:cubicBezTo>
                  <a:pt x="28728" y="66675"/>
                  <a:pt x="25003" y="62951"/>
                  <a:pt x="25003" y="58341"/>
                </a:cubicBezTo>
                <a:lnTo>
                  <a:pt x="25003" y="41672"/>
                </a:lnTo>
                <a:cubicBezTo>
                  <a:pt x="25003" y="37062"/>
                  <a:pt x="28728" y="33337"/>
                  <a:pt x="33337" y="33337"/>
                </a:cubicBezTo>
                <a:cubicBezTo>
                  <a:pt x="37947" y="33337"/>
                  <a:pt x="41672" y="37062"/>
                  <a:pt x="41672" y="41672"/>
                </a:cubicBezTo>
                <a:close/>
                <a:moveTo>
                  <a:pt x="75009" y="41672"/>
                </a:moveTo>
                <a:lnTo>
                  <a:pt x="75009" y="58341"/>
                </a:lnTo>
                <a:cubicBezTo>
                  <a:pt x="75009" y="62951"/>
                  <a:pt x="71285" y="66675"/>
                  <a:pt x="66675" y="66675"/>
                </a:cubicBezTo>
                <a:cubicBezTo>
                  <a:pt x="62065" y="66675"/>
                  <a:pt x="58341" y="62951"/>
                  <a:pt x="58341" y="58341"/>
                </a:cubicBezTo>
                <a:lnTo>
                  <a:pt x="58341" y="41672"/>
                </a:lnTo>
                <a:cubicBezTo>
                  <a:pt x="58341" y="37062"/>
                  <a:pt x="62065" y="33337"/>
                  <a:pt x="66675" y="33337"/>
                </a:cubicBezTo>
                <a:cubicBezTo>
                  <a:pt x="71285" y="33337"/>
                  <a:pt x="75009" y="37062"/>
                  <a:pt x="75009" y="41672"/>
                </a:cubicBezTo>
                <a:close/>
                <a:moveTo>
                  <a:pt x="108347" y="41672"/>
                </a:moveTo>
                <a:lnTo>
                  <a:pt x="108347" y="58341"/>
                </a:lnTo>
                <a:cubicBezTo>
                  <a:pt x="108347" y="62951"/>
                  <a:pt x="104622" y="66675"/>
                  <a:pt x="100013" y="66675"/>
                </a:cubicBezTo>
                <a:cubicBezTo>
                  <a:pt x="95403" y="66675"/>
                  <a:pt x="91678" y="62951"/>
                  <a:pt x="91678" y="58341"/>
                </a:cubicBezTo>
                <a:lnTo>
                  <a:pt x="91678" y="41672"/>
                </a:lnTo>
                <a:cubicBezTo>
                  <a:pt x="91678" y="37062"/>
                  <a:pt x="95403" y="33337"/>
                  <a:pt x="100013" y="33337"/>
                </a:cubicBezTo>
                <a:cubicBezTo>
                  <a:pt x="104622" y="33337"/>
                  <a:pt x="108347" y="37062"/>
                  <a:pt x="108347" y="41672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7" name="Text 35"/>
          <p:cNvSpPr/>
          <p:nvPr/>
        </p:nvSpPr>
        <p:spPr>
          <a:xfrm>
            <a:off x="6453188" y="336042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Configurable memory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 deployment (32 GB)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29350" y="365569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9" name="Text 37"/>
          <p:cNvSpPr/>
          <p:nvPr/>
        </p:nvSpPr>
        <p:spPr>
          <a:xfrm>
            <a:off x="6453188" y="362712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available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inf2/g5 instances for DL models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21016" y="392239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1" name="Text 39"/>
          <p:cNvSpPr/>
          <p:nvPr/>
        </p:nvSpPr>
        <p:spPr>
          <a:xfrm>
            <a:off x="6453188" y="3893820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ALB + Target Groups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zero port conflicts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1000" y="4541520"/>
            <a:ext cx="3705225" cy="1333500"/>
          </a:xfrm>
          <a:custGeom>
            <a:avLst/>
            <a:gdLst/>
            <a:ahLst/>
            <a:cxnLst/>
            <a:rect l="l" t="t" r="r" b="b"/>
            <a:pathLst>
              <a:path w="3705225" h="1333500">
                <a:moveTo>
                  <a:pt x="114294" y="0"/>
                </a:moveTo>
                <a:lnTo>
                  <a:pt x="3590931" y="0"/>
                </a:lnTo>
                <a:cubicBezTo>
                  <a:pt x="3654011" y="0"/>
                  <a:pt x="3705225" y="51214"/>
                  <a:pt x="3705225" y="114294"/>
                </a:cubicBezTo>
                <a:lnTo>
                  <a:pt x="3705225" y="1219206"/>
                </a:lnTo>
                <a:cubicBezTo>
                  <a:pt x="3705225" y="1282286"/>
                  <a:pt x="3654011" y="1333500"/>
                  <a:pt x="3590931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65D"/>
              </a:gs>
              <a:gs pos="100000">
                <a:srgbClr val="2B6CB0"/>
              </a:gs>
            </a:gsLst>
            <a:lin ang="2700000" scaled="1"/>
          </a:gradFill>
          <a:ln/>
        </p:spPr>
      </p:sp>
      <p:sp>
        <p:nvSpPr>
          <p:cNvPr id="43" name="Shape 41"/>
          <p:cNvSpPr/>
          <p:nvPr/>
        </p:nvSpPr>
        <p:spPr>
          <a:xfrm>
            <a:off x="600075" y="47510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4" name="Text 42"/>
          <p:cNvSpPr/>
          <p:nvPr/>
        </p:nvSpPr>
        <p:spPr>
          <a:xfrm>
            <a:off x="971550" y="4732020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Performance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71500" y="5074920"/>
            <a:ext cx="3495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839 rps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71500" y="5494020"/>
            <a:ext cx="339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shared CPU cores (local)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41721" y="4541520"/>
            <a:ext cx="3705225" cy="1333500"/>
          </a:xfrm>
          <a:custGeom>
            <a:avLst/>
            <a:gdLst/>
            <a:ahLst/>
            <a:cxnLst/>
            <a:rect l="l" t="t" r="r" b="b"/>
            <a:pathLst>
              <a:path w="3705225" h="1333500">
                <a:moveTo>
                  <a:pt x="114294" y="0"/>
                </a:moveTo>
                <a:lnTo>
                  <a:pt x="3590931" y="0"/>
                </a:lnTo>
                <a:cubicBezTo>
                  <a:pt x="3654011" y="0"/>
                  <a:pt x="3705225" y="51214"/>
                  <a:pt x="3705225" y="114294"/>
                </a:cubicBezTo>
                <a:lnTo>
                  <a:pt x="3705225" y="1219206"/>
                </a:lnTo>
                <a:cubicBezTo>
                  <a:pt x="3705225" y="1282286"/>
                  <a:pt x="3654011" y="1333500"/>
                  <a:pt x="3590931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2B6CB0"/>
              </a:gs>
              <a:gs pos="100000">
                <a:srgbClr val="4299E1"/>
              </a:gs>
            </a:gsLst>
            <a:lin ang="2700000" scaled="1"/>
          </a:gradFill>
          <a:ln/>
        </p:spPr>
      </p:sp>
      <p:sp>
        <p:nvSpPr>
          <p:cNvPr id="48" name="Shape 46"/>
          <p:cNvSpPr/>
          <p:nvPr/>
        </p:nvSpPr>
        <p:spPr>
          <a:xfrm>
            <a:off x="4460796" y="475107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832271" y="4732020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Per-Task Throughput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432221" y="5074920"/>
            <a:ext cx="3495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~3,300 rps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432221" y="5494020"/>
            <a:ext cx="339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 vCPUs (linear scaling)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02561" y="4541520"/>
            <a:ext cx="3705225" cy="1333500"/>
          </a:xfrm>
          <a:custGeom>
            <a:avLst/>
            <a:gdLst/>
            <a:ahLst/>
            <a:cxnLst/>
            <a:rect l="l" t="t" r="r" b="b"/>
            <a:pathLst>
              <a:path w="3705225" h="1333500">
                <a:moveTo>
                  <a:pt x="114294" y="0"/>
                </a:moveTo>
                <a:lnTo>
                  <a:pt x="3590931" y="0"/>
                </a:lnTo>
                <a:cubicBezTo>
                  <a:pt x="3654011" y="0"/>
                  <a:pt x="3705225" y="51214"/>
                  <a:pt x="3705225" y="114294"/>
                </a:cubicBezTo>
                <a:lnTo>
                  <a:pt x="3705225" y="1219206"/>
                </a:lnTo>
                <a:cubicBezTo>
                  <a:pt x="3705225" y="1282286"/>
                  <a:pt x="3654011" y="1333500"/>
                  <a:pt x="3590931" y="1333500"/>
                </a:cubicBezTo>
                <a:lnTo>
                  <a:pt x="114294" y="1333500"/>
                </a:lnTo>
                <a:cubicBezTo>
                  <a:pt x="51214" y="1333500"/>
                  <a:pt x="0" y="1282286"/>
                  <a:pt x="0" y="121920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4299E1"/>
              </a:gs>
              <a:gs pos="100000">
                <a:srgbClr val="1A365D"/>
              </a:gs>
            </a:gsLst>
            <a:lin ang="2700000" scaled="1"/>
          </a:gradFill>
          <a:ln/>
        </p:spPr>
      </p:sp>
      <p:sp>
        <p:nvSpPr>
          <p:cNvPr id="53" name="Shape 51"/>
          <p:cNvSpPr/>
          <p:nvPr/>
        </p:nvSpPr>
        <p:spPr>
          <a:xfrm>
            <a:off x="8335923" y="475107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8693111" y="4732020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Scale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93061" y="5074920"/>
            <a:ext cx="3495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66,000 rps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293061" y="5494020"/>
            <a:ext cx="339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tasks, P99 &lt; 50ms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8338" y="460308"/>
            <a:ext cx="36834" cy="294671"/>
          </a:xfrm>
          <a:custGeom>
            <a:avLst/>
            <a:gdLst/>
            <a:ahLst/>
            <a:cxnLst/>
            <a:rect l="l" t="t" r="r" b="b"/>
            <a:pathLst>
              <a:path w="36834" h="294671">
                <a:moveTo>
                  <a:pt x="0" y="0"/>
                </a:moveTo>
                <a:lnTo>
                  <a:pt x="36834" y="0"/>
                </a:lnTo>
                <a:lnTo>
                  <a:pt x="36834" y="294671"/>
                </a:lnTo>
                <a:lnTo>
                  <a:pt x="0" y="294671"/>
                </a:lnTo>
                <a:lnTo>
                  <a:pt x="0" y="0"/>
                </a:ln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515674" y="368338"/>
            <a:ext cx="3296628" cy="14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b="1" spc="44" kern="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5674" y="515559"/>
            <a:ext cx="3379505" cy="33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Architecture Diagram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15674" y="883897"/>
            <a:ext cx="11372447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service flow from client requests through ECS Fargate to observability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8338" y="1215402"/>
            <a:ext cx="11455323" cy="5276447"/>
          </a:xfrm>
          <a:custGeom>
            <a:avLst/>
            <a:gdLst/>
            <a:ahLst/>
            <a:cxnLst/>
            <a:rect l="l" t="t" r="r" b="b"/>
            <a:pathLst>
              <a:path w="11455323" h="5276447">
                <a:moveTo>
                  <a:pt x="110489" y="0"/>
                </a:moveTo>
                <a:lnTo>
                  <a:pt x="11344834" y="0"/>
                </a:lnTo>
                <a:cubicBezTo>
                  <a:pt x="11405856" y="0"/>
                  <a:pt x="11455323" y="49468"/>
                  <a:pt x="11455323" y="110489"/>
                </a:cubicBezTo>
                <a:lnTo>
                  <a:pt x="11455323" y="5165958"/>
                </a:lnTo>
                <a:cubicBezTo>
                  <a:pt x="11455323" y="5226980"/>
                  <a:pt x="11405856" y="5276447"/>
                  <a:pt x="11344834" y="5276447"/>
                </a:cubicBezTo>
                <a:lnTo>
                  <a:pt x="110489" y="5276447"/>
                </a:lnTo>
                <a:cubicBezTo>
                  <a:pt x="49468" y="5276447"/>
                  <a:pt x="0" y="5226980"/>
                  <a:pt x="0" y="5165958"/>
                </a:cubicBezTo>
                <a:lnTo>
                  <a:pt x="0" y="110489"/>
                </a:lnTo>
                <a:cubicBezTo>
                  <a:pt x="0" y="49468"/>
                  <a:pt x="49468" y="0"/>
                  <a:pt x="1104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8127" dist="92085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2508" y="1399571"/>
            <a:ext cx="7090514" cy="552508"/>
          </a:xfrm>
          <a:custGeom>
            <a:avLst/>
            <a:gdLst/>
            <a:ahLst/>
            <a:cxnLst/>
            <a:rect l="l" t="t" r="r" b="b"/>
            <a:pathLst>
              <a:path w="7090514" h="552508">
                <a:moveTo>
                  <a:pt x="73666" y="0"/>
                </a:moveTo>
                <a:lnTo>
                  <a:pt x="7016848" y="0"/>
                </a:lnTo>
                <a:cubicBezTo>
                  <a:pt x="7057532" y="0"/>
                  <a:pt x="7090514" y="32981"/>
                  <a:pt x="7090514" y="73666"/>
                </a:cubicBezTo>
                <a:lnTo>
                  <a:pt x="7090514" y="478842"/>
                </a:lnTo>
                <a:cubicBezTo>
                  <a:pt x="7090514" y="519526"/>
                  <a:pt x="7057532" y="552508"/>
                  <a:pt x="7016848" y="552508"/>
                </a:cubicBezTo>
                <a:lnTo>
                  <a:pt x="73666" y="552508"/>
                </a:lnTo>
                <a:cubicBezTo>
                  <a:pt x="33009" y="552508"/>
                  <a:pt x="0" y="519499"/>
                  <a:pt x="0" y="478842"/>
                </a:cubicBezTo>
                <a:lnTo>
                  <a:pt x="0" y="73666"/>
                </a:lnTo>
                <a:cubicBezTo>
                  <a:pt x="0" y="32981"/>
                  <a:pt x="32981" y="0"/>
                  <a:pt x="73666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65D"/>
              </a:gs>
              <a:gs pos="100000">
                <a:srgbClr val="2B6CB0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665311" y="1592834"/>
            <a:ext cx="207190" cy="165752"/>
          </a:xfrm>
          <a:custGeom>
            <a:avLst/>
            <a:gdLst/>
            <a:ahLst/>
            <a:cxnLst/>
            <a:rect l="l" t="t" r="r" b="b"/>
            <a:pathLst>
              <a:path w="207190" h="165752">
                <a:moveTo>
                  <a:pt x="103595" y="5180"/>
                </a:moveTo>
                <a:cubicBezTo>
                  <a:pt x="122177" y="5180"/>
                  <a:pt x="137264" y="20266"/>
                  <a:pt x="137264" y="38848"/>
                </a:cubicBezTo>
                <a:cubicBezTo>
                  <a:pt x="137264" y="57430"/>
                  <a:pt x="122177" y="72517"/>
                  <a:pt x="103595" y="72517"/>
                </a:cubicBezTo>
                <a:cubicBezTo>
                  <a:pt x="85013" y="72517"/>
                  <a:pt x="69927" y="57430"/>
                  <a:pt x="69927" y="38848"/>
                </a:cubicBezTo>
                <a:cubicBezTo>
                  <a:pt x="69927" y="20266"/>
                  <a:pt x="85013" y="5180"/>
                  <a:pt x="103595" y="5180"/>
                </a:cubicBezTo>
                <a:close/>
                <a:moveTo>
                  <a:pt x="31079" y="28489"/>
                </a:moveTo>
                <a:cubicBezTo>
                  <a:pt x="43943" y="28489"/>
                  <a:pt x="54387" y="38933"/>
                  <a:pt x="54387" y="51798"/>
                </a:cubicBezTo>
                <a:cubicBezTo>
                  <a:pt x="54387" y="64662"/>
                  <a:pt x="43943" y="75106"/>
                  <a:pt x="31079" y="75106"/>
                </a:cubicBezTo>
                <a:cubicBezTo>
                  <a:pt x="18214" y="75106"/>
                  <a:pt x="7770" y="64662"/>
                  <a:pt x="7770" y="51798"/>
                </a:cubicBezTo>
                <a:cubicBezTo>
                  <a:pt x="7770" y="38933"/>
                  <a:pt x="18214" y="28489"/>
                  <a:pt x="31079" y="28489"/>
                </a:cubicBezTo>
                <a:close/>
                <a:moveTo>
                  <a:pt x="0" y="134674"/>
                </a:moveTo>
                <a:cubicBezTo>
                  <a:pt x="0" y="111786"/>
                  <a:pt x="18550" y="93236"/>
                  <a:pt x="41438" y="93236"/>
                </a:cubicBezTo>
                <a:cubicBezTo>
                  <a:pt x="45582" y="93236"/>
                  <a:pt x="49596" y="93851"/>
                  <a:pt x="53384" y="94984"/>
                </a:cubicBezTo>
                <a:cubicBezTo>
                  <a:pt x="42733" y="106897"/>
                  <a:pt x="36258" y="122631"/>
                  <a:pt x="36258" y="139853"/>
                </a:cubicBezTo>
                <a:lnTo>
                  <a:pt x="36258" y="145033"/>
                </a:lnTo>
                <a:cubicBezTo>
                  <a:pt x="36258" y="148724"/>
                  <a:pt x="37035" y="152220"/>
                  <a:pt x="38427" y="155393"/>
                </a:cubicBezTo>
                <a:lnTo>
                  <a:pt x="10360" y="155393"/>
                </a:lnTo>
                <a:cubicBezTo>
                  <a:pt x="4629" y="155393"/>
                  <a:pt x="0" y="150763"/>
                  <a:pt x="0" y="145033"/>
                </a:cubicBezTo>
                <a:lnTo>
                  <a:pt x="0" y="134674"/>
                </a:lnTo>
                <a:close/>
                <a:moveTo>
                  <a:pt x="168763" y="155393"/>
                </a:moveTo>
                <a:cubicBezTo>
                  <a:pt x="170155" y="152220"/>
                  <a:pt x="170932" y="148724"/>
                  <a:pt x="170932" y="145033"/>
                </a:cubicBezTo>
                <a:lnTo>
                  <a:pt x="170932" y="139853"/>
                </a:lnTo>
                <a:cubicBezTo>
                  <a:pt x="170932" y="122631"/>
                  <a:pt x="164457" y="106897"/>
                  <a:pt x="153806" y="94984"/>
                </a:cubicBezTo>
                <a:cubicBezTo>
                  <a:pt x="157594" y="93851"/>
                  <a:pt x="161608" y="93236"/>
                  <a:pt x="165752" y="93236"/>
                </a:cubicBezTo>
                <a:cubicBezTo>
                  <a:pt x="188640" y="93236"/>
                  <a:pt x="207190" y="111786"/>
                  <a:pt x="207190" y="134674"/>
                </a:cubicBezTo>
                <a:lnTo>
                  <a:pt x="207190" y="145033"/>
                </a:lnTo>
                <a:cubicBezTo>
                  <a:pt x="207190" y="150763"/>
                  <a:pt x="202561" y="155393"/>
                  <a:pt x="196831" y="155393"/>
                </a:cubicBezTo>
                <a:lnTo>
                  <a:pt x="168763" y="155393"/>
                </a:lnTo>
                <a:close/>
                <a:moveTo>
                  <a:pt x="152803" y="51798"/>
                </a:moveTo>
                <a:cubicBezTo>
                  <a:pt x="152803" y="38933"/>
                  <a:pt x="163247" y="28489"/>
                  <a:pt x="176112" y="28489"/>
                </a:cubicBezTo>
                <a:cubicBezTo>
                  <a:pt x="188976" y="28489"/>
                  <a:pt x="199421" y="38933"/>
                  <a:pt x="199421" y="51798"/>
                </a:cubicBezTo>
                <a:cubicBezTo>
                  <a:pt x="199421" y="64662"/>
                  <a:pt x="188976" y="75106"/>
                  <a:pt x="176112" y="75106"/>
                </a:cubicBezTo>
                <a:cubicBezTo>
                  <a:pt x="163247" y="75106"/>
                  <a:pt x="152803" y="64662"/>
                  <a:pt x="152803" y="51798"/>
                </a:cubicBezTo>
                <a:close/>
                <a:moveTo>
                  <a:pt x="51798" y="139853"/>
                </a:moveTo>
                <a:cubicBezTo>
                  <a:pt x="51798" y="111235"/>
                  <a:pt x="74977" y="88056"/>
                  <a:pt x="103595" y="88056"/>
                </a:cubicBezTo>
                <a:cubicBezTo>
                  <a:pt x="132213" y="88056"/>
                  <a:pt x="155393" y="111235"/>
                  <a:pt x="155393" y="139853"/>
                </a:cubicBezTo>
                <a:lnTo>
                  <a:pt x="155393" y="145033"/>
                </a:lnTo>
                <a:cubicBezTo>
                  <a:pt x="155393" y="150763"/>
                  <a:pt x="150763" y="155393"/>
                  <a:pt x="145033" y="155393"/>
                </a:cubicBezTo>
                <a:lnTo>
                  <a:pt x="62157" y="155393"/>
                </a:lnTo>
                <a:cubicBezTo>
                  <a:pt x="56427" y="155393"/>
                  <a:pt x="51798" y="150763"/>
                  <a:pt x="51798" y="145033"/>
                </a:cubicBezTo>
                <a:lnTo>
                  <a:pt x="51798" y="13985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80701" y="1510073"/>
            <a:ext cx="1510187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Clients / Trading Platform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0701" y="1694242"/>
            <a:ext cx="1500979" cy="14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E2E8F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 requests via HTTPS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31276" y="1565323"/>
            <a:ext cx="497257" cy="221003"/>
          </a:xfrm>
          <a:custGeom>
            <a:avLst/>
            <a:gdLst/>
            <a:ahLst/>
            <a:cxnLst/>
            <a:rect l="l" t="t" r="r" b="b"/>
            <a:pathLst>
              <a:path w="497257" h="221003">
                <a:moveTo>
                  <a:pt x="36835" y="0"/>
                </a:moveTo>
                <a:lnTo>
                  <a:pt x="460422" y="0"/>
                </a:lnTo>
                <a:cubicBezTo>
                  <a:pt x="480765" y="0"/>
                  <a:pt x="497257" y="16491"/>
                  <a:pt x="497257" y="36835"/>
                </a:cubicBezTo>
                <a:lnTo>
                  <a:pt x="497257" y="184168"/>
                </a:lnTo>
                <a:cubicBezTo>
                  <a:pt x="497257" y="204512"/>
                  <a:pt x="480765" y="221003"/>
                  <a:pt x="460422" y="221003"/>
                </a:cubicBezTo>
                <a:lnTo>
                  <a:pt x="36835" y="221003"/>
                </a:lnTo>
                <a:cubicBezTo>
                  <a:pt x="16505" y="221003"/>
                  <a:pt x="0" y="204498"/>
                  <a:pt x="0" y="184168"/>
                </a:cubicBezTo>
                <a:lnTo>
                  <a:pt x="0" y="36835"/>
                </a:lnTo>
                <a:cubicBezTo>
                  <a:pt x="0" y="16505"/>
                  <a:pt x="16505" y="0"/>
                  <a:pt x="3683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331276" y="1565323"/>
            <a:ext cx="552508" cy="221003"/>
          </a:xfrm>
          <a:prstGeom prst="rect">
            <a:avLst/>
          </a:prstGeom>
          <a:noFill/>
          <a:ln/>
        </p:spPr>
        <p:txBody>
          <a:bodyPr wrap="square" lIns="73668" tIns="36834" rIns="73668" bIns="36834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 1.3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04848" y="1565323"/>
            <a:ext cx="626175" cy="221003"/>
          </a:xfrm>
          <a:custGeom>
            <a:avLst/>
            <a:gdLst/>
            <a:ahLst/>
            <a:cxnLst/>
            <a:rect l="l" t="t" r="r" b="b"/>
            <a:pathLst>
              <a:path w="626175" h="221003">
                <a:moveTo>
                  <a:pt x="36835" y="0"/>
                </a:moveTo>
                <a:lnTo>
                  <a:pt x="589341" y="0"/>
                </a:lnTo>
                <a:cubicBezTo>
                  <a:pt x="609684" y="0"/>
                  <a:pt x="626175" y="16491"/>
                  <a:pt x="626175" y="36835"/>
                </a:cubicBezTo>
                <a:lnTo>
                  <a:pt x="626175" y="184168"/>
                </a:lnTo>
                <a:cubicBezTo>
                  <a:pt x="626175" y="204512"/>
                  <a:pt x="609684" y="221003"/>
                  <a:pt x="589341" y="221003"/>
                </a:cubicBezTo>
                <a:lnTo>
                  <a:pt x="36835" y="221003"/>
                </a:lnTo>
                <a:cubicBezTo>
                  <a:pt x="16505" y="221003"/>
                  <a:pt x="0" y="204498"/>
                  <a:pt x="0" y="184168"/>
                </a:cubicBezTo>
                <a:lnTo>
                  <a:pt x="0" y="36835"/>
                </a:lnTo>
                <a:cubicBezTo>
                  <a:pt x="0" y="16505"/>
                  <a:pt x="16505" y="0"/>
                  <a:pt x="3683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904848" y="1565323"/>
            <a:ext cx="681426" cy="221003"/>
          </a:xfrm>
          <a:prstGeom prst="rect">
            <a:avLst/>
          </a:prstGeom>
          <a:noFill/>
          <a:ln/>
        </p:spPr>
        <p:txBody>
          <a:bodyPr wrap="square" lIns="73668" tIns="36834" rIns="73668" bIns="36834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JSON API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37334" y="2062466"/>
            <a:ext cx="124314" cy="165752"/>
          </a:xfrm>
          <a:custGeom>
            <a:avLst/>
            <a:gdLst/>
            <a:ahLst/>
            <a:cxnLst/>
            <a:rect l="l" t="t" r="r" b="b"/>
            <a:pathLst>
              <a:path w="124314" h="165752">
                <a:moveTo>
                  <a:pt x="54841" y="162709"/>
                </a:moveTo>
                <a:cubicBezTo>
                  <a:pt x="58887" y="166756"/>
                  <a:pt x="65459" y="166756"/>
                  <a:pt x="69506" y="162709"/>
                </a:cubicBezTo>
                <a:lnTo>
                  <a:pt x="121303" y="110912"/>
                </a:lnTo>
                <a:cubicBezTo>
                  <a:pt x="125350" y="106865"/>
                  <a:pt x="125350" y="100293"/>
                  <a:pt x="121303" y="96246"/>
                </a:cubicBezTo>
                <a:cubicBezTo>
                  <a:pt x="117257" y="92200"/>
                  <a:pt x="110685" y="92200"/>
                  <a:pt x="106638" y="96246"/>
                </a:cubicBezTo>
                <a:lnTo>
                  <a:pt x="72517" y="130368"/>
                </a:lnTo>
                <a:lnTo>
                  <a:pt x="72517" y="10360"/>
                </a:lnTo>
                <a:cubicBezTo>
                  <a:pt x="72517" y="4629"/>
                  <a:pt x="67887" y="0"/>
                  <a:pt x="62157" y="0"/>
                </a:cubicBezTo>
                <a:cubicBezTo>
                  <a:pt x="56427" y="0"/>
                  <a:pt x="51798" y="4629"/>
                  <a:pt x="51798" y="10360"/>
                </a:cubicBezTo>
                <a:lnTo>
                  <a:pt x="51798" y="130368"/>
                </a:lnTo>
                <a:lnTo>
                  <a:pt x="17676" y="96246"/>
                </a:lnTo>
                <a:cubicBezTo>
                  <a:pt x="13629" y="92200"/>
                  <a:pt x="7057" y="92200"/>
                  <a:pt x="3011" y="96246"/>
                </a:cubicBezTo>
                <a:cubicBezTo>
                  <a:pt x="-1036" y="100293"/>
                  <a:pt x="-1036" y="106865"/>
                  <a:pt x="3011" y="110912"/>
                </a:cubicBezTo>
                <a:lnTo>
                  <a:pt x="54808" y="162709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874" y="2346086"/>
            <a:ext cx="3477114" cy="604075"/>
          </a:xfrm>
          <a:custGeom>
            <a:avLst/>
            <a:gdLst/>
            <a:ahLst/>
            <a:cxnLst/>
            <a:rect l="l" t="t" r="r" b="b"/>
            <a:pathLst>
              <a:path w="3477114" h="604075">
                <a:moveTo>
                  <a:pt x="73667" y="0"/>
                </a:moveTo>
                <a:lnTo>
                  <a:pt x="3403447" y="0"/>
                </a:lnTo>
                <a:cubicBezTo>
                  <a:pt x="3444132" y="0"/>
                  <a:pt x="3477114" y="32982"/>
                  <a:pt x="3477114" y="73667"/>
                </a:cubicBezTo>
                <a:lnTo>
                  <a:pt x="3477114" y="530408"/>
                </a:lnTo>
                <a:cubicBezTo>
                  <a:pt x="3477114" y="571093"/>
                  <a:pt x="3444132" y="604075"/>
                  <a:pt x="3403447" y="604075"/>
                </a:cubicBezTo>
                <a:lnTo>
                  <a:pt x="73667" y="604075"/>
                </a:lnTo>
                <a:cubicBezTo>
                  <a:pt x="32982" y="604075"/>
                  <a:pt x="0" y="571093"/>
                  <a:pt x="0" y="530408"/>
                </a:cubicBezTo>
                <a:lnTo>
                  <a:pt x="0" y="73667"/>
                </a:lnTo>
                <a:cubicBezTo>
                  <a:pt x="0" y="32982"/>
                  <a:pt x="32982" y="0"/>
                  <a:pt x="73667" y="0"/>
                </a:cubicBezTo>
                <a:close/>
              </a:path>
            </a:pathLst>
          </a:custGeom>
          <a:solidFill>
            <a:srgbClr val="2B6CB0">
              <a:alpha val="10196"/>
            </a:srgbClr>
          </a:solidFill>
          <a:ln w="20320">
            <a:solidFill>
              <a:srgbClr val="2B6C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6160" y="2482370"/>
            <a:ext cx="147335" cy="147335"/>
          </a:xfrm>
          <a:custGeom>
            <a:avLst/>
            <a:gdLst/>
            <a:ahLst/>
            <a:cxnLst/>
            <a:rect l="l" t="t" r="r" b="b"/>
            <a:pathLst>
              <a:path w="147335" h="147335">
                <a:moveTo>
                  <a:pt x="73668" y="0"/>
                </a:moveTo>
                <a:cubicBezTo>
                  <a:pt x="74991" y="0"/>
                  <a:pt x="76315" y="288"/>
                  <a:pt x="77524" y="835"/>
                </a:cubicBezTo>
                <a:lnTo>
                  <a:pt x="131739" y="23827"/>
                </a:lnTo>
                <a:cubicBezTo>
                  <a:pt x="138069" y="26503"/>
                  <a:pt x="142789" y="32748"/>
                  <a:pt x="142760" y="40287"/>
                </a:cubicBezTo>
                <a:cubicBezTo>
                  <a:pt x="142616" y="68833"/>
                  <a:pt x="130875" y="121062"/>
                  <a:pt x="81293" y="144803"/>
                </a:cubicBezTo>
                <a:cubicBezTo>
                  <a:pt x="76488" y="147105"/>
                  <a:pt x="70905" y="147105"/>
                  <a:pt x="66099" y="144803"/>
                </a:cubicBezTo>
                <a:cubicBezTo>
                  <a:pt x="16489" y="121062"/>
                  <a:pt x="4777" y="68833"/>
                  <a:pt x="4633" y="40287"/>
                </a:cubicBezTo>
                <a:cubicBezTo>
                  <a:pt x="4604" y="32748"/>
                  <a:pt x="9324" y="26503"/>
                  <a:pt x="15654" y="23827"/>
                </a:cubicBezTo>
                <a:lnTo>
                  <a:pt x="69840" y="835"/>
                </a:lnTo>
                <a:cubicBezTo>
                  <a:pt x="71049" y="288"/>
                  <a:pt x="72344" y="0"/>
                  <a:pt x="73668" y="0"/>
                </a:cubicBezTo>
                <a:close/>
                <a:moveTo>
                  <a:pt x="73668" y="19223"/>
                </a:moveTo>
                <a:lnTo>
                  <a:pt x="73668" y="128026"/>
                </a:lnTo>
                <a:cubicBezTo>
                  <a:pt x="113379" y="108804"/>
                  <a:pt x="124055" y="66215"/>
                  <a:pt x="124314" y="40719"/>
                </a:cubicBezTo>
                <a:lnTo>
                  <a:pt x="73668" y="19251"/>
                </a:lnTo>
                <a:lnTo>
                  <a:pt x="73668" y="19251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935579" y="2463953"/>
            <a:ext cx="773511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7743" y="2684956"/>
            <a:ext cx="3296628" cy="14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Optional: throttle, WAF, auth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59806" y="2346086"/>
            <a:ext cx="3477114" cy="604075"/>
          </a:xfrm>
          <a:custGeom>
            <a:avLst/>
            <a:gdLst/>
            <a:ahLst/>
            <a:cxnLst/>
            <a:rect l="l" t="t" r="r" b="b"/>
            <a:pathLst>
              <a:path w="3477114" h="604075">
                <a:moveTo>
                  <a:pt x="73667" y="0"/>
                </a:moveTo>
                <a:lnTo>
                  <a:pt x="3403447" y="0"/>
                </a:lnTo>
                <a:cubicBezTo>
                  <a:pt x="3444132" y="0"/>
                  <a:pt x="3477114" y="32982"/>
                  <a:pt x="3477114" y="73667"/>
                </a:cubicBezTo>
                <a:lnTo>
                  <a:pt x="3477114" y="530408"/>
                </a:lnTo>
                <a:cubicBezTo>
                  <a:pt x="3477114" y="571093"/>
                  <a:pt x="3444132" y="604075"/>
                  <a:pt x="3403447" y="604075"/>
                </a:cubicBezTo>
                <a:lnTo>
                  <a:pt x="73667" y="604075"/>
                </a:lnTo>
                <a:cubicBezTo>
                  <a:pt x="32982" y="604075"/>
                  <a:pt x="0" y="571093"/>
                  <a:pt x="0" y="530408"/>
                </a:cubicBezTo>
                <a:lnTo>
                  <a:pt x="0" y="73667"/>
                </a:lnTo>
                <a:cubicBezTo>
                  <a:pt x="0" y="32982"/>
                  <a:pt x="32982" y="0"/>
                  <a:pt x="73667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 w="20320">
            <a:solidFill>
              <a:srgbClr val="4299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86883" y="2482370"/>
            <a:ext cx="165752" cy="147335"/>
          </a:xfrm>
          <a:custGeom>
            <a:avLst/>
            <a:gdLst/>
            <a:ahLst/>
            <a:cxnLst/>
            <a:rect l="l" t="t" r="r" b="b"/>
            <a:pathLst>
              <a:path w="165752" h="147335">
                <a:moveTo>
                  <a:pt x="71366" y="25323"/>
                </a:moveTo>
                <a:lnTo>
                  <a:pt x="94387" y="25323"/>
                </a:lnTo>
                <a:lnTo>
                  <a:pt x="94387" y="39136"/>
                </a:lnTo>
                <a:lnTo>
                  <a:pt x="71366" y="39136"/>
                </a:lnTo>
                <a:lnTo>
                  <a:pt x="71366" y="25323"/>
                </a:lnTo>
                <a:close/>
                <a:moveTo>
                  <a:pt x="69063" y="9208"/>
                </a:moveTo>
                <a:cubicBezTo>
                  <a:pt x="61438" y="9208"/>
                  <a:pt x="55251" y="15395"/>
                  <a:pt x="55251" y="23021"/>
                </a:cubicBezTo>
                <a:lnTo>
                  <a:pt x="55251" y="41438"/>
                </a:lnTo>
                <a:cubicBezTo>
                  <a:pt x="55251" y="49064"/>
                  <a:pt x="61438" y="55251"/>
                  <a:pt x="69063" y="55251"/>
                </a:cubicBezTo>
                <a:lnTo>
                  <a:pt x="73668" y="55251"/>
                </a:lnTo>
                <a:lnTo>
                  <a:pt x="73668" y="64459"/>
                </a:lnTo>
                <a:lnTo>
                  <a:pt x="9208" y="64459"/>
                </a:lnTo>
                <a:cubicBezTo>
                  <a:pt x="4115" y="64459"/>
                  <a:pt x="0" y="68574"/>
                  <a:pt x="0" y="73668"/>
                </a:cubicBezTo>
                <a:cubicBezTo>
                  <a:pt x="0" y="78761"/>
                  <a:pt x="4115" y="82876"/>
                  <a:pt x="9208" y="82876"/>
                </a:cubicBezTo>
                <a:lnTo>
                  <a:pt x="36834" y="82876"/>
                </a:lnTo>
                <a:lnTo>
                  <a:pt x="36834" y="92085"/>
                </a:lnTo>
                <a:lnTo>
                  <a:pt x="32230" y="92085"/>
                </a:lnTo>
                <a:cubicBezTo>
                  <a:pt x="24604" y="92085"/>
                  <a:pt x="18417" y="98272"/>
                  <a:pt x="18417" y="105897"/>
                </a:cubicBezTo>
                <a:lnTo>
                  <a:pt x="18417" y="124314"/>
                </a:lnTo>
                <a:cubicBezTo>
                  <a:pt x="18417" y="131940"/>
                  <a:pt x="24604" y="138127"/>
                  <a:pt x="32230" y="138127"/>
                </a:cubicBezTo>
                <a:lnTo>
                  <a:pt x="59855" y="138127"/>
                </a:lnTo>
                <a:cubicBezTo>
                  <a:pt x="67481" y="138127"/>
                  <a:pt x="73668" y="131940"/>
                  <a:pt x="73668" y="124314"/>
                </a:cubicBezTo>
                <a:lnTo>
                  <a:pt x="73668" y="105897"/>
                </a:lnTo>
                <a:cubicBezTo>
                  <a:pt x="73668" y="98272"/>
                  <a:pt x="67481" y="92085"/>
                  <a:pt x="59855" y="92085"/>
                </a:cubicBezTo>
                <a:lnTo>
                  <a:pt x="55251" y="92085"/>
                </a:lnTo>
                <a:lnTo>
                  <a:pt x="55251" y="82876"/>
                </a:lnTo>
                <a:lnTo>
                  <a:pt x="110502" y="82876"/>
                </a:lnTo>
                <a:lnTo>
                  <a:pt x="110502" y="92085"/>
                </a:lnTo>
                <a:lnTo>
                  <a:pt x="105897" y="92085"/>
                </a:lnTo>
                <a:cubicBezTo>
                  <a:pt x="98272" y="92085"/>
                  <a:pt x="92085" y="98272"/>
                  <a:pt x="92085" y="105897"/>
                </a:cubicBezTo>
                <a:lnTo>
                  <a:pt x="92085" y="124314"/>
                </a:lnTo>
                <a:cubicBezTo>
                  <a:pt x="92085" y="131940"/>
                  <a:pt x="98272" y="138127"/>
                  <a:pt x="105897" y="138127"/>
                </a:cubicBezTo>
                <a:lnTo>
                  <a:pt x="133523" y="138127"/>
                </a:lnTo>
                <a:cubicBezTo>
                  <a:pt x="141148" y="138127"/>
                  <a:pt x="147335" y="131940"/>
                  <a:pt x="147335" y="124314"/>
                </a:cubicBezTo>
                <a:lnTo>
                  <a:pt x="147335" y="105897"/>
                </a:lnTo>
                <a:cubicBezTo>
                  <a:pt x="147335" y="98272"/>
                  <a:pt x="141148" y="92085"/>
                  <a:pt x="133523" y="92085"/>
                </a:cubicBezTo>
                <a:lnTo>
                  <a:pt x="128918" y="92085"/>
                </a:lnTo>
                <a:lnTo>
                  <a:pt x="128918" y="82876"/>
                </a:lnTo>
                <a:lnTo>
                  <a:pt x="156544" y="82876"/>
                </a:lnTo>
                <a:cubicBezTo>
                  <a:pt x="161637" y="82876"/>
                  <a:pt x="165752" y="78761"/>
                  <a:pt x="165752" y="73668"/>
                </a:cubicBezTo>
                <a:cubicBezTo>
                  <a:pt x="165752" y="68574"/>
                  <a:pt x="161637" y="64459"/>
                  <a:pt x="156544" y="64459"/>
                </a:cubicBezTo>
                <a:lnTo>
                  <a:pt x="92085" y="64459"/>
                </a:lnTo>
                <a:lnTo>
                  <a:pt x="92085" y="55251"/>
                </a:lnTo>
                <a:lnTo>
                  <a:pt x="96689" y="55251"/>
                </a:lnTo>
                <a:cubicBezTo>
                  <a:pt x="104315" y="55251"/>
                  <a:pt x="110502" y="49064"/>
                  <a:pt x="110502" y="41438"/>
                </a:cubicBezTo>
                <a:lnTo>
                  <a:pt x="110502" y="23021"/>
                </a:lnTo>
                <a:cubicBezTo>
                  <a:pt x="110502" y="15395"/>
                  <a:pt x="104315" y="9208"/>
                  <a:pt x="96689" y="9208"/>
                </a:cubicBezTo>
                <a:lnTo>
                  <a:pt x="69063" y="9208"/>
                </a:lnTo>
                <a:close/>
                <a:moveTo>
                  <a:pt x="128918" y="108199"/>
                </a:moveTo>
                <a:lnTo>
                  <a:pt x="131221" y="108199"/>
                </a:lnTo>
                <a:lnTo>
                  <a:pt x="131221" y="122012"/>
                </a:lnTo>
                <a:lnTo>
                  <a:pt x="108199" y="122012"/>
                </a:lnTo>
                <a:lnTo>
                  <a:pt x="108199" y="108199"/>
                </a:lnTo>
                <a:lnTo>
                  <a:pt x="128918" y="108199"/>
                </a:lnTo>
                <a:close/>
                <a:moveTo>
                  <a:pt x="55251" y="108199"/>
                </a:moveTo>
                <a:lnTo>
                  <a:pt x="57553" y="108199"/>
                </a:lnTo>
                <a:lnTo>
                  <a:pt x="57553" y="122012"/>
                </a:lnTo>
                <a:lnTo>
                  <a:pt x="34532" y="122012"/>
                </a:lnTo>
                <a:lnTo>
                  <a:pt x="34532" y="108199"/>
                </a:lnTo>
                <a:lnTo>
                  <a:pt x="55251" y="108199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2" name="Text 20"/>
          <p:cNvSpPr/>
          <p:nvPr/>
        </p:nvSpPr>
        <p:spPr>
          <a:xfrm>
            <a:off x="4535512" y="2463953"/>
            <a:ext cx="1510187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Load Balancer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77675" y="2684956"/>
            <a:ext cx="3296628" cy="14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 termination, health checks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37334" y="3067914"/>
            <a:ext cx="124314" cy="165752"/>
          </a:xfrm>
          <a:custGeom>
            <a:avLst/>
            <a:gdLst/>
            <a:ahLst/>
            <a:cxnLst/>
            <a:rect l="l" t="t" r="r" b="b"/>
            <a:pathLst>
              <a:path w="124314" h="165752">
                <a:moveTo>
                  <a:pt x="54841" y="162709"/>
                </a:moveTo>
                <a:cubicBezTo>
                  <a:pt x="58887" y="166756"/>
                  <a:pt x="65459" y="166756"/>
                  <a:pt x="69506" y="162709"/>
                </a:cubicBezTo>
                <a:lnTo>
                  <a:pt x="121303" y="110912"/>
                </a:lnTo>
                <a:cubicBezTo>
                  <a:pt x="125350" y="106865"/>
                  <a:pt x="125350" y="100293"/>
                  <a:pt x="121303" y="96246"/>
                </a:cubicBezTo>
                <a:cubicBezTo>
                  <a:pt x="117257" y="92200"/>
                  <a:pt x="110685" y="92200"/>
                  <a:pt x="106638" y="96246"/>
                </a:cubicBezTo>
                <a:lnTo>
                  <a:pt x="72517" y="130368"/>
                </a:lnTo>
                <a:lnTo>
                  <a:pt x="72517" y="10360"/>
                </a:lnTo>
                <a:cubicBezTo>
                  <a:pt x="72517" y="4629"/>
                  <a:pt x="67887" y="0"/>
                  <a:pt x="62157" y="0"/>
                </a:cubicBezTo>
                <a:cubicBezTo>
                  <a:pt x="56427" y="0"/>
                  <a:pt x="51798" y="4629"/>
                  <a:pt x="51798" y="10360"/>
                </a:cubicBezTo>
                <a:lnTo>
                  <a:pt x="51798" y="130368"/>
                </a:lnTo>
                <a:lnTo>
                  <a:pt x="17676" y="96246"/>
                </a:lnTo>
                <a:cubicBezTo>
                  <a:pt x="13629" y="92200"/>
                  <a:pt x="7057" y="92200"/>
                  <a:pt x="3011" y="96246"/>
                </a:cubicBezTo>
                <a:cubicBezTo>
                  <a:pt x="-1036" y="100293"/>
                  <a:pt x="-1036" y="106865"/>
                  <a:pt x="3011" y="110912"/>
                </a:cubicBezTo>
                <a:lnTo>
                  <a:pt x="54808" y="162709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5" name="Shape 23"/>
          <p:cNvSpPr/>
          <p:nvPr/>
        </p:nvSpPr>
        <p:spPr>
          <a:xfrm>
            <a:off x="552508" y="3344168"/>
            <a:ext cx="7090514" cy="2965124"/>
          </a:xfrm>
          <a:custGeom>
            <a:avLst/>
            <a:gdLst/>
            <a:ahLst/>
            <a:cxnLst/>
            <a:rect l="l" t="t" r="r" b="b"/>
            <a:pathLst>
              <a:path w="7090514" h="2965124">
                <a:moveTo>
                  <a:pt x="73654" y="0"/>
                </a:moveTo>
                <a:lnTo>
                  <a:pt x="7016860" y="0"/>
                </a:lnTo>
                <a:cubicBezTo>
                  <a:pt x="7057538" y="0"/>
                  <a:pt x="7090514" y="32976"/>
                  <a:pt x="7090514" y="73654"/>
                </a:cubicBezTo>
                <a:lnTo>
                  <a:pt x="7090514" y="2891470"/>
                </a:lnTo>
                <a:cubicBezTo>
                  <a:pt x="7090514" y="2932148"/>
                  <a:pt x="7057538" y="2965124"/>
                  <a:pt x="7016860" y="2965124"/>
                </a:cubicBezTo>
                <a:lnTo>
                  <a:pt x="73654" y="2965124"/>
                </a:lnTo>
                <a:cubicBezTo>
                  <a:pt x="32976" y="2965124"/>
                  <a:pt x="0" y="2932148"/>
                  <a:pt x="0" y="2891470"/>
                </a:cubicBezTo>
                <a:lnTo>
                  <a:pt x="0" y="73654"/>
                </a:lnTo>
                <a:cubicBezTo>
                  <a:pt x="0" y="33003"/>
                  <a:pt x="33003" y="0"/>
                  <a:pt x="73654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65D"/>
              </a:gs>
              <a:gs pos="100000">
                <a:srgbClr val="2B6CB0"/>
              </a:gs>
            </a:gsLst>
            <a:lin ang="2700000" scaled="1"/>
          </a:gradFill>
          <a:ln/>
        </p:spPr>
      </p:sp>
      <p:sp>
        <p:nvSpPr>
          <p:cNvPr id="26" name="Shape 24"/>
          <p:cNvSpPr/>
          <p:nvPr/>
        </p:nvSpPr>
        <p:spPr>
          <a:xfrm>
            <a:off x="686030" y="3537431"/>
            <a:ext cx="165752" cy="165752"/>
          </a:xfrm>
          <a:custGeom>
            <a:avLst/>
            <a:gdLst/>
            <a:ahLst/>
            <a:cxnLst/>
            <a:rect l="l" t="t" r="r" b="b"/>
            <a:pathLst>
              <a:path w="165752" h="165752">
                <a:moveTo>
                  <a:pt x="91941" y="-421"/>
                </a:moveTo>
                <a:cubicBezTo>
                  <a:pt x="86340" y="-3658"/>
                  <a:pt x="79412" y="-3658"/>
                  <a:pt x="73812" y="-421"/>
                </a:cubicBezTo>
                <a:lnTo>
                  <a:pt x="46553" y="15313"/>
                </a:lnTo>
                <a:cubicBezTo>
                  <a:pt x="40952" y="18550"/>
                  <a:pt x="37489" y="24539"/>
                  <a:pt x="37489" y="31014"/>
                </a:cubicBezTo>
                <a:lnTo>
                  <a:pt x="37489" y="64002"/>
                </a:lnTo>
                <a:lnTo>
                  <a:pt x="8903" y="80513"/>
                </a:lnTo>
                <a:cubicBezTo>
                  <a:pt x="3302" y="83750"/>
                  <a:pt x="-162" y="89739"/>
                  <a:pt x="-162" y="96214"/>
                </a:cubicBezTo>
                <a:lnTo>
                  <a:pt x="-162" y="127713"/>
                </a:lnTo>
                <a:cubicBezTo>
                  <a:pt x="-162" y="134188"/>
                  <a:pt x="3302" y="140177"/>
                  <a:pt x="8903" y="143415"/>
                </a:cubicBezTo>
                <a:lnTo>
                  <a:pt x="36194" y="159148"/>
                </a:lnTo>
                <a:cubicBezTo>
                  <a:pt x="41794" y="162385"/>
                  <a:pt x="48722" y="162385"/>
                  <a:pt x="54323" y="159148"/>
                </a:cubicBezTo>
                <a:lnTo>
                  <a:pt x="82909" y="142638"/>
                </a:lnTo>
                <a:lnTo>
                  <a:pt x="111494" y="159148"/>
                </a:lnTo>
                <a:cubicBezTo>
                  <a:pt x="117095" y="162385"/>
                  <a:pt x="124023" y="162385"/>
                  <a:pt x="129623" y="159148"/>
                </a:cubicBezTo>
                <a:lnTo>
                  <a:pt x="156850" y="143415"/>
                </a:lnTo>
                <a:cubicBezTo>
                  <a:pt x="162450" y="140177"/>
                  <a:pt x="165914" y="134188"/>
                  <a:pt x="165914" y="127713"/>
                </a:cubicBezTo>
                <a:lnTo>
                  <a:pt x="165914" y="96214"/>
                </a:lnTo>
                <a:cubicBezTo>
                  <a:pt x="165914" y="89739"/>
                  <a:pt x="162450" y="83750"/>
                  <a:pt x="156850" y="80513"/>
                </a:cubicBezTo>
                <a:lnTo>
                  <a:pt x="128264" y="64002"/>
                </a:lnTo>
                <a:lnTo>
                  <a:pt x="128264" y="31014"/>
                </a:lnTo>
                <a:cubicBezTo>
                  <a:pt x="128264" y="24539"/>
                  <a:pt x="124800" y="18550"/>
                  <a:pt x="119199" y="15313"/>
                </a:cubicBezTo>
                <a:lnTo>
                  <a:pt x="91941" y="-421"/>
                </a:lnTo>
                <a:close/>
                <a:moveTo>
                  <a:pt x="75106" y="94725"/>
                </a:moveTo>
                <a:lnTo>
                  <a:pt x="75106" y="129203"/>
                </a:lnTo>
                <a:lnTo>
                  <a:pt x="46521" y="145713"/>
                </a:lnTo>
                <a:cubicBezTo>
                  <a:pt x="46132" y="145940"/>
                  <a:pt x="45679" y="146069"/>
                  <a:pt x="45226" y="146069"/>
                </a:cubicBezTo>
                <a:lnTo>
                  <a:pt x="45226" y="111980"/>
                </a:lnTo>
                <a:lnTo>
                  <a:pt x="75106" y="94725"/>
                </a:lnTo>
                <a:close/>
                <a:moveTo>
                  <a:pt x="150019" y="94919"/>
                </a:moveTo>
                <a:cubicBezTo>
                  <a:pt x="150245" y="95308"/>
                  <a:pt x="150375" y="95761"/>
                  <a:pt x="150375" y="96214"/>
                </a:cubicBezTo>
                <a:lnTo>
                  <a:pt x="150375" y="127713"/>
                </a:lnTo>
                <a:cubicBezTo>
                  <a:pt x="150375" y="128652"/>
                  <a:pt x="149889" y="129494"/>
                  <a:pt x="149080" y="129947"/>
                </a:cubicBezTo>
                <a:lnTo>
                  <a:pt x="121789" y="145681"/>
                </a:lnTo>
                <a:cubicBezTo>
                  <a:pt x="121401" y="145907"/>
                  <a:pt x="120947" y="146037"/>
                  <a:pt x="120494" y="146037"/>
                </a:cubicBezTo>
                <a:lnTo>
                  <a:pt x="120494" y="111948"/>
                </a:lnTo>
                <a:lnTo>
                  <a:pt x="150019" y="94919"/>
                </a:lnTo>
                <a:close/>
                <a:moveTo>
                  <a:pt x="112757" y="31014"/>
                </a:moveTo>
                <a:lnTo>
                  <a:pt x="112757" y="64002"/>
                </a:lnTo>
                <a:lnTo>
                  <a:pt x="82876" y="81257"/>
                </a:lnTo>
                <a:lnTo>
                  <a:pt x="82876" y="46780"/>
                </a:lnTo>
                <a:lnTo>
                  <a:pt x="112401" y="29751"/>
                </a:lnTo>
                <a:cubicBezTo>
                  <a:pt x="112627" y="30140"/>
                  <a:pt x="112757" y="30593"/>
                  <a:pt x="112757" y="3104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80701" y="3454669"/>
            <a:ext cx="1758816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ECS Fargate Cluster (Multi-AZ)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80701" y="3638839"/>
            <a:ext cx="1749607" cy="14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E2E8F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Auto-scales: 2 → 20 tasks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3009" y="3859727"/>
            <a:ext cx="3379505" cy="1970610"/>
          </a:xfrm>
          <a:custGeom>
            <a:avLst/>
            <a:gdLst/>
            <a:ahLst/>
            <a:cxnLst/>
            <a:rect l="l" t="t" r="r" b="b"/>
            <a:pathLst>
              <a:path w="3379505" h="1970610">
                <a:moveTo>
                  <a:pt x="73661" y="0"/>
                </a:moveTo>
                <a:lnTo>
                  <a:pt x="3305843" y="0"/>
                </a:lnTo>
                <a:cubicBezTo>
                  <a:pt x="3346525" y="0"/>
                  <a:pt x="3379505" y="32979"/>
                  <a:pt x="3379505" y="73661"/>
                </a:cubicBezTo>
                <a:lnTo>
                  <a:pt x="3379505" y="1896949"/>
                </a:lnTo>
                <a:cubicBezTo>
                  <a:pt x="3379505" y="1937631"/>
                  <a:pt x="3346525" y="1970610"/>
                  <a:pt x="3305843" y="1970610"/>
                </a:cubicBezTo>
                <a:lnTo>
                  <a:pt x="73661" y="1970610"/>
                </a:lnTo>
                <a:cubicBezTo>
                  <a:pt x="32979" y="1970610"/>
                  <a:pt x="0" y="1937631"/>
                  <a:pt x="0" y="1896949"/>
                </a:cubicBezTo>
                <a:lnTo>
                  <a:pt x="0" y="73661"/>
                </a:lnTo>
                <a:cubicBezTo>
                  <a:pt x="0" y="33007"/>
                  <a:pt x="33007" y="0"/>
                  <a:pt x="7366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73511" y="3970229"/>
            <a:ext cx="221003" cy="221003"/>
          </a:xfrm>
          <a:custGeom>
            <a:avLst/>
            <a:gdLst/>
            <a:ahLst/>
            <a:cxnLst/>
            <a:rect l="l" t="t" r="r" b="b"/>
            <a:pathLst>
              <a:path w="221003" h="221003">
                <a:moveTo>
                  <a:pt x="110502" y="0"/>
                </a:moveTo>
                <a:lnTo>
                  <a:pt x="110502" y="0"/>
                </a:lnTo>
                <a:cubicBezTo>
                  <a:pt x="171530" y="0"/>
                  <a:pt x="221003" y="49473"/>
                  <a:pt x="221003" y="110502"/>
                </a:cubicBezTo>
                <a:lnTo>
                  <a:pt x="221003" y="110502"/>
                </a:lnTo>
                <a:cubicBezTo>
                  <a:pt x="221003" y="171530"/>
                  <a:pt x="171530" y="221003"/>
                  <a:pt x="110502" y="221003"/>
                </a:cubicBezTo>
                <a:lnTo>
                  <a:pt x="110502" y="221003"/>
                </a:lnTo>
                <a:cubicBezTo>
                  <a:pt x="49473" y="221003"/>
                  <a:pt x="0" y="171530"/>
                  <a:pt x="0" y="110502"/>
                </a:cubicBezTo>
                <a:lnTo>
                  <a:pt x="0" y="110502"/>
                </a:lnTo>
                <a:cubicBezTo>
                  <a:pt x="0" y="49473"/>
                  <a:pt x="49473" y="0"/>
                  <a:pt x="110502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1" name="Text 29"/>
          <p:cNvSpPr/>
          <p:nvPr/>
        </p:nvSpPr>
        <p:spPr>
          <a:xfrm>
            <a:off x="745885" y="3970229"/>
            <a:ext cx="276254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68181" y="4007062"/>
            <a:ext cx="607758" cy="14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 (AZ-a)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73511" y="4264899"/>
            <a:ext cx="3158502" cy="221003"/>
          </a:xfrm>
          <a:custGeom>
            <a:avLst/>
            <a:gdLst/>
            <a:ahLst/>
            <a:cxnLst/>
            <a:rect l="l" t="t" r="r" b="b"/>
            <a:pathLst>
              <a:path w="3158502" h="221003">
                <a:moveTo>
                  <a:pt x="36835" y="0"/>
                </a:moveTo>
                <a:lnTo>
                  <a:pt x="3121667" y="0"/>
                </a:lnTo>
                <a:cubicBezTo>
                  <a:pt x="3142010" y="0"/>
                  <a:pt x="3158502" y="16491"/>
                  <a:pt x="3158502" y="36835"/>
                </a:cubicBezTo>
                <a:lnTo>
                  <a:pt x="3158502" y="184168"/>
                </a:lnTo>
                <a:cubicBezTo>
                  <a:pt x="3158502" y="204512"/>
                  <a:pt x="3142010" y="221003"/>
                  <a:pt x="3121667" y="221003"/>
                </a:cubicBezTo>
                <a:lnTo>
                  <a:pt x="36835" y="221003"/>
                </a:lnTo>
                <a:cubicBezTo>
                  <a:pt x="16505" y="221003"/>
                  <a:pt x="0" y="204498"/>
                  <a:pt x="0" y="184168"/>
                </a:cubicBezTo>
                <a:lnTo>
                  <a:pt x="0" y="36835"/>
                </a:lnTo>
                <a:cubicBezTo>
                  <a:pt x="0" y="16505"/>
                  <a:pt x="16505" y="0"/>
                  <a:pt x="368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73511" y="4264899"/>
            <a:ext cx="3213752" cy="221003"/>
          </a:xfrm>
          <a:prstGeom prst="rect">
            <a:avLst/>
          </a:prstGeom>
          <a:noFill/>
          <a:ln/>
        </p:spPr>
        <p:txBody>
          <a:bodyPr wrap="square" lIns="73668" tIns="36834" rIns="73668" bIns="36834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 vCPU / 32 GB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73511" y="4522619"/>
            <a:ext cx="3158502" cy="221003"/>
          </a:xfrm>
          <a:custGeom>
            <a:avLst/>
            <a:gdLst/>
            <a:ahLst/>
            <a:cxnLst/>
            <a:rect l="l" t="t" r="r" b="b"/>
            <a:pathLst>
              <a:path w="3158502" h="221003">
                <a:moveTo>
                  <a:pt x="36835" y="0"/>
                </a:moveTo>
                <a:lnTo>
                  <a:pt x="3121667" y="0"/>
                </a:lnTo>
                <a:cubicBezTo>
                  <a:pt x="3142010" y="0"/>
                  <a:pt x="3158502" y="16491"/>
                  <a:pt x="3158502" y="36835"/>
                </a:cubicBezTo>
                <a:lnTo>
                  <a:pt x="3158502" y="184168"/>
                </a:lnTo>
                <a:cubicBezTo>
                  <a:pt x="3158502" y="204512"/>
                  <a:pt x="3142010" y="221003"/>
                  <a:pt x="3121667" y="221003"/>
                </a:cubicBezTo>
                <a:lnTo>
                  <a:pt x="36835" y="221003"/>
                </a:lnTo>
                <a:cubicBezTo>
                  <a:pt x="16505" y="221003"/>
                  <a:pt x="0" y="204498"/>
                  <a:pt x="0" y="184168"/>
                </a:cubicBezTo>
                <a:lnTo>
                  <a:pt x="0" y="36835"/>
                </a:lnTo>
                <a:cubicBezTo>
                  <a:pt x="0" y="16505"/>
                  <a:pt x="16505" y="0"/>
                  <a:pt x="368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73511" y="4522619"/>
            <a:ext cx="3213752" cy="221003"/>
          </a:xfrm>
          <a:prstGeom prst="rect">
            <a:avLst/>
          </a:prstGeom>
          <a:noFill/>
          <a:ln/>
        </p:spPr>
        <p:txBody>
          <a:bodyPr wrap="square" lIns="73668" tIns="36834" rIns="73668" bIns="36834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73511" y="4780341"/>
            <a:ext cx="3158502" cy="221003"/>
          </a:xfrm>
          <a:custGeom>
            <a:avLst/>
            <a:gdLst/>
            <a:ahLst/>
            <a:cxnLst/>
            <a:rect l="l" t="t" r="r" b="b"/>
            <a:pathLst>
              <a:path w="3158502" h="221003">
                <a:moveTo>
                  <a:pt x="36835" y="0"/>
                </a:moveTo>
                <a:lnTo>
                  <a:pt x="3121667" y="0"/>
                </a:lnTo>
                <a:cubicBezTo>
                  <a:pt x="3142010" y="0"/>
                  <a:pt x="3158502" y="16491"/>
                  <a:pt x="3158502" y="36835"/>
                </a:cubicBezTo>
                <a:lnTo>
                  <a:pt x="3158502" y="184168"/>
                </a:lnTo>
                <a:cubicBezTo>
                  <a:pt x="3158502" y="204512"/>
                  <a:pt x="3142010" y="221003"/>
                  <a:pt x="3121667" y="221003"/>
                </a:cubicBezTo>
                <a:lnTo>
                  <a:pt x="36835" y="221003"/>
                </a:lnTo>
                <a:cubicBezTo>
                  <a:pt x="16505" y="221003"/>
                  <a:pt x="0" y="204498"/>
                  <a:pt x="0" y="184168"/>
                </a:cubicBezTo>
                <a:lnTo>
                  <a:pt x="0" y="36835"/>
                </a:lnTo>
                <a:cubicBezTo>
                  <a:pt x="0" y="16505"/>
                  <a:pt x="16505" y="0"/>
                  <a:pt x="368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73511" y="4780341"/>
            <a:ext cx="3213752" cy="221003"/>
          </a:xfrm>
          <a:prstGeom prst="rect">
            <a:avLst/>
          </a:prstGeom>
          <a:noFill/>
          <a:ln/>
        </p:spPr>
        <p:txBody>
          <a:bodyPr wrap="square" lIns="73668" tIns="36834" rIns="73668" bIns="36834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ONNX Runtime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73511" y="5364965"/>
            <a:ext cx="3158502" cy="7367"/>
          </a:xfrm>
          <a:custGeom>
            <a:avLst/>
            <a:gdLst/>
            <a:ahLst/>
            <a:cxnLst/>
            <a:rect l="l" t="t" r="r" b="b"/>
            <a:pathLst>
              <a:path w="3158502" h="7367">
                <a:moveTo>
                  <a:pt x="0" y="0"/>
                </a:moveTo>
                <a:lnTo>
                  <a:pt x="3158502" y="0"/>
                </a:lnTo>
                <a:lnTo>
                  <a:pt x="3158502" y="7367"/>
                </a:lnTo>
                <a:lnTo>
                  <a:pt x="0" y="73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73511" y="5442314"/>
            <a:ext cx="3204544" cy="276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5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IAM Role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25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Download from S3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152440" y="3859727"/>
            <a:ext cx="3379505" cy="1970610"/>
          </a:xfrm>
          <a:custGeom>
            <a:avLst/>
            <a:gdLst/>
            <a:ahLst/>
            <a:cxnLst/>
            <a:rect l="l" t="t" r="r" b="b"/>
            <a:pathLst>
              <a:path w="3379505" h="1970610">
                <a:moveTo>
                  <a:pt x="73661" y="0"/>
                </a:moveTo>
                <a:lnTo>
                  <a:pt x="3305843" y="0"/>
                </a:lnTo>
                <a:cubicBezTo>
                  <a:pt x="3346525" y="0"/>
                  <a:pt x="3379505" y="32979"/>
                  <a:pt x="3379505" y="73661"/>
                </a:cubicBezTo>
                <a:lnTo>
                  <a:pt x="3379505" y="1896949"/>
                </a:lnTo>
                <a:cubicBezTo>
                  <a:pt x="3379505" y="1937631"/>
                  <a:pt x="3346525" y="1970610"/>
                  <a:pt x="3305843" y="1970610"/>
                </a:cubicBezTo>
                <a:lnTo>
                  <a:pt x="73661" y="1970610"/>
                </a:lnTo>
                <a:cubicBezTo>
                  <a:pt x="32979" y="1970610"/>
                  <a:pt x="0" y="1937631"/>
                  <a:pt x="0" y="1896949"/>
                </a:cubicBezTo>
                <a:lnTo>
                  <a:pt x="0" y="73661"/>
                </a:lnTo>
                <a:cubicBezTo>
                  <a:pt x="0" y="33007"/>
                  <a:pt x="33007" y="0"/>
                  <a:pt x="7366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262941" y="3970229"/>
            <a:ext cx="221003" cy="221003"/>
          </a:xfrm>
          <a:custGeom>
            <a:avLst/>
            <a:gdLst/>
            <a:ahLst/>
            <a:cxnLst/>
            <a:rect l="l" t="t" r="r" b="b"/>
            <a:pathLst>
              <a:path w="221003" h="221003">
                <a:moveTo>
                  <a:pt x="110502" y="0"/>
                </a:moveTo>
                <a:lnTo>
                  <a:pt x="110502" y="0"/>
                </a:lnTo>
                <a:cubicBezTo>
                  <a:pt x="171530" y="0"/>
                  <a:pt x="221003" y="49473"/>
                  <a:pt x="221003" y="110502"/>
                </a:cubicBezTo>
                <a:lnTo>
                  <a:pt x="221003" y="110502"/>
                </a:lnTo>
                <a:cubicBezTo>
                  <a:pt x="221003" y="171530"/>
                  <a:pt x="171530" y="221003"/>
                  <a:pt x="110502" y="221003"/>
                </a:cubicBezTo>
                <a:lnTo>
                  <a:pt x="110502" y="221003"/>
                </a:lnTo>
                <a:cubicBezTo>
                  <a:pt x="49473" y="221003"/>
                  <a:pt x="0" y="171530"/>
                  <a:pt x="0" y="110502"/>
                </a:cubicBezTo>
                <a:lnTo>
                  <a:pt x="0" y="110502"/>
                </a:lnTo>
                <a:cubicBezTo>
                  <a:pt x="0" y="49473"/>
                  <a:pt x="49473" y="0"/>
                  <a:pt x="110502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3" name="Text 41"/>
          <p:cNvSpPr/>
          <p:nvPr/>
        </p:nvSpPr>
        <p:spPr>
          <a:xfrm>
            <a:off x="4235316" y="3970229"/>
            <a:ext cx="276254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57612" y="4007062"/>
            <a:ext cx="616967" cy="14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 (AZ-b)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62941" y="4264899"/>
            <a:ext cx="3158502" cy="221003"/>
          </a:xfrm>
          <a:custGeom>
            <a:avLst/>
            <a:gdLst/>
            <a:ahLst/>
            <a:cxnLst/>
            <a:rect l="l" t="t" r="r" b="b"/>
            <a:pathLst>
              <a:path w="3158502" h="221003">
                <a:moveTo>
                  <a:pt x="36835" y="0"/>
                </a:moveTo>
                <a:lnTo>
                  <a:pt x="3121667" y="0"/>
                </a:lnTo>
                <a:cubicBezTo>
                  <a:pt x="3142010" y="0"/>
                  <a:pt x="3158502" y="16491"/>
                  <a:pt x="3158502" y="36835"/>
                </a:cubicBezTo>
                <a:lnTo>
                  <a:pt x="3158502" y="184168"/>
                </a:lnTo>
                <a:cubicBezTo>
                  <a:pt x="3158502" y="204512"/>
                  <a:pt x="3142010" y="221003"/>
                  <a:pt x="3121667" y="221003"/>
                </a:cubicBezTo>
                <a:lnTo>
                  <a:pt x="36835" y="221003"/>
                </a:lnTo>
                <a:cubicBezTo>
                  <a:pt x="16505" y="221003"/>
                  <a:pt x="0" y="204498"/>
                  <a:pt x="0" y="184168"/>
                </a:cubicBezTo>
                <a:lnTo>
                  <a:pt x="0" y="36835"/>
                </a:lnTo>
                <a:cubicBezTo>
                  <a:pt x="0" y="16505"/>
                  <a:pt x="16505" y="0"/>
                  <a:pt x="368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262941" y="4264899"/>
            <a:ext cx="3213752" cy="221003"/>
          </a:xfrm>
          <a:prstGeom prst="rect">
            <a:avLst/>
          </a:prstGeom>
          <a:noFill/>
          <a:ln/>
        </p:spPr>
        <p:txBody>
          <a:bodyPr wrap="square" lIns="73668" tIns="36834" rIns="73668" bIns="36834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 vCPU / 32 GB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62941" y="4522619"/>
            <a:ext cx="3158502" cy="221003"/>
          </a:xfrm>
          <a:custGeom>
            <a:avLst/>
            <a:gdLst/>
            <a:ahLst/>
            <a:cxnLst/>
            <a:rect l="l" t="t" r="r" b="b"/>
            <a:pathLst>
              <a:path w="3158502" h="221003">
                <a:moveTo>
                  <a:pt x="36835" y="0"/>
                </a:moveTo>
                <a:lnTo>
                  <a:pt x="3121667" y="0"/>
                </a:lnTo>
                <a:cubicBezTo>
                  <a:pt x="3142010" y="0"/>
                  <a:pt x="3158502" y="16491"/>
                  <a:pt x="3158502" y="36835"/>
                </a:cubicBezTo>
                <a:lnTo>
                  <a:pt x="3158502" y="184168"/>
                </a:lnTo>
                <a:cubicBezTo>
                  <a:pt x="3158502" y="204512"/>
                  <a:pt x="3142010" y="221003"/>
                  <a:pt x="3121667" y="221003"/>
                </a:cubicBezTo>
                <a:lnTo>
                  <a:pt x="36835" y="221003"/>
                </a:lnTo>
                <a:cubicBezTo>
                  <a:pt x="16505" y="221003"/>
                  <a:pt x="0" y="204498"/>
                  <a:pt x="0" y="184168"/>
                </a:cubicBezTo>
                <a:lnTo>
                  <a:pt x="0" y="36835"/>
                </a:lnTo>
                <a:cubicBezTo>
                  <a:pt x="0" y="16505"/>
                  <a:pt x="16505" y="0"/>
                  <a:pt x="368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262941" y="4522619"/>
            <a:ext cx="3213752" cy="221003"/>
          </a:xfrm>
          <a:prstGeom prst="rect">
            <a:avLst/>
          </a:prstGeom>
          <a:noFill/>
          <a:ln/>
        </p:spPr>
        <p:txBody>
          <a:bodyPr wrap="square" lIns="73668" tIns="36834" rIns="73668" bIns="36834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62941" y="4780341"/>
            <a:ext cx="3158502" cy="221003"/>
          </a:xfrm>
          <a:custGeom>
            <a:avLst/>
            <a:gdLst/>
            <a:ahLst/>
            <a:cxnLst/>
            <a:rect l="l" t="t" r="r" b="b"/>
            <a:pathLst>
              <a:path w="3158502" h="221003">
                <a:moveTo>
                  <a:pt x="36835" y="0"/>
                </a:moveTo>
                <a:lnTo>
                  <a:pt x="3121667" y="0"/>
                </a:lnTo>
                <a:cubicBezTo>
                  <a:pt x="3142010" y="0"/>
                  <a:pt x="3158502" y="16491"/>
                  <a:pt x="3158502" y="36835"/>
                </a:cubicBezTo>
                <a:lnTo>
                  <a:pt x="3158502" y="184168"/>
                </a:lnTo>
                <a:cubicBezTo>
                  <a:pt x="3158502" y="204512"/>
                  <a:pt x="3142010" y="221003"/>
                  <a:pt x="3121667" y="221003"/>
                </a:cubicBezTo>
                <a:lnTo>
                  <a:pt x="36835" y="221003"/>
                </a:lnTo>
                <a:cubicBezTo>
                  <a:pt x="16505" y="221003"/>
                  <a:pt x="0" y="204498"/>
                  <a:pt x="0" y="184168"/>
                </a:cubicBezTo>
                <a:lnTo>
                  <a:pt x="0" y="36835"/>
                </a:lnTo>
                <a:cubicBezTo>
                  <a:pt x="0" y="16505"/>
                  <a:pt x="16505" y="0"/>
                  <a:pt x="368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262941" y="4780341"/>
            <a:ext cx="3213752" cy="221003"/>
          </a:xfrm>
          <a:prstGeom prst="rect">
            <a:avLst/>
          </a:prstGeom>
          <a:noFill/>
          <a:ln/>
        </p:spPr>
        <p:txBody>
          <a:bodyPr wrap="square" lIns="73668" tIns="36834" rIns="73668" bIns="36834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ONNX Runtime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262941" y="5364965"/>
            <a:ext cx="3158502" cy="7367"/>
          </a:xfrm>
          <a:custGeom>
            <a:avLst/>
            <a:gdLst/>
            <a:ahLst/>
            <a:cxnLst/>
            <a:rect l="l" t="t" r="r" b="b"/>
            <a:pathLst>
              <a:path w="3158502" h="7367">
                <a:moveTo>
                  <a:pt x="0" y="0"/>
                </a:moveTo>
                <a:lnTo>
                  <a:pt x="3158502" y="0"/>
                </a:lnTo>
                <a:lnTo>
                  <a:pt x="3158502" y="7367"/>
                </a:lnTo>
                <a:lnTo>
                  <a:pt x="0" y="73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262941" y="5442314"/>
            <a:ext cx="3204544" cy="276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5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IAM Role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725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Download from S3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63009" y="5902737"/>
            <a:ext cx="6869511" cy="294671"/>
          </a:xfrm>
          <a:custGeom>
            <a:avLst/>
            <a:gdLst/>
            <a:ahLst/>
            <a:cxnLst/>
            <a:rect l="l" t="t" r="r" b="b"/>
            <a:pathLst>
              <a:path w="6869511" h="294671">
                <a:moveTo>
                  <a:pt x="73668" y="0"/>
                </a:moveTo>
                <a:lnTo>
                  <a:pt x="6795843" y="0"/>
                </a:lnTo>
                <a:cubicBezTo>
                  <a:pt x="6836528" y="0"/>
                  <a:pt x="6869511" y="32982"/>
                  <a:pt x="6869511" y="73668"/>
                </a:cubicBezTo>
                <a:lnTo>
                  <a:pt x="6869511" y="221003"/>
                </a:lnTo>
                <a:cubicBezTo>
                  <a:pt x="6869511" y="261689"/>
                  <a:pt x="6836528" y="294671"/>
                  <a:pt x="6795843" y="294671"/>
                </a:cubicBezTo>
                <a:lnTo>
                  <a:pt x="73668" y="294671"/>
                </a:lnTo>
                <a:cubicBezTo>
                  <a:pt x="32982" y="294671"/>
                  <a:pt x="0" y="261689"/>
                  <a:pt x="0" y="221003"/>
                </a:cubicBezTo>
                <a:lnTo>
                  <a:pt x="0" y="73668"/>
                </a:lnTo>
                <a:cubicBezTo>
                  <a:pt x="0" y="33009"/>
                  <a:pt x="33009" y="0"/>
                  <a:pt x="73668" y="0"/>
                </a:cubicBezTo>
                <a:close/>
              </a:path>
            </a:pathLst>
          </a:custGeom>
          <a:solidFill>
            <a:srgbClr val="4299E1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57396" y="5994707"/>
            <a:ext cx="96689" cy="110502"/>
          </a:xfrm>
          <a:custGeom>
            <a:avLst/>
            <a:gdLst/>
            <a:ahLst/>
            <a:cxnLst/>
            <a:rect l="l" t="t" r="r" b="b"/>
            <a:pathLst>
              <a:path w="96689" h="110502">
                <a:moveTo>
                  <a:pt x="13813" y="6906"/>
                </a:moveTo>
                <a:cubicBezTo>
                  <a:pt x="6194" y="6906"/>
                  <a:pt x="0" y="13100"/>
                  <a:pt x="0" y="20719"/>
                </a:cubicBezTo>
                <a:lnTo>
                  <a:pt x="0" y="56136"/>
                </a:lnTo>
                <a:cubicBezTo>
                  <a:pt x="3906" y="53395"/>
                  <a:pt x="8676" y="51798"/>
                  <a:pt x="13813" y="51798"/>
                </a:cubicBezTo>
                <a:lnTo>
                  <a:pt x="82876" y="51798"/>
                </a:lnTo>
                <a:cubicBezTo>
                  <a:pt x="88013" y="51798"/>
                  <a:pt x="92782" y="53395"/>
                  <a:pt x="96689" y="56136"/>
                </a:cubicBezTo>
                <a:lnTo>
                  <a:pt x="96689" y="20719"/>
                </a:lnTo>
                <a:cubicBezTo>
                  <a:pt x="96689" y="13100"/>
                  <a:pt x="90495" y="6906"/>
                  <a:pt x="82876" y="6906"/>
                </a:cubicBezTo>
                <a:lnTo>
                  <a:pt x="13813" y="6906"/>
                </a:lnTo>
                <a:close/>
                <a:moveTo>
                  <a:pt x="96689" y="75970"/>
                </a:moveTo>
                <a:cubicBezTo>
                  <a:pt x="96689" y="68351"/>
                  <a:pt x="90495" y="62157"/>
                  <a:pt x="82876" y="62157"/>
                </a:cubicBezTo>
                <a:lnTo>
                  <a:pt x="13813" y="62157"/>
                </a:lnTo>
                <a:cubicBezTo>
                  <a:pt x="6194" y="62157"/>
                  <a:pt x="0" y="68351"/>
                  <a:pt x="0" y="75970"/>
                </a:cubicBezTo>
                <a:lnTo>
                  <a:pt x="0" y="89782"/>
                </a:lnTo>
                <a:cubicBezTo>
                  <a:pt x="0" y="97401"/>
                  <a:pt x="6194" y="103595"/>
                  <a:pt x="13813" y="103595"/>
                </a:cubicBezTo>
                <a:lnTo>
                  <a:pt x="82876" y="103595"/>
                </a:lnTo>
                <a:cubicBezTo>
                  <a:pt x="90495" y="103595"/>
                  <a:pt x="96689" y="97401"/>
                  <a:pt x="96689" y="89782"/>
                </a:cubicBezTo>
                <a:lnTo>
                  <a:pt x="96689" y="75970"/>
                </a:lnTo>
                <a:close/>
                <a:moveTo>
                  <a:pt x="48344" y="82876"/>
                </a:moveTo>
                <a:cubicBezTo>
                  <a:pt x="48344" y="79064"/>
                  <a:pt x="51439" y="75970"/>
                  <a:pt x="55251" y="75970"/>
                </a:cubicBezTo>
                <a:cubicBezTo>
                  <a:pt x="59062" y="75970"/>
                  <a:pt x="62157" y="79064"/>
                  <a:pt x="62157" y="82876"/>
                </a:cubicBezTo>
                <a:cubicBezTo>
                  <a:pt x="62157" y="86688"/>
                  <a:pt x="59062" y="89782"/>
                  <a:pt x="55251" y="89782"/>
                </a:cubicBezTo>
                <a:cubicBezTo>
                  <a:pt x="51439" y="89782"/>
                  <a:pt x="48344" y="86688"/>
                  <a:pt x="48344" y="82876"/>
                </a:cubicBezTo>
                <a:close/>
                <a:moveTo>
                  <a:pt x="75970" y="75970"/>
                </a:moveTo>
                <a:cubicBezTo>
                  <a:pt x="79782" y="75970"/>
                  <a:pt x="82876" y="79064"/>
                  <a:pt x="82876" y="82876"/>
                </a:cubicBezTo>
                <a:cubicBezTo>
                  <a:pt x="82876" y="86688"/>
                  <a:pt x="79782" y="89782"/>
                  <a:pt x="75970" y="89782"/>
                </a:cubicBezTo>
                <a:cubicBezTo>
                  <a:pt x="72158" y="89782"/>
                  <a:pt x="69063" y="86688"/>
                  <a:pt x="69063" y="82876"/>
                </a:cubicBezTo>
                <a:cubicBezTo>
                  <a:pt x="69063" y="79064"/>
                  <a:pt x="72158" y="75970"/>
                  <a:pt x="75970" y="7597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948471" y="5976405"/>
            <a:ext cx="4659480" cy="14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EFS Mount (shared cache):</a:t>
            </a:r>
            <a:pPr>
              <a:lnSpc>
                <a:spcPct val="110000"/>
              </a:lnSpc>
            </a:pPr>
            <a:r>
              <a:rPr lang="en-US" sz="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/mnt/efs/onnx-cache — Models downloaded once, used by all tasks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826154" y="1399571"/>
            <a:ext cx="3821511" cy="1279976"/>
          </a:xfrm>
          <a:custGeom>
            <a:avLst/>
            <a:gdLst/>
            <a:ahLst/>
            <a:cxnLst/>
            <a:rect l="l" t="t" r="r" b="b"/>
            <a:pathLst>
              <a:path w="3821511" h="1279976">
                <a:moveTo>
                  <a:pt x="73663" y="0"/>
                </a:moveTo>
                <a:lnTo>
                  <a:pt x="3747848" y="0"/>
                </a:lnTo>
                <a:cubicBezTo>
                  <a:pt x="3788531" y="0"/>
                  <a:pt x="3821511" y="32980"/>
                  <a:pt x="3821511" y="73663"/>
                </a:cubicBezTo>
                <a:lnTo>
                  <a:pt x="3821511" y="1206313"/>
                </a:lnTo>
                <a:cubicBezTo>
                  <a:pt x="3821511" y="1246996"/>
                  <a:pt x="3788531" y="1279976"/>
                  <a:pt x="3747848" y="1279976"/>
                </a:cubicBezTo>
                <a:lnTo>
                  <a:pt x="73663" y="1279976"/>
                </a:lnTo>
                <a:cubicBezTo>
                  <a:pt x="32980" y="1279976"/>
                  <a:pt x="0" y="1246996"/>
                  <a:pt x="0" y="1206313"/>
                </a:cubicBezTo>
                <a:lnTo>
                  <a:pt x="0" y="73663"/>
                </a:lnTo>
                <a:cubicBezTo>
                  <a:pt x="0" y="33007"/>
                  <a:pt x="33007" y="0"/>
                  <a:pt x="73663" y="0"/>
                </a:cubicBezTo>
                <a:close/>
              </a:path>
            </a:pathLst>
          </a:custGeom>
          <a:gradFill rotWithShape="1" flip="none">
            <a:gsLst>
              <a:gs pos="0">
                <a:srgbClr val="2B6CB0"/>
              </a:gs>
              <a:gs pos="100000">
                <a:srgbClr val="4299E1"/>
              </a:gs>
            </a:gsLst>
            <a:lin ang="2700000" scaled="1"/>
          </a:gradFill>
          <a:ln/>
        </p:spPr>
      </p:sp>
      <p:sp>
        <p:nvSpPr>
          <p:cNvPr id="57" name="Shape 55"/>
          <p:cNvSpPr/>
          <p:nvPr/>
        </p:nvSpPr>
        <p:spPr>
          <a:xfrm>
            <a:off x="7964281" y="1528490"/>
            <a:ext cx="128918" cy="147335"/>
          </a:xfrm>
          <a:custGeom>
            <a:avLst/>
            <a:gdLst/>
            <a:ahLst/>
            <a:cxnLst/>
            <a:rect l="l" t="t" r="r" b="b"/>
            <a:pathLst>
              <a:path w="128918" h="147335">
                <a:moveTo>
                  <a:pt x="128918" y="59222"/>
                </a:moveTo>
                <a:cubicBezTo>
                  <a:pt x="124660" y="62042"/>
                  <a:pt x="119768" y="64315"/>
                  <a:pt x="114674" y="66128"/>
                </a:cubicBezTo>
                <a:cubicBezTo>
                  <a:pt x="101149" y="70963"/>
                  <a:pt x="83394" y="73668"/>
                  <a:pt x="64459" y="73668"/>
                </a:cubicBezTo>
                <a:cubicBezTo>
                  <a:pt x="45524" y="73668"/>
                  <a:pt x="27740" y="70934"/>
                  <a:pt x="14244" y="66128"/>
                </a:cubicBezTo>
                <a:cubicBezTo>
                  <a:pt x="9180" y="64315"/>
                  <a:pt x="4259" y="62042"/>
                  <a:pt x="0" y="59222"/>
                </a:cubicBezTo>
                <a:lnTo>
                  <a:pt x="0" y="82876"/>
                </a:lnTo>
                <a:cubicBezTo>
                  <a:pt x="0" y="95595"/>
                  <a:pt x="28863" y="105897"/>
                  <a:pt x="64459" y="105897"/>
                </a:cubicBezTo>
                <a:cubicBezTo>
                  <a:pt x="100056" y="105897"/>
                  <a:pt x="128918" y="95595"/>
                  <a:pt x="128918" y="82876"/>
                </a:cubicBezTo>
                <a:lnTo>
                  <a:pt x="128918" y="59222"/>
                </a:lnTo>
                <a:close/>
                <a:moveTo>
                  <a:pt x="128918" y="36834"/>
                </a:moveTo>
                <a:lnTo>
                  <a:pt x="128918" y="23021"/>
                </a:lnTo>
                <a:cubicBezTo>
                  <a:pt x="128918" y="10302"/>
                  <a:pt x="100056" y="0"/>
                  <a:pt x="64459" y="0"/>
                </a:cubicBezTo>
                <a:cubicBezTo>
                  <a:pt x="28863" y="0"/>
                  <a:pt x="0" y="10302"/>
                  <a:pt x="0" y="23021"/>
                </a:cubicBezTo>
                <a:lnTo>
                  <a:pt x="0" y="36834"/>
                </a:lnTo>
                <a:cubicBezTo>
                  <a:pt x="0" y="49553"/>
                  <a:pt x="28863" y="59855"/>
                  <a:pt x="64459" y="59855"/>
                </a:cubicBezTo>
                <a:cubicBezTo>
                  <a:pt x="100056" y="59855"/>
                  <a:pt x="128918" y="49553"/>
                  <a:pt x="128918" y="36834"/>
                </a:cubicBezTo>
                <a:close/>
                <a:moveTo>
                  <a:pt x="114674" y="112171"/>
                </a:moveTo>
                <a:cubicBezTo>
                  <a:pt x="101178" y="116976"/>
                  <a:pt x="83423" y="119710"/>
                  <a:pt x="64459" y="119710"/>
                </a:cubicBezTo>
                <a:cubicBezTo>
                  <a:pt x="45496" y="119710"/>
                  <a:pt x="27740" y="116976"/>
                  <a:pt x="14244" y="112171"/>
                </a:cubicBezTo>
                <a:cubicBezTo>
                  <a:pt x="9180" y="110358"/>
                  <a:pt x="4259" y="108084"/>
                  <a:pt x="0" y="105264"/>
                </a:cubicBezTo>
                <a:lnTo>
                  <a:pt x="0" y="124314"/>
                </a:lnTo>
                <a:cubicBezTo>
                  <a:pt x="0" y="137033"/>
                  <a:pt x="28863" y="147335"/>
                  <a:pt x="64459" y="147335"/>
                </a:cubicBezTo>
                <a:cubicBezTo>
                  <a:pt x="100056" y="147335"/>
                  <a:pt x="128918" y="137033"/>
                  <a:pt x="128918" y="124314"/>
                </a:cubicBezTo>
                <a:lnTo>
                  <a:pt x="128918" y="105264"/>
                </a:lnTo>
                <a:cubicBezTo>
                  <a:pt x="124660" y="108084"/>
                  <a:pt x="119768" y="110358"/>
                  <a:pt x="114674" y="11217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8194493" y="1510073"/>
            <a:ext cx="920846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S3 Model Store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936656" y="1767910"/>
            <a:ext cx="3600508" cy="221003"/>
          </a:xfrm>
          <a:custGeom>
            <a:avLst/>
            <a:gdLst/>
            <a:ahLst/>
            <a:cxnLst/>
            <a:rect l="l" t="t" r="r" b="b"/>
            <a:pathLst>
              <a:path w="3600508" h="221003">
                <a:moveTo>
                  <a:pt x="36835" y="0"/>
                </a:moveTo>
                <a:lnTo>
                  <a:pt x="3563673" y="0"/>
                </a:lnTo>
                <a:cubicBezTo>
                  <a:pt x="3584016" y="0"/>
                  <a:pt x="3600508" y="16491"/>
                  <a:pt x="3600508" y="36835"/>
                </a:cubicBezTo>
                <a:lnTo>
                  <a:pt x="3600508" y="184168"/>
                </a:lnTo>
                <a:cubicBezTo>
                  <a:pt x="3600508" y="204512"/>
                  <a:pt x="3584016" y="221003"/>
                  <a:pt x="3563673" y="221003"/>
                </a:cubicBezTo>
                <a:lnTo>
                  <a:pt x="36835" y="221003"/>
                </a:lnTo>
                <a:cubicBezTo>
                  <a:pt x="16505" y="221003"/>
                  <a:pt x="0" y="204498"/>
                  <a:pt x="0" y="184168"/>
                </a:cubicBezTo>
                <a:lnTo>
                  <a:pt x="0" y="36835"/>
                </a:lnTo>
                <a:cubicBezTo>
                  <a:pt x="0" y="16505"/>
                  <a:pt x="16505" y="0"/>
                  <a:pt x="368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7936656" y="1767910"/>
            <a:ext cx="3655758" cy="221003"/>
          </a:xfrm>
          <a:prstGeom prst="rect">
            <a:avLst/>
          </a:prstGeom>
          <a:noFill/>
          <a:ln/>
        </p:spPr>
        <p:txBody>
          <a:bodyPr wrap="square" lIns="73668" tIns="36834" rIns="73668" bIns="36834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octaura-ml-models/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010324" y="2025632"/>
            <a:ext cx="3572882" cy="1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2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models/credit-risk/v2/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010324" y="2166751"/>
            <a:ext cx="3572882" cy="1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2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models/prepayment/v1/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010324" y="2307870"/>
            <a:ext cx="3572882" cy="1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2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manifests/credit-risk/latest.json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010324" y="2448989"/>
            <a:ext cx="3572882" cy="1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2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baselines/credit-risk/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833521" y="2800064"/>
            <a:ext cx="3799410" cy="1156582"/>
          </a:xfrm>
          <a:custGeom>
            <a:avLst/>
            <a:gdLst/>
            <a:ahLst/>
            <a:cxnLst/>
            <a:rect l="l" t="t" r="r" b="b"/>
            <a:pathLst>
              <a:path w="3799410" h="1156582">
                <a:moveTo>
                  <a:pt x="73663" y="0"/>
                </a:moveTo>
                <a:lnTo>
                  <a:pt x="3725748" y="0"/>
                </a:lnTo>
                <a:cubicBezTo>
                  <a:pt x="3766430" y="0"/>
                  <a:pt x="3799410" y="32980"/>
                  <a:pt x="3799410" y="73663"/>
                </a:cubicBezTo>
                <a:lnTo>
                  <a:pt x="3799410" y="1082920"/>
                </a:lnTo>
                <a:cubicBezTo>
                  <a:pt x="3799410" y="1123603"/>
                  <a:pt x="3766430" y="1156582"/>
                  <a:pt x="3725748" y="1156582"/>
                </a:cubicBezTo>
                <a:lnTo>
                  <a:pt x="73663" y="1156582"/>
                </a:lnTo>
                <a:cubicBezTo>
                  <a:pt x="33007" y="1156582"/>
                  <a:pt x="0" y="1123575"/>
                  <a:pt x="0" y="1082920"/>
                </a:cubicBezTo>
                <a:lnTo>
                  <a:pt x="0" y="73663"/>
                </a:lnTo>
                <a:cubicBezTo>
                  <a:pt x="0" y="33007"/>
                  <a:pt x="33007" y="0"/>
                  <a:pt x="73663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B6C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969806" y="2936347"/>
            <a:ext cx="147335" cy="147335"/>
          </a:xfrm>
          <a:custGeom>
            <a:avLst/>
            <a:gdLst/>
            <a:ahLst/>
            <a:cxnLst/>
            <a:rect l="l" t="t" r="r" b="b"/>
            <a:pathLst>
              <a:path w="147335" h="147335">
                <a:moveTo>
                  <a:pt x="96689" y="101293"/>
                </a:moveTo>
                <a:cubicBezTo>
                  <a:pt x="124660" y="101293"/>
                  <a:pt x="147335" y="78617"/>
                  <a:pt x="147335" y="50647"/>
                </a:cubicBezTo>
                <a:cubicBezTo>
                  <a:pt x="147335" y="22676"/>
                  <a:pt x="124660" y="0"/>
                  <a:pt x="96689" y="0"/>
                </a:cubicBezTo>
                <a:cubicBezTo>
                  <a:pt x="68718" y="0"/>
                  <a:pt x="46042" y="22676"/>
                  <a:pt x="46042" y="50647"/>
                </a:cubicBezTo>
                <a:cubicBezTo>
                  <a:pt x="46042" y="56028"/>
                  <a:pt x="46877" y="61236"/>
                  <a:pt x="48431" y="66099"/>
                </a:cubicBezTo>
                <a:lnTo>
                  <a:pt x="2014" y="112516"/>
                </a:lnTo>
                <a:cubicBezTo>
                  <a:pt x="719" y="113811"/>
                  <a:pt x="0" y="115566"/>
                  <a:pt x="0" y="117408"/>
                </a:cubicBezTo>
                <a:lnTo>
                  <a:pt x="0" y="140429"/>
                </a:lnTo>
                <a:cubicBezTo>
                  <a:pt x="0" y="144256"/>
                  <a:pt x="3079" y="147335"/>
                  <a:pt x="6906" y="147335"/>
                </a:cubicBezTo>
                <a:lnTo>
                  <a:pt x="29927" y="147335"/>
                </a:lnTo>
                <a:cubicBezTo>
                  <a:pt x="33755" y="147335"/>
                  <a:pt x="36834" y="144256"/>
                  <a:pt x="36834" y="140429"/>
                </a:cubicBezTo>
                <a:lnTo>
                  <a:pt x="36834" y="128918"/>
                </a:lnTo>
                <a:lnTo>
                  <a:pt x="48344" y="128918"/>
                </a:lnTo>
                <a:cubicBezTo>
                  <a:pt x="52172" y="128918"/>
                  <a:pt x="55251" y="125839"/>
                  <a:pt x="55251" y="122012"/>
                </a:cubicBezTo>
                <a:lnTo>
                  <a:pt x="55251" y="110502"/>
                </a:lnTo>
                <a:lnTo>
                  <a:pt x="66761" y="110502"/>
                </a:lnTo>
                <a:cubicBezTo>
                  <a:pt x="68603" y="110502"/>
                  <a:pt x="70358" y="109782"/>
                  <a:pt x="71653" y="108487"/>
                </a:cubicBezTo>
                <a:lnTo>
                  <a:pt x="81236" y="98905"/>
                </a:lnTo>
                <a:cubicBezTo>
                  <a:pt x="86099" y="100459"/>
                  <a:pt x="91308" y="101293"/>
                  <a:pt x="96689" y="101293"/>
                </a:cubicBezTo>
                <a:close/>
                <a:moveTo>
                  <a:pt x="108199" y="27625"/>
                </a:moveTo>
                <a:cubicBezTo>
                  <a:pt x="114552" y="27625"/>
                  <a:pt x="119710" y="32783"/>
                  <a:pt x="119710" y="39136"/>
                </a:cubicBezTo>
                <a:cubicBezTo>
                  <a:pt x="119710" y="45489"/>
                  <a:pt x="114552" y="50647"/>
                  <a:pt x="108199" y="50647"/>
                </a:cubicBezTo>
                <a:cubicBezTo>
                  <a:pt x="101847" y="50647"/>
                  <a:pt x="96689" y="45489"/>
                  <a:pt x="96689" y="39136"/>
                </a:cubicBezTo>
                <a:cubicBezTo>
                  <a:pt x="96689" y="32783"/>
                  <a:pt x="101847" y="27625"/>
                  <a:pt x="108199" y="27625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67" name="Text 65"/>
          <p:cNvSpPr/>
          <p:nvPr/>
        </p:nvSpPr>
        <p:spPr>
          <a:xfrm>
            <a:off x="8209226" y="2917931"/>
            <a:ext cx="1252350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SSM Parameter Store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951389" y="3175767"/>
            <a:ext cx="3563674" cy="221003"/>
          </a:xfrm>
          <a:custGeom>
            <a:avLst/>
            <a:gdLst/>
            <a:ahLst/>
            <a:cxnLst/>
            <a:rect l="l" t="t" r="r" b="b"/>
            <a:pathLst>
              <a:path w="3563674" h="221003">
                <a:moveTo>
                  <a:pt x="36835" y="0"/>
                </a:moveTo>
                <a:lnTo>
                  <a:pt x="3526839" y="0"/>
                </a:lnTo>
                <a:cubicBezTo>
                  <a:pt x="3547182" y="0"/>
                  <a:pt x="3563674" y="16491"/>
                  <a:pt x="3563674" y="36835"/>
                </a:cubicBezTo>
                <a:lnTo>
                  <a:pt x="3563674" y="184168"/>
                </a:lnTo>
                <a:cubicBezTo>
                  <a:pt x="3563674" y="204512"/>
                  <a:pt x="3547182" y="221003"/>
                  <a:pt x="3526839" y="221003"/>
                </a:cubicBezTo>
                <a:lnTo>
                  <a:pt x="36835" y="221003"/>
                </a:lnTo>
                <a:cubicBezTo>
                  <a:pt x="16505" y="221003"/>
                  <a:pt x="0" y="204498"/>
                  <a:pt x="0" y="184168"/>
                </a:cubicBezTo>
                <a:lnTo>
                  <a:pt x="0" y="36835"/>
                </a:lnTo>
                <a:cubicBezTo>
                  <a:pt x="0" y="16505"/>
                  <a:pt x="16505" y="0"/>
                  <a:pt x="36835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69" name="Text 67"/>
          <p:cNvSpPr/>
          <p:nvPr/>
        </p:nvSpPr>
        <p:spPr>
          <a:xfrm>
            <a:off x="7951389" y="3175767"/>
            <a:ext cx="3618924" cy="221003"/>
          </a:xfrm>
          <a:prstGeom prst="rect">
            <a:avLst/>
          </a:prstGeom>
          <a:noFill/>
          <a:ln/>
        </p:spPr>
        <p:txBody>
          <a:bodyPr wrap="square" lIns="73668" tIns="36834" rIns="73668" bIns="36834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/octaura/inference/prod/models/...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025057" y="3433490"/>
            <a:ext cx="3536048" cy="1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25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s3-key, version, input-shape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025057" y="3574609"/>
            <a:ext cx="3536048" cy="1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25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output-name, description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025057" y="3715728"/>
            <a:ext cx="3536048" cy="1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25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default-model-id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833521" y="4081534"/>
            <a:ext cx="3799410" cy="889537"/>
          </a:xfrm>
          <a:custGeom>
            <a:avLst/>
            <a:gdLst/>
            <a:ahLst/>
            <a:cxnLst/>
            <a:rect l="l" t="t" r="r" b="b"/>
            <a:pathLst>
              <a:path w="3799410" h="889537">
                <a:moveTo>
                  <a:pt x="73671" y="0"/>
                </a:moveTo>
                <a:lnTo>
                  <a:pt x="3725739" y="0"/>
                </a:lnTo>
                <a:cubicBezTo>
                  <a:pt x="3766426" y="0"/>
                  <a:pt x="3799410" y="32984"/>
                  <a:pt x="3799410" y="73671"/>
                </a:cubicBezTo>
                <a:lnTo>
                  <a:pt x="3799410" y="815866"/>
                </a:lnTo>
                <a:cubicBezTo>
                  <a:pt x="3799410" y="856553"/>
                  <a:pt x="3766426" y="889537"/>
                  <a:pt x="3725739" y="889537"/>
                </a:cubicBezTo>
                <a:lnTo>
                  <a:pt x="73671" y="889537"/>
                </a:lnTo>
                <a:cubicBezTo>
                  <a:pt x="32984" y="889537"/>
                  <a:pt x="0" y="856553"/>
                  <a:pt x="0" y="815866"/>
                </a:cubicBezTo>
                <a:lnTo>
                  <a:pt x="0" y="73671"/>
                </a:lnTo>
                <a:cubicBezTo>
                  <a:pt x="0" y="33011"/>
                  <a:pt x="33011" y="0"/>
                  <a:pt x="73671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4299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69806" y="4217821"/>
            <a:ext cx="147335" cy="147335"/>
          </a:xfrm>
          <a:custGeom>
            <a:avLst/>
            <a:gdLst/>
            <a:ahLst/>
            <a:cxnLst/>
            <a:rect l="l" t="t" r="r" b="b"/>
            <a:pathLst>
              <a:path w="147335" h="147335">
                <a:moveTo>
                  <a:pt x="138156" y="55251"/>
                </a:moveTo>
                <a:lnTo>
                  <a:pt x="140429" y="55251"/>
                </a:lnTo>
                <a:cubicBezTo>
                  <a:pt x="144256" y="55251"/>
                  <a:pt x="147335" y="52172"/>
                  <a:pt x="147335" y="48344"/>
                </a:cubicBezTo>
                <a:lnTo>
                  <a:pt x="147335" y="6906"/>
                </a:lnTo>
                <a:cubicBezTo>
                  <a:pt x="147335" y="4115"/>
                  <a:pt x="145666" y="1583"/>
                  <a:pt x="143076" y="518"/>
                </a:cubicBezTo>
                <a:cubicBezTo>
                  <a:pt x="140487" y="-547"/>
                  <a:pt x="137523" y="58"/>
                  <a:pt x="135537" y="2014"/>
                </a:cubicBezTo>
                <a:lnTo>
                  <a:pt x="120660" y="16921"/>
                </a:lnTo>
                <a:cubicBezTo>
                  <a:pt x="107912" y="6360"/>
                  <a:pt x="91509" y="0"/>
                  <a:pt x="73668" y="0"/>
                </a:cubicBezTo>
                <a:cubicBezTo>
                  <a:pt x="36546" y="0"/>
                  <a:pt x="5842" y="27453"/>
                  <a:pt x="748" y="63164"/>
                </a:cubicBezTo>
                <a:cubicBezTo>
                  <a:pt x="29" y="68200"/>
                  <a:pt x="3511" y="72862"/>
                  <a:pt x="8547" y="73581"/>
                </a:cubicBezTo>
                <a:cubicBezTo>
                  <a:pt x="13582" y="74301"/>
                  <a:pt x="18244" y="70790"/>
                  <a:pt x="18964" y="65783"/>
                </a:cubicBezTo>
                <a:cubicBezTo>
                  <a:pt x="22791" y="38992"/>
                  <a:pt x="45841" y="18417"/>
                  <a:pt x="73668" y="18417"/>
                </a:cubicBezTo>
                <a:cubicBezTo>
                  <a:pt x="86444" y="18417"/>
                  <a:pt x="98185" y="22733"/>
                  <a:pt x="107538" y="30014"/>
                </a:cubicBezTo>
                <a:lnTo>
                  <a:pt x="94099" y="43452"/>
                </a:lnTo>
                <a:cubicBezTo>
                  <a:pt x="92113" y="45438"/>
                  <a:pt x="91538" y="48402"/>
                  <a:pt x="92603" y="50992"/>
                </a:cubicBezTo>
                <a:cubicBezTo>
                  <a:pt x="93667" y="53582"/>
                  <a:pt x="96200" y="55251"/>
                  <a:pt x="98991" y="55251"/>
                </a:cubicBezTo>
                <a:lnTo>
                  <a:pt x="138156" y="55251"/>
                </a:lnTo>
                <a:close/>
                <a:moveTo>
                  <a:pt x="146616" y="84171"/>
                </a:moveTo>
                <a:cubicBezTo>
                  <a:pt x="147335" y="79135"/>
                  <a:pt x="143825" y="74473"/>
                  <a:pt x="138818" y="73754"/>
                </a:cubicBezTo>
                <a:cubicBezTo>
                  <a:pt x="133810" y="73035"/>
                  <a:pt x="129120" y="76545"/>
                  <a:pt x="128400" y="81552"/>
                </a:cubicBezTo>
                <a:cubicBezTo>
                  <a:pt x="124573" y="108315"/>
                  <a:pt x="101523" y="128890"/>
                  <a:pt x="73696" y="128890"/>
                </a:cubicBezTo>
                <a:cubicBezTo>
                  <a:pt x="60920" y="128890"/>
                  <a:pt x="49179" y="124573"/>
                  <a:pt x="39827" y="117293"/>
                </a:cubicBezTo>
                <a:lnTo>
                  <a:pt x="53236" y="103883"/>
                </a:lnTo>
                <a:cubicBezTo>
                  <a:pt x="55222" y="101897"/>
                  <a:pt x="55798" y="98933"/>
                  <a:pt x="54733" y="96344"/>
                </a:cubicBezTo>
                <a:cubicBezTo>
                  <a:pt x="53668" y="93754"/>
                  <a:pt x="51136" y="92085"/>
                  <a:pt x="48344" y="92085"/>
                </a:cubicBezTo>
                <a:lnTo>
                  <a:pt x="6906" y="92085"/>
                </a:lnTo>
                <a:cubicBezTo>
                  <a:pt x="3079" y="92085"/>
                  <a:pt x="0" y="95164"/>
                  <a:pt x="0" y="98991"/>
                </a:cubicBezTo>
                <a:lnTo>
                  <a:pt x="0" y="140429"/>
                </a:lnTo>
                <a:cubicBezTo>
                  <a:pt x="0" y="143220"/>
                  <a:pt x="1669" y="145753"/>
                  <a:pt x="4259" y="146817"/>
                </a:cubicBezTo>
                <a:cubicBezTo>
                  <a:pt x="6849" y="147882"/>
                  <a:pt x="9813" y="147278"/>
                  <a:pt x="11798" y="145321"/>
                </a:cubicBezTo>
                <a:lnTo>
                  <a:pt x="26705" y="130415"/>
                </a:lnTo>
                <a:cubicBezTo>
                  <a:pt x="39424" y="140976"/>
                  <a:pt x="55826" y="147335"/>
                  <a:pt x="73668" y="147335"/>
                </a:cubicBezTo>
                <a:cubicBezTo>
                  <a:pt x="110789" y="147335"/>
                  <a:pt x="141494" y="119883"/>
                  <a:pt x="146587" y="84171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75" name="Text 73"/>
          <p:cNvSpPr/>
          <p:nvPr/>
        </p:nvSpPr>
        <p:spPr>
          <a:xfrm>
            <a:off x="8209226" y="4199404"/>
            <a:ext cx="745885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 Reload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7951389" y="4457240"/>
            <a:ext cx="580133" cy="221003"/>
          </a:xfrm>
          <a:custGeom>
            <a:avLst/>
            <a:gdLst/>
            <a:ahLst/>
            <a:cxnLst/>
            <a:rect l="l" t="t" r="r" b="b"/>
            <a:pathLst>
              <a:path w="580133" h="221003">
                <a:moveTo>
                  <a:pt x="36835" y="0"/>
                </a:moveTo>
                <a:lnTo>
                  <a:pt x="543298" y="0"/>
                </a:lnTo>
                <a:cubicBezTo>
                  <a:pt x="563642" y="0"/>
                  <a:pt x="580133" y="16491"/>
                  <a:pt x="580133" y="36835"/>
                </a:cubicBezTo>
                <a:lnTo>
                  <a:pt x="580133" y="184168"/>
                </a:lnTo>
                <a:cubicBezTo>
                  <a:pt x="580133" y="204512"/>
                  <a:pt x="563642" y="221003"/>
                  <a:pt x="543298" y="221003"/>
                </a:cubicBezTo>
                <a:lnTo>
                  <a:pt x="36835" y="221003"/>
                </a:lnTo>
                <a:cubicBezTo>
                  <a:pt x="16505" y="221003"/>
                  <a:pt x="0" y="204498"/>
                  <a:pt x="0" y="184168"/>
                </a:cubicBezTo>
                <a:lnTo>
                  <a:pt x="0" y="36835"/>
                </a:lnTo>
                <a:cubicBezTo>
                  <a:pt x="0" y="16505"/>
                  <a:pt x="16505" y="0"/>
                  <a:pt x="36835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77" name="Text 75"/>
          <p:cNvSpPr/>
          <p:nvPr/>
        </p:nvSpPr>
        <p:spPr>
          <a:xfrm>
            <a:off x="7951389" y="4457240"/>
            <a:ext cx="635384" cy="221003"/>
          </a:xfrm>
          <a:prstGeom prst="rect">
            <a:avLst/>
          </a:prstGeom>
          <a:noFill/>
          <a:ln/>
        </p:spPr>
        <p:txBody>
          <a:bodyPr wrap="square" lIns="73668" tIns="36834" rIns="73668" bIns="36834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S3 Event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583090" y="4512377"/>
            <a:ext cx="110502" cy="110502"/>
          </a:xfrm>
          <a:custGeom>
            <a:avLst/>
            <a:gdLst/>
            <a:ahLst/>
            <a:cxnLst/>
            <a:rect l="l" t="t" r="r" b="b"/>
            <a:pathLst>
              <a:path w="110502" h="110502">
                <a:moveTo>
                  <a:pt x="108473" y="60128"/>
                </a:moveTo>
                <a:cubicBezTo>
                  <a:pt x="111171" y="57431"/>
                  <a:pt x="111171" y="53049"/>
                  <a:pt x="108473" y="50352"/>
                </a:cubicBezTo>
                <a:lnTo>
                  <a:pt x="73941" y="15820"/>
                </a:lnTo>
                <a:cubicBezTo>
                  <a:pt x="71243" y="13122"/>
                  <a:pt x="66862" y="13122"/>
                  <a:pt x="64164" y="15820"/>
                </a:cubicBezTo>
                <a:cubicBezTo>
                  <a:pt x="61466" y="18518"/>
                  <a:pt x="61466" y="22899"/>
                  <a:pt x="64164" y="25597"/>
                </a:cubicBezTo>
                <a:lnTo>
                  <a:pt x="86912" y="48344"/>
                </a:lnTo>
                <a:lnTo>
                  <a:pt x="6906" y="48344"/>
                </a:lnTo>
                <a:cubicBezTo>
                  <a:pt x="3086" y="48344"/>
                  <a:pt x="0" y="51431"/>
                  <a:pt x="0" y="55251"/>
                </a:cubicBezTo>
                <a:cubicBezTo>
                  <a:pt x="0" y="59071"/>
                  <a:pt x="3086" y="62157"/>
                  <a:pt x="6906" y="62157"/>
                </a:cubicBezTo>
                <a:lnTo>
                  <a:pt x="86912" y="62157"/>
                </a:lnTo>
                <a:lnTo>
                  <a:pt x="64164" y="84905"/>
                </a:lnTo>
                <a:cubicBezTo>
                  <a:pt x="61466" y="87603"/>
                  <a:pt x="61466" y="91984"/>
                  <a:pt x="64164" y="94682"/>
                </a:cubicBezTo>
                <a:cubicBezTo>
                  <a:pt x="66862" y="97379"/>
                  <a:pt x="71243" y="97379"/>
                  <a:pt x="73941" y="94682"/>
                </a:cubicBezTo>
                <a:lnTo>
                  <a:pt x="108473" y="6015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79" name="Shape 77"/>
          <p:cNvSpPr/>
          <p:nvPr/>
        </p:nvSpPr>
        <p:spPr>
          <a:xfrm>
            <a:off x="8744238" y="4457240"/>
            <a:ext cx="745885" cy="221003"/>
          </a:xfrm>
          <a:custGeom>
            <a:avLst/>
            <a:gdLst/>
            <a:ahLst/>
            <a:cxnLst/>
            <a:rect l="l" t="t" r="r" b="b"/>
            <a:pathLst>
              <a:path w="745885" h="221003">
                <a:moveTo>
                  <a:pt x="36835" y="0"/>
                </a:moveTo>
                <a:lnTo>
                  <a:pt x="709051" y="0"/>
                </a:lnTo>
                <a:cubicBezTo>
                  <a:pt x="729394" y="0"/>
                  <a:pt x="745885" y="16491"/>
                  <a:pt x="745885" y="36835"/>
                </a:cubicBezTo>
                <a:lnTo>
                  <a:pt x="745885" y="184168"/>
                </a:lnTo>
                <a:cubicBezTo>
                  <a:pt x="745885" y="204512"/>
                  <a:pt x="729394" y="221003"/>
                  <a:pt x="709051" y="221003"/>
                </a:cubicBezTo>
                <a:lnTo>
                  <a:pt x="36835" y="221003"/>
                </a:lnTo>
                <a:cubicBezTo>
                  <a:pt x="16505" y="221003"/>
                  <a:pt x="0" y="204498"/>
                  <a:pt x="0" y="184168"/>
                </a:cubicBezTo>
                <a:lnTo>
                  <a:pt x="0" y="36835"/>
                </a:lnTo>
                <a:cubicBezTo>
                  <a:pt x="0" y="16505"/>
                  <a:pt x="16505" y="0"/>
                  <a:pt x="36835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80" name="Text 78"/>
          <p:cNvSpPr/>
          <p:nvPr/>
        </p:nvSpPr>
        <p:spPr>
          <a:xfrm>
            <a:off x="8744238" y="4457240"/>
            <a:ext cx="801136" cy="221003"/>
          </a:xfrm>
          <a:prstGeom prst="rect">
            <a:avLst/>
          </a:prstGeom>
          <a:noFill/>
          <a:ln/>
        </p:spPr>
        <p:txBody>
          <a:bodyPr wrap="square" lIns="73668" tIns="36834" rIns="73668" bIns="36834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EventBridge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9540194" y="4512377"/>
            <a:ext cx="110502" cy="110502"/>
          </a:xfrm>
          <a:custGeom>
            <a:avLst/>
            <a:gdLst/>
            <a:ahLst/>
            <a:cxnLst/>
            <a:rect l="l" t="t" r="r" b="b"/>
            <a:pathLst>
              <a:path w="110502" h="110502">
                <a:moveTo>
                  <a:pt x="108473" y="60128"/>
                </a:moveTo>
                <a:cubicBezTo>
                  <a:pt x="111171" y="57431"/>
                  <a:pt x="111171" y="53049"/>
                  <a:pt x="108473" y="50352"/>
                </a:cubicBezTo>
                <a:lnTo>
                  <a:pt x="73941" y="15820"/>
                </a:lnTo>
                <a:cubicBezTo>
                  <a:pt x="71243" y="13122"/>
                  <a:pt x="66862" y="13122"/>
                  <a:pt x="64164" y="15820"/>
                </a:cubicBezTo>
                <a:cubicBezTo>
                  <a:pt x="61466" y="18518"/>
                  <a:pt x="61466" y="22899"/>
                  <a:pt x="64164" y="25597"/>
                </a:cubicBezTo>
                <a:lnTo>
                  <a:pt x="86912" y="48344"/>
                </a:lnTo>
                <a:lnTo>
                  <a:pt x="6906" y="48344"/>
                </a:lnTo>
                <a:cubicBezTo>
                  <a:pt x="3086" y="48344"/>
                  <a:pt x="0" y="51431"/>
                  <a:pt x="0" y="55251"/>
                </a:cubicBezTo>
                <a:cubicBezTo>
                  <a:pt x="0" y="59071"/>
                  <a:pt x="3086" y="62157"/>
                  <a:pt x="6906" y="62157"/>
                </a:cubicBezTo>
                <a:lnTo>
                  <a:pt x="86912" y="62157"/>
                </a:lnTo>
                <a:lnTo>
                  <a:pt x="64164" y="84905"/>
                </a:lnTo>
                <a:cubicBezTo>
                  <a:pt x="61466" y="87603"/>
                  <a:pt x="61466" y="91984"/>
                  <a:pt x="64164" y="94682"/>
                </a:cubicBezTo>
                <a:cubicBezTo>
                  <a:pt x="66862" y="97379"/>
                  <a:pt x="71243" y="97379"/>
                  <a:pt x="73941" y="94682"/>
                </a:cubicBezTo>
                <a:lnTo>
                  <a:pt x="108473" y="6015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82" name="Shape 80"/>
          <p:cNvSpPr/>
          <p:nvPr/>
        </p:nvSpPr>
        <p:spPr>
          <a:xfrm>
            <a:off x="9701342" y="4457240"/>
            <a:ext cx="543299" cy="221003"/>
          </a:xfrm>
          <a:custGeom>
            <a:avLst/>
            <a:gdLst/>
            <a:ahLst/>
            <a:cxnLst/>
            <a:rect l="l" t="t" r="r" b="b"/>
            <a:pathLst>
              <a:path w="543299" h="221003">
                <a:moveTo>
                  <a:pt x="36835" y="0"/>
                </a:moveTo>
                <a:lnTo>
                  <a:pt x="506465" y="0"/>
                </a:lnTo>
                <a:cubicBezTo>
                  <a:pt x="526808" y="0"/>
                  <a:pt x="543299" y="16491"/>
                  <a:pt x="543299" y="36835"/>
                </a:cubicBezTo>
                <a:lnTo>
                  <a:pt x="543299" y="184168"/>
                </a:lnTo>
                <a:cubicBezTo>
                  <a:pt x="543299" y="204512"/>
                  <a:pt x="526808" y="221003"/>
                  <a:pt x="506465" y="221003"/>
                </a:cubicBezTo>
                <a:lnTo>
                  <a:pt x="36835" y="221003"/>
                </a:lnTo>
                <a:cubicBezTo>
                  <a:pt x="16505" y="221003"/>
                  <a:pt x="0" y="204498"/>
                  <a:pt x="0" y="184168"/>
                </a:cubicBezTo>
                <a:lnTo>
                  <a:pt x="0" y="36835"/>
                </a:lnTo>
                <a:cubicBezTo>
                  <a:pt x="0" y="16505"/>
                  <a:pt x="16505" y="0"/>
                  <a:pt x="36835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83" name="Text 81"/>
          <p:cNvSpPr/>
          <p:nvPr/>
        </p:nvSpPr>
        <p:spPr>
          <a:xfrm>
            <a:off x="9701342" y="4457240"/>
            <a:ext cx="598550" cy="221003"/>
          </a:xfrm>
          <a:prstGeom prst="rect">
            <a:avLst/>
          </a:prstGeom>
          <a:noFill/>
          <a:ln/>
        </p:spPr>
        <p:txBody>
          <a:bodyPr wrap="square" lIns="73668" tIns="36834" rIns="73668" bIns="36834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7951389" y="4714963"/>
            <a:ext cx="3609716" cy="138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25" dirty="0">
                <a:solidFill>
                  <a:srgbClr val="102A4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reload on new model promotion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7826154" y="5088825"/>
            <a:ext cx="3821511" cy="1215517"/>
          </a:xfrm>
          <a:custGeom>
            <a:avLst/>
            <a:gdLst/>
            <a:ahLst/>
            <a:cxnLst/>
            <a:rect l="l" t="t" r="r" b="b"/>
            <a:pathLst>
              <a:path w="3821511" h="1215517">
                <a:moveTo>
                  <a:pt x="73672" y="0"/>
                </a:moveTo>
                <a:lnTo>
                  <a:pt x="3747838" y="0"/>
                </a:lnTo>
                <a:cubicBezTo>
                  <a:pt x="3788526" y="0"/>
                  <a:pt x="3821511" y="32984"/>
                  <a:pt x="3821511" y="73672"/>
                </a:cubicBezTo>
                <a:lnTo>
                  <a:pt x="3821511" y="1141844"/>
                </a:lnTo>
                <a:cubicBezTo>
                  <a:pt x="3821511" y="1182532"/>
                  <a:pt x="3788526" y="1215517"/>
                  <a:pt x="3747838" y="1215517"/>
                </a:cubicBezTo>
                <a:lnTo>
                  <a:pt x="73672" y="1215517"/>
                </a:lnTo>
                <a:cubicBezTo>
                  <a:pt x="32984" y="1215517"/>
                  <a:pt x="0" y="1182532"/>
                  <a:pt x="0" y="1141844"/>
                </a:cubicBezTo>
                <a:lnTo>
                  <a:pt x="0" y="73672"/>
                </a:lnTo>
                <a:cubicBezTo>
                  <a:pt x="0" y="32984"/>
                  <a:pt x="32984" y="0"/>
                  <a:pt x="73672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65D"/>
              </a:gs>
              <a:gs pos="100000">
                <a:srgbClr val="2B6CB0"/>
              </a:gs>
            </a:gsLst>
            <a:lin ang="2700000" scaled="1"/>
          </a:gradFill>
          <a:ln/>
        </p:spPr>
      </p:sp>
      <p:sp>
        <p:nvSpPr>
          <p:cNvPr id="86" name="Shape 84"/>
          <p:cNvSpPr/>
          <p:nvPr/>
        </p:nvSpPr>
        <p:spPr>
          <a:xfrm>
            <a:off x="7955073" y="5217743"/>
            <a:ext cx="147335" cy="147335"/>
          </a:xfrm>
          <a:custGeom>
            <a:avLst/>
            <a:gdLst/>
            <a:ahLst/>
            <a:cxnLst/>
            <a:rect l="l" t="t" r="r" b="b"/>
            <a:pathLst>
              <a:path w="147335" h="147335">
                <a:moveTo>
                  <a:pt x="18417" y="18417"/>
                </a:moveTo>
                <a:cubicBezTo>
                  <a:pt x="18417" y="13323"/>
                  <a:pt x="14302" y="9208"/>
                  <a:pt x="9208" y="9208"/>
                </a:cubicBezTo>
                <a:cubicBezTo>
                  <a:pt x="4115" y="9208"/>
                  <a:pt x="0" y="13323"/>
                  <a:pt x="0" y="18417"/>
                </a:cubicBezTo>
                <a:lnTo>
                  <a:pt x="0" y="115106"/>
                </a:lnTo>
                <a:cubicBezTo>
                  <a:pt x="0" y="127825"/>
                  <a:pt x="10302" y="138127"/>
                  <a:pt x="23021" y="138127"/>
                </a:cubicBezTo>
                <a:lnTo>
                  <a:pt x="138127" y="138127"/>
                </a:lnTo>
                <a:cubicBezTo>
                  <a:pt x="143220" y="138127"/>
                  <a:pt x="147335" y="134012"/>
                  <a:pt x="147335" y="128918"/>
                </a:cubicBezTo>
                <a:cubicBezTo>
                  <a:pt x="147335" y="123825"/>
                  <a:pt x="143220" y="119710"/>
                  <a:pt x="138127" y="119710"/>
                </a:cubicBezTo>
                <a:lnTo>
                  <a:pt x="23021" y="119710"/>
                </a:lnTo>
                <a:cubicBezTo>
                  <a:pt x="20489" y="119710"/>
                  <a:pt x="18417" y="117638"/>
                  <a:pt x="18417" y="115106"/>
                </a:cubicBezTo>
                <a:lnTo>
                  <a:pt x="18417" y="18417"/>
                </a:lnTo>
                <a:close/>
                <a:moveTo>
                  <a:pt x="135422" y="43337"/>
                </a:moveTo>
                <a:cubicBezTo>
                  <a:pt x="139019" y="39740"/>
                  <a:pt x="139019" y="33899"/>
                  <a:pt x="135422" y="30302"/>
                </a:cubicBezTo>
                <a:cubicBezTo>
                  <a:pt x="131825" y="26705"/>
                  <a:pt x="125983" y="26705"/>
                  <a:pt x="122386" y="30302"/>
                </a:cubicBezTo>
                <a:lnTo>
                  <a:pt x="92085" y="60632"/>
                </a:lnTo>
                <a:lnTo>
                  <a:pt x="75567" y="44143"/>
                </a:lnTo>
                <a:cubicBezTo>
                  <a:pt x="71970" y="40546"/>
                  <a:pt x="66128" y="40546"/>
                  <a:pt x="62531" y="44143"/>
                </a:cubicBezTo>
                <a:lnTo>
                  <a:pt x="34906" y="71768"/>
                </a:lnTo>
                <a:cubicBezTo>
                  <a:pt x="31309" y="75365"/>
                  <a:pt x="31309" y="81207"/>
                  <a:pt x="34906" y="84804"/>
                </a:cubicBezTo>
                <a:cubicBezTo>
                  <a:pt x="38503" y="88401"/>
                  <a:pt x="44344" y="88401"/>
                  <a:pt x="47942" y="84804"/>
                </a:cubicBezTo>
                <a:lnTo>
                  <a:pt x="69063" y="63682"/>
                </a:lnTo>
                <a:lnTo>
                  <a:pt x="85581" y="80200"/>
                </a:lnTo>
                <a:cubicBezTo>
                  <a:pt x="89178" y="83797"/>
                  <a:pt x="95020" y="83797"/>
                  <a:pt x="98617" y="80200"/>
                </a:cubicBezTo>
                <a:lnTo>
                  <a:pt x="135451" y="4336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8194493" y="5199326"/>
            <a:ext cx="810344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7936656" y="5457163"/>
            <a:ext cx="3600508" cy="294671"/>
          </a:xfrm>
          <a:custGeom>
            <a:avLst/>
            <a:gdLst/>
            <a:ahLst/>
            <a:cxnLst/>
            <a:rect l="l" t="t" r="r" b="b"/>
            <a:pathLst>
              <a:path w="3600508" h="294671">
                <a:moveTo>
                  <a:pt x="36834" y="0"/>
                </a:moveTo>
                <a:lnTo>
                  <a:pt x="3563674" y="0"/>
                </a:lnTo>
                <a:cubicBezTo>
                  <a:pt x="3584016" y="0"/>
                  <a:pt x="3600508" y="16491"/>
                  <a:pt x="3600508" y="36834"/>
                </a:cubicBezTo>
                <a:lnTo>
                  <a:pt x="3600508" y="257837"/>
                </a:lnTo>
                <a:cubicBezTo>
                  <a:pt x="3600508" y="278180"/>
                  <a:pt x="3584016" y="294671"/>
                  <a:pt x="3563674" y="294671"/>
                </a:cubicBezTo>
                <a:lnTo>
                  <a:pt x="36834" y="294671"/>
                </a:lnTo>
                <a:cubicBezTo>
                  <a:pt x="16491" y="294671"/>
                  <a:pt x="0" y="278180"/>
                  <a:pt x="0" y="257837"/>
                </a:cubicBezTo>
                <a:lnTo>
                  <a:pt x="0" y="36834"/>
                </a:lnTo>
                <a:cubicBezTo>
                  <a:pt x="0" y="16505"/>
                  <a:pt x="16505" y="0"/>
                  <a:pt x="3683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8017230" y="5549133"/>
            <a:ext cx="124314" cy="110502"/>
          </a:xfrm>
          <a:custGeom>
            <a:avLst/>
            <a:gdLst/>
            <a:ahLst/>
            <a:cxnLst/>
            <a:rect l="l" t="t" r="r" b="b"/>
            <a:pathLst>
              <a:path w="124314" h="110502">
                <a:moveTo>
                  <a:pt x="0" y="72517"/>
                </a:moveTo>
                <a:cubicBezTo>
                  <a:pt x="0" y="89675"/>
                  <a:pt x="13921" y="103595"/>
                  <a:pt x="31079" y="103595"/>
                </a:cubicBezTo>
                <a:lnTo>
                  <a:pt x="96689" y="103595"/>
                </a:lnTo>
                <a:cubicBezTo>
                  <a:pt x="111948" y="103595"/>
                  <a:pt x="124314" y="91228"/>
                  <a:pt x="124314" y="75970"/>
                </a:cubicBezTo>
                <a:cubicBezTo>
                  <a:pt x="124314" y="64833"/>
                  <a:pt x="117732" y="55229"/>
                  <a:pt x="108235" y="50870"/>
                </a:cubicBezTo>
                <a:cubicBezTo>
                  <a:pt x="109681" y="48042"/>
                  <a:pt x="110502" y="44826"/>
                  <a:pt x="110502" y="41438"/>
                </a:cubicBezTo>
                <a:cubicBezTo>
                  <a:pt x="110502" y="29999"/>
                  <a:pt x="101221" y="20719"/>
                  <a:pt x="89782" y="20719"/>
                </a:cubicBezTo>
                <a:cubicBezTo>
                  <a:pt x="85962" y="20719"/>
                  <a:pt x="82401" y="21755"/>
                  <a:pt x="79337" y="23546"/>
                </a:cubicBezTo>
                <a:cubicBezTo>
                  <a:pt x="74135" y="13662"/>
                  <a:pt x="63754" y="6906"/>
                  <a:pt x="51798" y="6906"/>
                </a:cubicBezTo>
                <a:cubicBezTo>
                  <a:pt x="34640" y="6906"/>
                  <a:pt x="20719" y="20827"/>
                  <a:pt x="20719" y="37985"/>
                </a:cubicBezTo>
                <a:cubicBezTo>
                  <a:pt x="20719" y="39711"/>
                  <a:pt x="20870" y="41416"/>
                  <a:pt x="21129" y="43057"/>
                </a:cubicBezTo>
                <a:cubicBezTo>
                  <a:pt x="8849" y="47201"/>
                  <a:pt x="0" y="58833"/>
                  <a:pt x="0" y="72517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90" name="Text 88"/>
          <p:cNvSpPr/>
          <p:nvPr/>
        </p:nvSpPr>
        <p:spPr>
          <a:xfrm>
            <a:off x="8222118" y="5530831"/>
            <a:ext cx="1510187" cy="14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 Metrics + Alarms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7936656" y="5825387"/>
            <a:ext cx="3600508" cy="294671"/>
          </a:xfrm>
          <a:custGeom>
            <a:avLst/>
            <a:gdLst/>
            <a:ahLst/>
            <a:cxnLst/>
            <a:rect l="l" t="t" r="r" b="b"/>
            <a:pathLst>
              <a:path w="3600508" h="294671">
                <a:moveTo>
                  <a:pt x="36834" y="0"/>
                </a:moveTo>
                <a:lnTo>
                  <a:pt x="3563674" y="0"/>
                </a:lnTo>
                <a:cubicBezTo>
                  <a:pt x="3584016" y="0"/>
                  <a:pt x="3600508" y="16491"/>
                  <a:pt x="3600508" y="36834"/>
                </a:cubicBezTo>
                <a:lnTo>
                  <a:pt x="3600508" y="257837"/>
                </a:lnTo>
                <a:cubicBezTo>
                  <a:pt x="3600508" y="278180"/>
                  <a:pt x="3584016" y="294671"/>
                  <a:pt x="3563674" y="294671"/>
                </a:cubicBezTo>
                <a:lnTo>
                  <a:pt x="36834" y="294671"/>
                </a:lnTo>
                <a:cubicBezTo>
                  <a:pt x="16491" y="294671"/>
                  <a:pt x="0" y="278180"/>
                  <a:pt x="0" y="257837"/>
                </a:cubicBezTo>
                <a:lnTo>
                  <a:pt x="0" y="36834"/>
                </a:lnTo>
                <a:cubicBezTo>
                  <a:pt x="0" y="16505"/>
                  <a:pt x="16505" y="0"/>
                  <a:pt x="3683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8024136" y="5917357"/>
            <a:ext cx="110502" cy="110502"/>
          </a:xfrm>
          <a:custGeom>
            <a:avLst/>
            <a:gdLst/>
            <a:ahLst/>
            <a:cxnLst/>
            <a:rect l="l" t="t" r="r" b="b"/>
            <a:pathLst>
              <a:path w="110502" h="110502">
                <a:moveTo>
                  <a:pt x="89782" y="44891"/>
                </a:moveTo>
                <a:cubicBezTo>
                  <a:pt x="89782" y="54798"/>
                  <a:pt x="86567" y="63948"/>
                  <a:pt x="81150" y="71373"/>
                </a:cubicBezTo>
                <a:lnTo>
                  <a:pt x="108473" y="98718"/>
                </a:lnTo>
                <a:cubicBezTo>
                  <a:pt x="111171" y="101415"/>
                  <a:pt x="111171" y="105797"/>
                  <a:pt x="108473" y="108494"/>
                </a:cubicBezTo>
                <a:cubicBezTo>
                  <a:pt x="105775" y="111192"/>
                  <a:pt x="101394" y="111192"/>
                  <a:pt x="98696" y="108494"/>
                </a:cubicBezTo>
                <a:lnTo>
                  <a:pt x="71373" y="81150"/>
                </a:lnTo>
                <a:cubicBezTo>
                  <a:pt x="63948" y="86567"/>
                  <a:pt x="54798" y="89782"/>
                  <a:pt x="44891" y="89782"/>
                </a:cubicBezTo>
                <a:cubicBezTo>
                  <a:pt x="20093" y="89782"/>
                  <a:pt x="0" y="69689"/>
                  <a:pt x="0" y="44891"/>
                </a:cubicBezTo>
                <a:cubicBezTo>
                  <a:pt x="0" y="20093"/>
                  <a:pt x="20093" y="0"/>
                  <a:pt x="44891" y="0"/>
                </a:cubicBezTo>
                <a:cubicBezTo>
                  <a:pt x="69689" y="0"/>
                  <a:pt x="89782" y="20093"/>
                  <a:pt x="89782" y="44891"/>
                </a:cubicBezTo>
                <a:close/>
                <a:moveTo>
                  <a:pt x="44891" y="75970"/>
                </a:moveTo>
                <a:cubicBezTo>
                  <a:pt x="62044" y="75970"/>
                  <a:pt x="75970" y="62044"/>
                  <a:pt x="75970" y="44891"/>
                </a:cubicBezTo>
                <a:cubicBezTo>
                  <a:pt x="75970" y="27739"/>
                  <a:pt x="62044" y="13813"/>
                  <a:pt x="44891" y="13813"/>
                </a:cubicBezTo>
                <a:cubicBezTo>
                  <a:pt x="27739" y="13813"/>
                  <a:pt x="13813" y="27739"/>
                  <a:pt x="13813" y="44891"/>
                </a:cubicBezTo>
                <a:cubicBezTo>
                  <a:pt x="13813" y="62044"/>
                  <a:pt x="27739" y="75970"/>
                  <a:pt x="44891" y="7597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93" name="Text 91"/>
          <p:cNvSpPr/>
          <p:nvPr/>
        </p:nvSpPr>
        <p:spPr>
          <a:xfrm>
            <a:off x="8222118" y="5899055"/>
            <a:ext cx="1335227" cy="14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 Logs Insights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7936656" y="6193611"/>
            <a:ext cx="3600508" cy="294671"/>
          </a:xfrm>
          <a:custGeom>
            <a:avLst/>
            <a:gdLst/>
            <a:ahLst/>
            <a:cxnLst/>
            <a:rect l="l" t="t" r="r" b="b"/>
            <a:pathLst>
              <a:path w="3600508" h="294671">
                <a:moveTo>
                  <a:pt x="36834" y="0"/>
                </a:moveTo>
                <a:lnTo>
                  <a:pt x="3563674" y="0"/>
                </a:lnTo>
                <a:cubicBezTo>
                  <a:pt x="3584016" y="0"/>
                  <a:pt x="3600508" y="16491"/>
                  <a:pt x="3600508" y="36834"/>
                </a:cubicBezTo>
                <a:lnTo>
                  <a:pt x="3600508" y="257837"/>
                </a:lnTo>
                <a:cubicBezTo>
                  <a:pt x="3600508" y="278180"/>
                  <a:pt x="3584016" y="294671"/>
                  <a:pt x="3563674" y="294671"/>
                </a:cubicBezTo>
                <a:lnTo>
                  <a:pt x="36834" y="294671"/>
                </a:lnTo>
                <a:cubicBezTo>
                  <a:pt x="16491" y="294671"/>
                  <a:pt x="0" y="278180"/>
                  <a:pt x="0" y="257837"/>
                </a:cubicBezTo>
                <a:lnTo>
                  <a:pt x="0" y="36834"/>
                </a:lnTo>
                <a:cubicBezTo>
                  <a:pt x="0" y="16505"/>
                  <a:pt x="16505" y="0"/>
                  <a:pt x="3683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8024136" y="6285581"/>
            <a:ext cx="110502" cy="110502"/>
          </a:xfrm>
          <a:custGeom>
            <a:avLst/>
            <a:gdLst/>
            <a:ahLst/>
            <a:cxnLst/>
            <a:rect l="l" t="t" r="r" b="b"/>
            <a:pathLst>
              <a:path w="110502" h="110502">
                <a:moveTo>
                  <a:pt x="0" y="17266"/>
                </a:moveTo>
                <a:cubicBezTo>
                  <a:pt x="0" y="11547"/>
                  <a:pt x="4640" y="6906"/>
                  <a:pt x="10360" y="6906"/>
                </a:cubicBezTo>
                <a:lnTo>
                  <a:pt x="31079" y="6906"/>
                </a:lnTo>
                <a:cubicBezTo>
                  <a:pt x="36798" y="6906"/>
                  <a:pt x="41438" y="11547"/>
                  <a:pt x="41438" y="17266"/>
                </a:cubicBezTo>
                <a:lnTo>
                  <a:pt x="41438" y="20719"/>
                </a:lnTo>
                <a:lnTo>
                  <a:pt x="69063" y="20719"/>
                </a:lnTo>
                <a:lnTo>
                  <a:pt x="69063" y="17266"/>
                </a:lnTo>
                <a:cubicBezTo>
                  <a:pt x="69063" y="11547"/>
                  <a:pt x="73704" y="6906"/>
                  <a:pt x="79423" y="6906"/>
                </a:cubicBezTo>
                <a:lnTo>
                  <a:pt x="100142" y="6906"/>
                </a:lnTo>
                <a:cubicBezTo>
                  <a:pt x="105861" y="6906"/>
                  <a:pt x="110502" y="11547"/>
                  <a:pt x="110502" y="17266"/>
                </a:cubicBezTo>
                <a:lnTo>
                  <a:pt x="110502" y="37985"/>
                </a:lnTo>
                <a:cubicBezTo>
                  <a:pt x="110502" y="43704"/>
                  <a:pt x="105861" y="48344"/>
                  <a:pt x="100142" y="48344"/>
                </a:cubicBezTo>
                <a:lnTo>
                  <a:pt x="79423" y="48344"/>
                </a:lnTo>
                <a:cubicBezTo>
                  <a:pt x="73704" y="48344"/>
                  <a:pt x="69063" y="43704"/>
                  <a:pt x="69063" y="37985"/>
                </a:cubicBezTo>
                <a:lnTo>
                  <a:pt x="69063" y="34532"/>
                </a:lnTo>
                <a:lnTo>
                  <a:pt x="41438" y="34532"/>
                </a:lnTo>
                <a:lnTo>
                  <a:pt x="41438" y="37985"/>
                </a:lnTo>
                <a:cubicBezTo>
                  <a:pt x="41438" y="39560"/>
                  <a:pt x="41071" y="41071"/>
                  <a:pt x="40445" y="42409"/>
                </a:cubicBezTo>
                <a:lnTo>
                  <a:pt x="55251" y="62157"/>
                </a:lnTo>
                <a:lnTo>
                  <a:pt x="72517" y="62157"/>
                </a:lnTo>
                <a:cubicBezTo>
                  <a:pt x="78236" y="62157"/>
                  <a:pt x="82876" y="66797"/>
                  <a:pt x="82876" y="72517"/>
                </a:cubicBezTo>
                <a:lnTo>
                  <a:pt x="82876" y="93236"/>
                </a:lnTo>
                <a:cubicBezTo>
                  <a:pt x="82876" y="98955"/>
                  <a:pt x="78236" y="103595"/>
                  <a:pt x="72517" y="103595"/>
                </a:cubicBezTo>
                <a:lnTo>
                  <a:pt x="51798" y="103595"/>
                </a:lnTo>
                <a:cubicBezTo>
                  <a:pt x="46078" y="103595"/>
                  <a:pt x="41438" y="98955"/>
                  <a:pt x="41438" y="93236"/>
                </a:cubicBezTo>
                <a:lnTo>
                  <a:pt x="41438" y="72517"/>
                </a:lnTo>
                <a:cubicBezTo>
                  <a:pt x="41438" y="70941"/>
                  <a:pt x="41805" y="69430"/>
                  <a:pt x="42431" y="68092"/>
                </a:cubicBezTo>
                <a:lnTo>
                  <a:pt x="27625" y="48344"/>
                </a:lnTo>
                <a:lnTo>
                  <a:pt x="10360" y="48344"/>
                </a:lnTo>
                <a:cubicBezTo>
                  <a:pt x="4640" y="48344"/>
                  <a:pt x="0" y="43704"/>
                  <a:pt x="0" y="37985"/>
                </a:cubicBezTo>
                <a:lnTo>
                  <a:pt x="0" y="17266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96" name="Text 94"/>
          <p:cNvSpPr/>
          <p:nvPr/>
        </p:nvSpPr>
        <p:spPr>
          <a:xfrm>
            <a:off x="8222118" y="6267278"/>
            <a:ext cx="1022139" cy="14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X-Ray Tracing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7936656" y="6561834"/>
            <a:ext cx="3600508" cy="294671"/>
          </a:xfrm>
          <a:custGeom>
            <a:avLst/>
            <a:gdLst/>
            <a:ahLst/>
            <a:cxnLst/>
            <a:rect l="l" t="t" r="r" b="b"/>
            <a:pathLst>
              <a:path w="3600508" h="294671">
                <a:moveTo>
                  <a:pt x="36834" y="0"/>
                </a:moveTo>
                <a:lnTo>
                  <a:pt x="3563674" y="0"/>
                </a:lnTo>
                <a:cubicBezTo>
                  <a:pt x="3584016" y="0"/>
                  <a:pt x="3600508" y="16491"/>
                  <a:pt x="3600508" y="36834"/>
                </a:cubicBezTo>
                <a:lnTo>
                  <a:pt x="3600508" y="257837"/>
                </a:lnTo>
                <a:cubicBezTo>
                  <a:pt x="3600508" y="278180"/>
                  <a:pt x="3584016" y="294671"/>
                  <a:pt x="3563674" y="294671"/>
                </a:cubicBezTo>
                <a:lnTo>
                  <a:pt x="36834" y="294671"/>
                </a:lnTo>
                <a:cubicBezTo>
                  <a:pt x="16491" y="294671"/>
                  <a:pt x="0" y="278180"/>
                  <a:pt x="0" y="257837"/>
                </a:cubicBezTo>
                <a:lnTo>
                  <a:pt x="0" y="36834"/>
                </a:lnTo>
                <a:cubicBezTo>
                  <a:pt x="0" y="16505"/>
                  <a:pt x="16505" y="0"/>
                  <a:pt x="3683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8017230" y="6653802"/>
            <a:ext cx="124314" cy="110502"/>
          </a:xfrm>
          <a:custGeom>
            <a:avLst/>
            <a:gdLst/>
            <a:ahLst/>
            <a:cxnLst/>
            <a:rect l="l" t="t" r="r" b="b"/>
            <a:pathLst>
              <a:path w="124314" h="110502">
                <a:moveTo>
                  <a:pt x="110588" y="51798"/>
                </a:moveTo>
                <a:lnTo>
                  <a:pt x="72603" y="51798"/>
                </a:lnTo>
                <a:cubicBezTo>
                  <a:pt x="68783" y="51798"/>
                  <a:pt x="65697" y="48711"/>
                  <a:pt x="65697" y="44891"/>
                </a:cubicBezTo>
                <a:lnTo>
                  <a:pt x="65697" y="6906"/>
                </a:lnTo>
                <a:cubicBezTo>
                  <a:pt x="65697" y="3086"/>
                  <a:pt x="68804" y="-43"/>
                  <a:pt x="72581" y="453"/>
                </a:cubicBezTo>
                <a:cubicBezTo>
                  <a:pt x="95674" y="3518"/>
                  <a:pt x="113976" y="21820"/>
                  <a:pt x="117041" y="44913"/>
                </a:cubicBezTo>
                <a:cubicBezTo>
                  <a:pt x="117537" y="48690"/>
                  <a:pt x="114408" y="51798"/>
                  <a:pt x="110588" y="51798"/>
                </a:cubicBezTo>
                <a:close/>
                <a:moveTo>
                  <a:pt x="48042" y="8029"/>
                </a:moveTo>
                <a:cubicBezTo>
                  <a:pt x="51949" y="7208"/>
                  <a:pt x="55337" y="10403"/>
                  <a:pt x="55337" y="14395"/>
                </a:cubicBezTo>
                <a:lnTo>
                  <a:pt x="55337" y="56977"/>
                </a:lnTo>
                <a:cubicBezTo>
                  <a:pt x="55337" y="58186"/>
                  <a:pt x="55769" y="59351"/>
                  <a:pt x="56524" y="60279"/>
                </a:cubicBezTo>
                <a:lnTo>
                  <a:pt x="85034" y="94682"/>
                </a:lnTo>
                <a:cubicBezTo>
                  <a:pt x="87559" y="97725"/>
                  <a:pt x="87020" y="102322"/>
                  <a:pt x="83545" y="104199"/>
                </a:cubicBezTo>
                <a:cubicBezTo>
                  <a:pt x="76186" y="108214"/>
                  <a:pt x="67747" y="110502"/>
                  <a:pt x="58790" y="110502"/>
                </a:cubicBezTo>
                <a:cubicBezTo>
                  <a:pt x="30194" y="110502"/>
                  <a:pt x="6993" y="87301"/>
                  <a:pt x="6993" y="58704"/>
                </a:cubicBezTo>
                <a:cubicBezTo>
                  <a:pt x="6993" y="33776"/>
                  <a:pt x="24582" y="12971"/>
                  <a:pt x="48042" y="8029"/>
                </a:cubicBezTo>
                <a:close/>
                <a:moveTo>
                  <a:pt x="103120" y="62157"/>
                </a:moveTo>
                <a:lnTo>
                  <a:pt x="116933" y="62157"/>
                </a:lnTo>
                <a:cubicBezTo>
                  <a:pt x="120926" y="62157"/>
                  <a:pt x="124120" y="65546"/>
                  <a:pt x="123300" y="69452"/>
                </a:cubicBezTo>
                <a:cubicBezTo>
                  <a:pt x="121098" y="79898"/>
                  <a:pt x="115746" y="89178"/>
                  <a:pt x="108279" y="96257"/>
                </a:cubicBezTo>
                <a:cubicBezTo>
                  <a:pt x="105624" y="98782"/>
                  <a:pt x="101459" y="98243"/>
                  <a:pt x="99128" y="95415"/>
                </a:cubicBezTo>
                <a:lnTo>
                  <a:pt x="80912" y="73466"/>
                </a:lnTo>
                <a:cubicBezTo>
                  <a:pt x="77178" y="68956"/>
                  <a:pt x="80394" y="62157"/>
                  <a:pt x="86221" y="62157"/>
                </a:cubicBezTo>
                <a:lnTo>
                  <a:pt x="103099" y="62157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99" name="Text 97"/>
          <p:cNvSpPr/>
          <p:nvPr/>
        </p:nvSpPr>
        <p:spPr>
          <a:xfrm>
            <a:off x="8222118" y="6635502"/>
            <a:ext cx="1187891" cy="14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Prometheus → Grafana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577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/ COMPUTE STRATEGY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571500"/>
            <a:ext cx="5876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Instance Selection &amp; Thread Allocation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81100"/>
            <a:ext cx="11430000" cy="2400300"/>
          </a:xfrm>
          <a:custGeom>
            <a:avLst/>
            <a:gdLst/>
            <a:ahLst/>
            <a:cxnLst/>
            <a:rect l="l" t="t" r="r" b="b"/>
            <a:pathLst>
              <a:path w="11430000" h="2400300">
                <a:moveTo>
                  <a:pt x="114302" y="0"/>
                </a:moveTo>
                <a:lnTo>
                  <a:pt x="11315698" y="0"/>
                </a:lnTo>
                <a:cubicBezTo>
                  <a:pt x="11378783" y="0"/>
                  <a:pt x="11430000" y="51217"/>
                  <a:pt x="11430000" y="114302"/>
                </a:cubicBezTo>
                <a:lnTo>
                  <a:pt x="11430000" y="2285998"/>
                </a:lnTo>
                <a:cubicBezTo>
                  <a:pt x="11430000" y="2349083"/>
                  <a:pt x="11378783" y="2400300"/>
                  <a:pt x="11315698" y="2400300"/>
                </a:cubicBezTo>
                <a:lnTo>
                  <a:pt x="114302" y="2400300"/>
                </a:lnTo>
                <a:cubicBezTo>
                  <a:pt x="51217" y="2400300"/>
                  <a:pt x="0" y="2349083"/>
                  <a:pt x="0" y="22859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371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65D"/>
              </a:gs>
              <a:gs pos="100000">
                <a:srgbClr val="2B6CB0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738188" y="15240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1371600"/>
            <a:ext cx="2790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Choice: c6i.4xlarge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14592" y="1390531"/>
            <a:ext cx="1438275" cy="266700"/>
          </a:xfrm>
          <a:custGeom>
            <a:avLst/>
            <a:gdLst/>
            <a:ahLst/>
            <a:cxnLst/>
            <a:rect l="l" t="t" r="r" b="b"/>
            <a:pathLst>
              <a:path w="1438275" h="266700">
                <a:moveTo>
                  <a:pt x="133350" y="0"/>
                </a:moveTo>
                <a:lnTo>
                  <a:pt x="1304925" y="0"/>
                </a:lnTo>
                <a:cubicBezTo>
                  <a:pt x="1378523" y="0"/>
                  <a:pt x="1438275" y="59752"/>
                  <a:pt x="1438275" y="133350"/>
                </a:cubicBezTo>
                <a:lnTo>
                  <a:pt x="1438275" y="133350"/>
                </a:lnTo>
                <a:cubicBezTo>
                  <a:pt x="1438275" y="206948"/>
                  <a:pt x="1378523" y="266700"/>
                  <a:pt x="13049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14592" y="1390531"/>
            <a:ext cx="15049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Compute-Optimized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625376" y="1390531"/>
            <a:ext cx="990600" cy="266700"/>
          </a:xfrm>
          <a:custGeom>
            <a:avLst/>
            <a:gdLst/>
            <a:ahLst/>
            <a:cxnLst/>
            <a:rect l="l" t="t" r="r" b="b"/>
            <a:pathLst>
              <a:path w="990600" h="266700">
                <a:moveTo>
                  <a:pt x="133350" y="0"/>
                </a:moveTo>
                <a:lnTo>
                  <a:pt x="857250" y="0"/>
                </a:lnTo>
                <a:cubicBezTo>
                  <a:pt x="930848" y="0"/>
                  <a:pt x="990600" y="59752"/>
                  <a:pt x="990600" y="133350"/>
                </a:cubicBezTo>
                <a:lnTo>
                  <a:pt x="990600" y="133350"/>
                </a:lnTo>
                <a:cubicBezTo>
                  <a:pt x="990600" y="206948"/>
                  <a:pt x="930848" y="266700"/>
                  <a:pt x="8572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A365D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625376" y="1390531"/>
            <a:ext cx="10572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 Ice Lake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57300" y="1790581"/>
            <a:ext cx="2505075" cy="876300"/>
          </a:xfrm>
          <a:custGeom>
            <a:avLst/>
            <a:gdLst/>
            <a:ahLst/>
            <a:cxnLst/>
            <a:rect l="l" t="t" r="r" b="b"/>
            <a:pathLst>
              <a:path w="2505075" h="876300">
                <a:moveTo>
                  <a:pt x="76203" y="0"/>
                </a:moveTo>
                <a:lnTo>
                  <a:pt x="2428872" y="0"/>
                </a:lnTo>
                <a:cubicBezTo>
                  <a:pt x="2470958" y="0"/>
                  <a:pt x="2505075" y="34117"/>
                  <a:pt x="2505075" y="76203"/>
                </a:cubicBezTo>
                <a:lnTo>
                  <a:pt x="2505075" y="800097"/>
                </a:lnTo>
                <a:cubicBezTo>
                  <a:pt x="2505075" y="842183"/>
                  <a:pt x="2470958" y="876300"/>
                  <a:pt x="24288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1314450" y="1904881"/>
            <a:ext cx="2390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43025" y="2247663"/>
            <a:ext cx="2333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vCPUs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43025" y="2399944"/>
            <a:ext cx="2333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intra-op: 14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76675" y="1790581"/>
            <a:ext cx="2505075" cy="876300"/>
          </a:xfrm>
          <a:custGeom>
            <a:avLst/>
            <a:gdLst/>
            <a:ahLst/>
            <a:cxnLst/>
            <a:rect l="l" t="t" r="r" b="b"/>
            <a:pathLst>
              <a:path w="2505075" h="876300">
                <a:moveTo>
                  <a:pt x="76203" y="0"/>
                </a:moveTo>
                <a:lnTo>
                  <a:pt x="2428872" y="0"/>
                </a:lnTo>
                <a:cubicBezTo>
                  <a:pt x="2470958" y="0"/>
                  <a:pt x="2505075" y="34117"/>
                  <a:pt x="2505075" y="76203"/>
                </a:cubicBezTo>
                <a:lnTo>
                  <a:pt x="2505075" y="800097"/>
                </a:lnTo>
                <a:cubicBezTo>
                  <a:pt x="2505075" y="842183"/>
                  <a:pt x="2470958" y="876300"/>
                  <a:pt x="24288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3933825" y="1904881"/>
            <a:ext cx="2390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 GB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62400" y="2247663"/>
            <a:ext cx="2333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62400" y="2399944"/>
            <a:ext cx="2333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GB JVM heap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96050" y="1790581"/>
            <a:ext cx="2505075" cy="876300"/>
          </a:xfrm>
          <a:custGeom>
            <a:avLst/>
            <a:gdLst/>
            <a:ahLst/>
            <a:cxnLst/>
            <a:rect l="l" t="t" r="r" b="b"/>
            <a:pathLst>
              <a:path w="2505075" h="876300">
                <a:moveTo>
                  <a:pt x="76203" y="0"/>
                </a:moveTo>
                <a:lnTo>
                  <a:pt x="2428872" y="0"/>
                </a:lnTo>
                <a:cubicBezTo>
                  <a:pt x="2470958" y="0"/>
                  <a:pt x="2505075" y="34117"/>
                  <a:pt x="2505075" y="76203"/>
                </a:cubicBezTo>
                <a:lnTo>
                  <a:pt x="2505075" y="800097"/>
                </a:lnTo>
                <a:cubicBezTo>
                  <a:pt x="2505075" y="842183"/>
                  <a:pt x="2470958" y="876300"/>
                  <a:pt x="24288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6553200" y="1904881"/>
            <a:ext cx="2390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12.5 Gbps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1775" y="2247663"/>
            <a:ext cx="2333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1775" y="2399944"/>
            <a:ext cx="2333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50K+ req/s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15425" y="1790581"/>
            <a:ext cx="2505075" cy="876300"/>
          </a:xfrm>
          <a:custGeom>
            <a:avLst/>
            <a:gdLst/>
            <a:ahLst/>
            <a:cxnLst/>
            <a:rect l="l" t="t" r="r" b="b"/>
            <a:pathLst>
              <a:path w="2505075" h="876300">
                <a:moveTo>
                  <a:pt x="76203" y="0"/>
                </a:moveTo>
                <a:lnTo>
                  <a:pt x="2428872" y="0"/>
                </a:lnTo>
                <a:cubicBezTo>
                  <a:pt x="2470958" y="0"/>
                  <a:pt x="2505075" y="34117"/>
                  <a:pt x="2505075" y="76203"/>
                </a:cubicBezTo>
                <a:lnTo>
                  <a:pt x="2505075" y="800097"/>
                </a:lnTo>
                <a:cubicBezTo>
                  <a:pt x="2505075" y="842183"/>
                  <a:pt x="2470958" y="876300"/>
                  <a:pt x="24288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9172575" y="1904881"/>
            <a:ext cx="2390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~$0.68/hr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01150" y="2247663"/>
            <a:ext cx="2333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On-Demand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01150" y="2399944"/>
            <a:ext cx="2333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~$0.27 Savings Plan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57300" y="2780823"/>
            <a:ext cx="10363200" cy="609600"/>
          </a:xfrm>
          <a:custGeom>
            <a:avLst/>
            <a:gdLst/>
            <a:ahLst/>
            <a:cxnLst/>
            <a:rect l="l" t="t" r="r" b="b"/>
            <a:pathLst>
              <a:path w="10363200" h="609600">
                <a:moveTo>
                  <a:pt x="76200" y="0"/>
                </a:moveTo>
                <a:lnTo>
                  <a:pt x="10287000" y="0"/>
                </a:lnTo>
                <a:cubicBezTo>
                  <a:pt x="10329056" y="0"/>
                  <a:pt x="10363200" y="34144"/>
                  <a:pt x="10363200" y="76200"/>
                </a:cubicBezTo>
                <a:lnTo>
                  <a:pt x="10363200" y="533400"/>
                </a:lnTo>
                <a:cubicBezTo>
                  <a:pt x="10363200" y="575456"/>
                  <a:pt x="10329056" y="609600"/>
                  <a:pt x="102870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2895123"/>
            <a:ext cx="10201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matters: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ONNX Runtime scales linearly with cores. 14/16 vCPUs dedicated to inference, 2 reserved for Tomcat/GC. 3 tasks = ~$600–$1,500/mo depending on commitment.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1000" y="3733323"/>
            <a:ext cx="5638800" cy="2895600"/>
          </a:xfrm>
          <a:custGeom>
            <a:avLst/>
            <a:gdLst/>
            <a:ahLst/>
            <a:cxnLst/>
            <a:rect l="l" t="t" r="r" b="b"/>
            <a:pathLst>
              <a:path w="5638800" h="2895600">
                <a:moveTo>
                  <a:pt x="114289" y="0"/>
                </a:moveTo>
                <a:lnTo>
                  <a:pt x="5524511" y="0"/>
                </a:lnTo>
                <a:cubicBezTo>
                  <a:pt x="5587631" y="0"/>
                  <a:pt x="5638800" y="51169"/>
                  <a:pt x="5638800" y="114289"/>
                </a:cubicBezTo>
                <a:lnTo>
                  <a:pt x="5638800" y="2781311"/>
                </a:lnTo>
                <a:cubicBezTo>
                  <a:pt x="5638800" y="2844431"/>
                  <a:pt x="5587631" y="2895600"/>
                  <a:pt x="5524511" y="2895600"/>
                </a:cubicBezTo>
                <a:lnTo>
                  <a:pt x="114289" y="2895600"/>
                </a:lnTo>
                <a:cubicBezTo>
                  <a:pt x="51169" y="2895600"/>
                  <a:pt x="0" y="2844431"/>
                  <a:pt x="0" y="2781311"/>
                </a:cubicBezTo>
                <a:lnTo>
                  <a:pt x="0" y="114289"/>
                </a:lnTo>
                <a:cubicBezTo>
                  <a:pt x="0" y="51211"/>
                  <a:pt x="51211" y="0"/>
                  <a:pt x="1142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7213" y="393334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3" name="Text 31"/>
          <p:cNvSpPr/>
          <p:nvPr/>
        </p:nvSpPr>
        <p:spPr>
          <a:xfrm>
            <a:off x="752475" y="3885723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Alternative Instance Types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3400" y="4266723"/>
            <a:ext cx="5334000" cy="495300"/>
          </a:xfrm>
          <a:custGeom>
            <a:avLst/>
            <a:gdLst/>
            <a:ahLst/>
            <a:cxnLst/>
            <a:rect l="l" t="t" r="r" b="b"/>
            <a:pathLst>
              <a:path w="5334000" h="495300">
                <a:moveTo>
                  <a:pt x="76202" y="0"/>
                </a:moveTo>
                <a:lnTo>
                  <a:pt x="5257798" y="0"/>
                </a:lnTo>
                <a:cubicBezTo>
                  <a:pt x="5299883" y="0"/>
                  <a:pt x="5334000" y="34117"/>
                  <a:pt x="5334000" y="76202"/>
                </a:cubicBezTo>
                <a:lnTo>
                  <a:pt x="5334000" y="419098"/>
                </a:lnTo>
                <a:cubicBezTo>
                  <a:pt x="5334000" y="461183"/>
                  <a:pt x="5299883" y="495300"/>
                  <a:pt x="52577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600" y="43429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6" name="Text 34"/>
          <p:cNvSpPr/>
          <p:nvPr/>
        </p:nvSpPr>
        <p:spPr>
          <a:xfrm>
            <a:off x="581025" y="4342923"/>
            <a:ext cx="361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28700" y="4342923"/>
            <a:ext cx="482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inf2.xlarge (AWS Inferentia2)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28700" y="4533423"/>
            <a:ext cx="4819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 models (transformers). 4× cheaper per inference vs GPU.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3400" y="4838105"/>
            <a:ext cx="5334000" cy="495300"/>
          </a:xfrm>
          <a:custGeom>
            <a:avLst/>
            <a:gdLst/>
            <a:ahLst/>
            <a:cxnLst/>
            <a:rect l="l" t="t" r="r" b="b"/>
            <a:pathLst>
              <a:path w="5334000" h="495300">
                <a:moveTo>
                  <a:pt x="76202" y="0"/>
                </a:moveTo>
                <a:lnTo>
                  <a:pt x="5257798" y="0"/>
                </a:lnTo>
                <a:cubicBezTo>
                  <a:pt x="5299883" y="0"/>
                  <a:pt x="5334000" y="34117"/>
                  <a:pt x="5334000" y="76202"/>
                </a:cubicBezTo>
                <a:lnTo>
                  <a:pt x="5334000" y="419098"/>
                </a:lnTo>
                <a:cubicBezTo>
                  <a:pt x="5334000" y="461183"/>
                  <a:pt x="5299883" y="495300"/>
                  <a:pt x="52577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0" name="Shape 38"/>
          <p:cNvSpPr/>
          <p:nvPr/>
        </p:nvSpPr>
        <p:spPr>
          <a:xfrm>
            <a:off x="609600" y="491430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1" name="Text 39"/>
          <p:cNvSpPr/>
          <p:nvPr/>
        </p:nvSpPr>
        <p:spPr>
          <a:xfrm>
            <a:off x="581025" y="4914305"/>
            <a:ext cx="361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r6i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28700" y="4914305"/>
            <a:ext cx="482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r6i.4xlarge (Memory-Optimized)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28700" y="5104805"/>
            <a:ext cx="4819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Very large models (&gt; 2 GB). 128 GB RAM, same vCPU count.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33400" y="5409486"/>
            <a:ext cx="5334000" cy="495300"/>
          </a:xfrm>
          <a:custGeom>
            <a:avLst/>
            <a:gdLst/>
            <a:ahLst/>
            <a:cxnLst/>
            <a:rect l="l" t="t" r="r" b="b"/>
            <a:pathLst>
              <a:path w="5334000" h="495300">
                <a:moveTo>
                  <a:pt x="76202" y="0"/>
                </a:moveTo>
                <a:lnTo>
                  <a:pt x="5257798" y="0"/>
                </a:lnTo>
                <a:cubicBezTo>
                  <a:pt x="5299883" y="0"/>
                  <a:pt x="5334000" y="34117"/>
                  <a:pt x="5334000" y="76202"/>
                </a:cubicBezTo>
                <a:lnTo>
                  <a:pt x="5334000" y="419098"/>
                </a:lnTo>
                <a:cubicBezTo>
                  <a:pt x="5334000" y="461183"/>
                  <a:pt x="5299883" y="495300"/>
                  <a:pt x="52577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" y="548568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46" name="Text 44"/>
          <p:cNvSpPr/>
          <p:nvPr/>
        </p:nvSpPr>
        <p:spPr>
          <a:xfrm>
            <a:off x="581025" y="5485686"/>
            <a:ext cx="361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c6i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28700" y="5485686"/>
            <a:ext cx="482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c6i.8xlarge (Extreme Low-Latency)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28700" y="5676186"/>
            <a:ext cx="4819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 vCPUs, single-digit ms P99 at high concurrency.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33400" y="5980867"/>
            <a:ext cx="5334000" cy="495300"/>
          </a:xfrm>
          <a:custGeom>
            <a:avLst/>
            <a:gdLst/>
            <a:ahLst/>
            <a:cxnLst/>
            <a:rect l="l" t="t" r="r" b="b"/>
            <a:pathLst>
              <a:path w="5334000" h="495300">
                <a:moveTo>
                  <a:pt x="76202" y="0"/>
                </a:moveTo>
                <a:lnTo>
                  <a:pt x="5257798" y="0"/>
                </a:lnTo>
                <a:cubicBezTo>
                  <a:pt x="5299883" y="0"/>
                  <a:pt x="5334000" y="34117"/>
                  <a:pt x="5334000" y="76202"/>
                </a:cubicBezTo>
                <a:lnTo>
                  <a:pt x="5334000" y="419098"/>
                </a:lnTo>
                <a:cubicBezTo>
                  <a:pt x="5334000" y="461183"/>
                  <a:pt x="5299883" y="495300"/>
                  <a:pt x="52577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50" name="Shape 48"/>
          <p:cNvSpPr/>
          <p:nvPr/>
        </p:nvSpPr>
        <p:spPr>
          <a:xfrm>
            <a:off x="609600" y="605706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B6CB0">
              <a:alpha val="6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81025" y="6057067"/>
            <a:ext cx="361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28700" y="6057067"/>
            <a:ext cx="482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c6i.2xlarge Spot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28700" y="6247567"/>
            <a:ext cx="4819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Batch/offline scoring. 70% cheaper, acceptable for non-SLA workloads.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2200" y="3733323"/>
            <a:ext cx="5638800" cy="2895600"/>
          </a:xfrm>
          <a:custGeom>
            <a:avLst/>
            <a:gdLst/>
            <a:ahLst/>
            <a:cxnLst/>
            <a:rect l="l" t="t" r="r" b="b"/>
            <a:pathLst>
              <a:path w="5638800" h="2895600">
                <a:moveTo>
                  <a:pt x="114289" y="0"/>
                </a:moveTo>
                <a:lnTo>
                  <a:pt x="5524511" y="0"/>
                </a:lnTo>
                <a:cubicBezTo>
                  <a:pt x="5587631" y="0"/>
                  <a:pt x="5638800" y="51169"/>
                  <a:pt x="5638800" y="114289"/>
                </a:cubicBezTo>
                <a:lnTo>
                  <a:pt x="5638800" y="2781311"/>
                </a:lnTo>
                <a:cubicBezTo>
                  <a:pt x="5638800" y="2844431"/>
                  <a:pt x="5587631" y="2895600"/>
                  <a:pt x="5524511" y="2895600"/>
                </a:cubicBezTo>
                <a:lnTo>
                  <a:pt x="114289" y="2895600"/>
                </a:lnTo>
                <a:cubicBezTo>
                  <a:pt x="51169" y="2895600"/>
                  <a:pt x="0" y="2844431"/>
                  <a:pt x="0" y="2781311"/>
                </a:cubicBezTo>
                <a:lnTo>
                  <a:pt x="0" y="114289"/>
                </a:lnTo>
                <a:cubicBezTo>
                  <a:pt x="0" y="51211"/>
                  <a:pt x="51211" y="0"/>
                  <a:pt x="1142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337697" y="393334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112514"/>
                </a:moveTo>
                <a:cubicBezTo>
                  <a:pt x="0" y="139136"/>
                  <a:pt x="21599" y="160734"/>
                  <a:pt x="48220" y="160734"/>
                </a:cubicBezTo>
                <a:lnTo>
                  <a:pt x="150019" y="160734"/>
                </a:lnTo>
                <a:cubicBezTo>
                  <a:pt x="173694" y="160734"/>
                  <a:pt x="192881" y="141547"/>
                  <a:pt x="192881" y="117872"/>
                </a:cubicBezTo>
                <a:cubicBezTo>
                  <a:pt x="192881" y="100593"/>
                  <a:pt x="182668" y="85692"/>
                  <a:pt x="167934" y="78927"/>
                </a:cubicBezTo>
                <a:cubicBezTo>
                  <a:pt x="170178" y="74541"/>
                  <a:pt x="171450" y="69551"/>
                  <a:pt x="171450" y="64294"/>
                </a:cubicBezTo>
                <a:cubicBezTo>
                  <a:pt x="171450" y="46546"/>
                  <a:pt x="157051" y="32147"/>
                  <a:pt x="139303" y="32147"/>
                </a:cubicBezTo>
                <a:cubicBezTo>
                  <a:pt x="133376" y="32147"/>
                  <a:pt x="127851" y="33754"/>
                  <a:pt x="123096" y="36534"/>
                </a:cubicBezTo>
                <a:cubicBezTo>
                  <a:pt x="115026" y="21197"/>
                  <a:pt x="98919" y="10716"/>
                  <a:pt x="80367" y="10716"/>
                </a:cubicBezTo>
                <a:cubicBezTo>
                  <a:pt x="53746" y="10716"/>
                  <a:pt x="32147" y="32314"/>
                  <a:pt x="32147" y="58936"/>
                </a:cubicBezTo>
                <a:cubicBezTo>
                  <a:pt x="32147" y="61615"/>
                  <a:pt x="32381" y="64260"/>
                  <a:pt x="32783" y="66805"/>
                </a:cubicBezTo>
                <a:cubicBezTo>
                  <a:pt x="13729" y="73235"/>
                  <a:pt x="0" y="91284"/>
                  <a:pt x="0" y="112514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6" name="Text 54"/>
          <p:cNvSpPr/>
          <p:nvPr/>
        </p:nvSpPr>
        <p:spPr>
          <a:xfrm>
            <a:off x="6543675" y="3885723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ECS Fargate over EC2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24600" y="42667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412706" y="435244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0814" y="2474"/>
                </a:moveTo>
                <a:cubicBezTo>
                  <a:pt x="51595" y="-1380"/>
                  <a:pt x="55007" y="-4167"/>
                  <a:pt x="58966" y="-4167"/>
                </a:cubicBezTo>
                <a:lnTo>
                  <a:pt x="74541" y="-4167"/>
                </a:lnTo>
                <a:cubicBezTo>
                  <a:pt x="78499" y="-4167"/>
                  <a:pt x="81911" y="-1380"/>
                  <a:pt x="82693" y="2474"/>
                </a:cubicBezTo>
                <a:lnTo>
                  <a:pt x="86469" y="20706"/>
                </a:lnTo>
                <a:cubicBezTo>
                  <a:pt x="90141" y="22268"/>
                  <a:pt x="93579" y="24274"/>
                  <a:pt x="96705" y="26644"/>
                </a:cubicBezTo>
                <a:lnTo>
                  <a:pt x="114363" y="20784"/>
                </a:lnTo>
                <a:cubicBezTo>
                  <a:pt x="118114" y="19534"/>
                  <a:pt x="122229" y="21096"/>
                  <a:pt x="124208" y="24534"/>
                </a:cubicBezTo>
                <a:lnTo>
                  <a:pt x="131996" y="38026"/>
                </a:lnTo>
                <a:cubicBezTo>
                  <a:pt x="133975" y="41464"/>
                  <a:pt x="133272" y="45787"/>
                  <a:pt x="130303" y="48418"/>
                </a:cubicBezTo>
                <a:lnTo>
                  <a:pt x="116421" y="60763"/>
                </a:lnTo>
                <a:cubicBezTo>
                  <a:pt x="116655" y="62690"/>
                  <a:pt x="116759" y="64670"/>
                  <a:pt x="116759" y="66675"/>
                </a:cubicBezTo>
                <a:cubicBezTo>
                  <a:pt x="116759" y="68680"/>
                  <a:pt x="116629" y="70660"/>
                  <a:pt x="116421" y="72587"/>
                </a:cubicBezTo>
                <a:lnTo>
                  <a:pt x="130329" y="84959"/>
                </a:lnTo>
                <a:cubicBezTo>
                  <a:pt x="133298" y="87589"/>
                  <a:pt x="133975" y="91939"/>
                  <a:pt x="132022" y="95350"/>
                </a:cubicBezTo>
                <a:lnTo>
                  <a:pt x="124234" y="108842"/>
                </a:lnTo>
                <a:cubicBezTo>
                  <a:pt x="122255" y="112254"/>
                  <a:pt x="118140" y="113842"/>
                  <a:pt x="114389" y="112592"/>
                </a:cubicBezTo>
                <a:lnTo>
                  <a:pt x="96731" y="106732"/>
                </a:lnTo>
                <a:cubicBezTo>
                  <a:pt x="93579" y="109102"/>
                  <a:pt x="90141" y="111082"/>
                  <a:pt x="86495" y="112670"/>
                </a:cubicBezTo>
                <a:lnTo>
                  <a:pt x="82745" y="130876"/>
                </a:lnTo>
                <a:cubicBezTo>
                  <a:pt x="81937" y="134756"/>
                  <a:pt x="78525" y="137517"/>
                  <a:pt x="74593" y="137517"/>
                </a:cubicBezTo>
                <a:lnTo>
                  <a:pt x="59018" y="137517"/>
                </a:lnTo>
                <a:cubicBezTo>
                  <a:pt x="55059" y="137517"/>
                  <a:pt x="51647" y="134730"/>
                  <a:pt x="50866" y="130876"/>
                </a:cubicBezTo>
                <a:lnTo>
                  <a:pt x="47115" y="112670"/>
                </a:lnTo>
                <a:cubicBezTo>
                  <a:pt x="43443" y="111108"/>
                  <a:pt x="40031" y="109102"/>
                  <a:pt x="36880" y="106732"/>
                </a:cubicBezTo>
                <a:lnTo>
                  <a:pt x="19143" y="112592"/>
                </a:lnTo>
                <a:cubicBezTo>
                  <a:pt x="15393" y="113842"/>
                  <a:pt x="11277" y="112280"/>
                  <a:pt x="9298" y="108842"/>
                </a:cubicBezTo>
                <a:lnTo>
                  <a:pt x="1511" y="95350"/>
                </a:lnTo>
                <a:cubicBezTo>
                  <a:pt x="-469" y="91913"/>
                  <a:pt x="234" y="87589"/>
                  <a:pt x="3204" y="84959"/>
                </a:cubicBezTo>
                <a:lnTo>
                  <a:pt x="17112" y="72587"/>
                </a:lnTo>
                <a:cubicBezTo>
                  <a:pt x="16877" y="70660"/>
                  <a:pt x="16773" y="68680"/>
                  <a:pt x="16773" y="66675"/>
                </a:cubicBezTo>
                <a:cubicBezTo>
                  <a:pt x="16773" y="64670"/>
                  <a:pt x="16903" y="62690"/>
                  <a:pt x="17112" y="60763"/>
                </a:cubicBezTo>
                <a:lnTo>
                  <a:pt x="3204" y="48391"/>
                </a:lnTo>
                <a:cubicBezTo>
                  <a:pt x="234" y="45761"/>
                  <a:pt x="-443" y="41411"/>
                  <a:pt x="1511" y="38000"/>
                </a:cubicBezTo>
                <a:lnTo>
                  <a:pt x="9298" y="24508"/>
                </a:lnTo>
                <a:cubicBezTo>
                  <a:pt x="11277" y="21070"/>
                  <a:pt x="15393" y="19508"/>
                  <a:pt x="19143" y="20758"/>
                </a:cubicBezTo>
                <a:lnTo>
                  <a:pt x="36801" y="26618"/>
                </a:lnTo>
                <a:cubicBezTo>
                  <a:pt x="39953" y="24248"/>
                  <a:pt x="43391" y="22268"/>
                  <a:pt x="47037" y="20680"/>
                </a:cubicBezTo>
                <a:lnTo>
                  <a:pt x="50814" y="2474"/>
                </a:lnTo>
                <a:close/>
                <a:moveTo>
                  <a:pt x="66753" y="87511"/>
                </a:moveTo>
                <a:cubicBezTo>
                  <a:pt x="74197" y="87483"/>
                  <a:pt x="81061" y="83486"/>
                  <a:pt x="84759" y="77025"/>
                </a:cubicBezTo>
                <a:cubicBezTo>
                  <a:pt x="88456" y="70565"/>
                  <a:pt x="88427" y="62622"/>
                  <a:pt x="84680" y="56189"/>
                </a:cubicBezTo>
                <a:cubicBezTo>
                  <a:pt x="80934" y="49757"/>
                  <a:pt x="74041" y="45811"/>
                  <a:pt x="66597" y="45839"/>
                </a:cubicBezTo>
                <a:cubicBezTo>
                  <a:pt x="59153" y="45867"/>
                  <a:pt x="52289" y="49864"/>
                  <a:pt x="48591" y="56325"/>
                </a:cubicBezTo>
                <a:cubicBezTo>
                  <a:pt x="44894" y="62785"/>
                  <a:pt x="44923" y="70728"/>
                  <a:pt x="48670" y="77161"/>
                </a:cubicBezTo>
                <a:cubicBezTo>
                  <a:pt x="52416" y="83593"/>
                  <a:pt x="59309" y="87539"/>
                  <a:pt x="66753" y="87511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9" name="Text 57"/>
          <p:cNvSpPr/>
          <p:nvPr/>
        </p:nvSpPr>
        <p:spPr>
          <a:xfrm>
            <a:off x="6743700" y="4266723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Instance Management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743700" y="4457223"/>
            <a:ext cx="497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patching, no AMI updates, no capacity reservations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24600" y="468570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404372" y="477143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0" y="25003"/>
                </a:moveTo>
                <a:cubicBezTo>
                  <a:pt x="0" y="15809"/>
                  <a:pt x="7475" y="8334"/>
                  <a:pt x="16669" y="8334"/>
                </a:cubicBezTo>
                <a:lnTo>
                  <a:pt x="133350" y="8334"/>
                </a:lnTo>
                <a:cubicBezTo>
                  <a:pt x="142544" y="8334"/>
                  <a:pt x="150019" y="15809"/>
                  <a:pt x="150019" y="25003"/>
                </a:cubicBezTo>
                <a:lnTo>
                  <a:pt x="0" y="25003"/>
                </a:lnTo>
                <a:close/>
                <a:moveTo>
                  <a:pt x="0" y="37505"/>
                </a:moveTo>
                <a:lnTo>
                  <a:pt x="150019" y="37505"/>
                </a:lnTo>
                <a:lnTo>
                  <a:pt x="150019" y="108347"/>
                </a:lnTo>
                <a:cubicBezTo>
                  <a:pt x="150019" y="117541"/>
                  <a:pt x="142544" y="125016"/>
                  <a:pt x="133350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37505"/>
                </a:lnTo>
                <a:close/>
                <a:moveTo>
                  <a:pt x="64409" y="108347"/>
                </a:moveTo>
                <a:cubicBezTo>
                  <a:pt x="69670" y="108347"/>
                  <a:pt x="73603" y="103294"/>
                  <a:pt x="70243" y="99231"/>
                </a:cubicBezTo>
                <a:cubicBezTo>
                  <a:pt x="66415" y="94621"/>
                  <a:pt x="60633" y="91678"/>
                  <a:pt x="54173" y="91678"/>
                </a:cubicBezTo>
                <a:lnTo>
                  <a:pt x="37505" y="91678"/>
                </a:lnTo>
                <a:cubicBezTo>
                  <a:pt x="31046" y="91678"/>
                  <a:pt x="25264" y="94621"/>
                  <a:pt x="21435" y="99231"/>
                </a:cubicBezTo>
                <a:cubicBezTo>
                  <a:pt x="18075" y="103294"/>
                  <a:pt x="22008" y="108347"/>
                  <a:pt x="27269" y="108347"/>
                </a:cubicBezTo>
                <a:lnTo>
                  <a:pt x="64383" y="108347"/>
                </a:lnTo>
                <a:close/>
                <a:moveTo>
                  <a:pt x="45839" y="81260"/>
                </a:moveTo>
                <a:cubicBezTo>
                  <a:pt x="53889" y="81260"/>
                  <a:pt x="60424" y="74725"/>
                  <a:pt x="60424" y="66675"/>
                </a:cubicBezTo>
                <a:cubicBezTo>
                  <a:pt x="60424" y="58625"/>
                  <a:pt x="53889" y="52090"/>
                  <a:pt x="45839" y="52090"/>
                </a:cubicBezTo>
                <a:cubicBezTo>
                  <a:pt x="37789" y="52090"/>
                  <a:pt x="31254" y="58625"/>
                  <a:pt x="31254" y="66675"/>
                </a:cubicBezTo>
                <a:cubicBezTo>
                  <a:pt x="31254" y="74725"/>
                  <a:pt x="37789" y="81260"/>
                  <a:pt x="45839" y="81260"/>
                </a:cubicBezTo>
                <a:close/>
                <a:moveTo>
                  <a:pt x="93762" y="54173"/>
                </a:moveTo>
                <a:cubicBezTo>
                  <a:pt x="90298" y="54173"/>
                  <a:pt x="87511" y="56960"/>
                  <a:pt x="87511" y="60424"/>
                </a:cubicBezTo>
                <a:cubicBezTo>
                  <a:pt x="87511" y="63888"/>
                  <a:pt x="90298" y="66675"/>
                  <a:pt x="93762" y="66675"/>
                </a:cubicBezTo>
                <a:lnTo>
                  <a:pt x="122932" y="66675"/>
                </a:lnTo>
                <a:cubicBezTo>
                  <a:pt x="126396" y="66675"/>
                  <a:pt x="129183" y="63888"/>
                  <a:pt x="129183" y="60424"/>
                </a:cubicBezTo>
                <a:cubicBezTo>
                  <a:pt x="129183" y="56960"/>
                  <a:pt x="126396" y="54173"/>
                  <a:pt x="122932" y="54173"/>
                </a:cubicBezTo>
                <a:lnTo>
                  <a:pt x="93762" y="54173"/>
                </a:lnTo>
                <a:close/>
                <a:moveTo>
                  <a:pt x="93762" y="79177"/>
                </a:moveTo>
                <a:cubicBezTo>
                  <a:pt x="90298" y="79177"/>
                  <a:pt x="87511" y="81963"/>
                  <a:pt x="87511" y="85427"/>
                </a:cubicBezTo>
                <a:cubicBezTo>
                  <a:pt x="87511" y="88891"/>
                  <a:pt x="90298" y="91678"/>
                  <a:pt x="93762" y="91678"/>
                </a:cubicBezTo>
                <a:lnTo>
                  <a:pt x="122932" y="91678"/>
                </a:lnTo>
                <a:cubicBezTo>
                  <a:pt x="126396" y="91678"/>
                  <a:pt x="129183" y="88891"/>
                  <a:pt x="129183" y="85427"/>
                </a:cubicBezTo>
                <a:cubicBezTo>
                  <a:pt x="129183" y="81963"/>
                  <a:pt x="126396" y="79177"/>
                  <a:pt x="122932" y="79177"/>
                </a:cubicBezTo>
                <a:lnTo>
                  <a:pt x="93762" y="79177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3" name="Text 61"/>
          <p:cNvSpPr/>
          <p:nvPr/>
        </p:nvSpPr>
        <p:spPr>
          <a:xfrm>
            <a:off x="6743700" y="4685705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Per-Task IAM Roles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743700" y="4876205"/>
            <a:ext cx="497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task has its own S3/SSM permissions, no shared credentials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24600" y="510468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412706" y="519041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7" name="Text 65"/>
          <p:cNvSpPr/>
          <p:nvPr/>
        </p:nvSpPr>
        <p:spPr>
          <a:xfrm>
            <a:off x="6743700" y="5104686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Task-Level Isolation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743700" y="5295186"/>
            <a:ext cx="497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CPU/memory isolation — no noisy-neighbor from other services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24600" y="552366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6421041" y="560939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20836" y="27087"/>
                </a:moveTo>
                <a:cubicBezTo>
                  <a:pt x="24286" y="27087"/>
                  <a:pt x="27087" y="24286"/>
                  <a:pt x="27087" y="20836"/>
                </a:cubicBezTo>
                <a:cubicBezTo>
                  <a:pt x="27087" y="17386"/>
                  <a:pt x="24286" y="14585"/>
                  <a:pt x="20836" y="14585"/>
                </a:cubicBezTo>
                <a:cubicBezTo>
                  <a:pt x="17386" y="14585"/>
                  <a:pt x="14585" y="17386"/>
                  <a:pt x="14585" y="20836"/>
                </a:cubicBezTo>
                <a:cubicBezTo>
                  <a:pt x="14585" y="24286"/>
                  <a:pt x="17386" y="27087"/>
                  <a:pt x="20836" y="27087"/>
                </a:cubicBezTo>
                <a:close/>
                <a:moveTo>
                  <a:pt x="41672" y="20836"/>
                </a:moveTo>
                <a:cubicBezTo>
                  <a:pt x="41672" y="29379"/>
                  <a:pt x="36541" y="36723"/>
                  <a:pt x="29170" y="39927"/>
                </a:cubicBezTo>
                <a:lnTo>
                  <a:pt x="29170" y="58341"/>
                </a:lnTo>
                <a:lnTo>
                  <a:pt x="75009" y="58341"/>
                </a:lnTo>
                <a:cubicBezTo>
                  <a:pt x="81911" y="58341"/>
                  <a:pt x="87511" y="52741"/>
                  <a:pt x="87511" y="45839"/>
                </a:cubicBezTo>
                <a:lnTo>
                  <a:pt x="87511" y="39927"/>
                </a:lnTo>
                <a:cubicBezTo>
                  <a:pt x="80140" y="36723"/>
                  <a:pt x="75009" y="29379"/>
                  <a:pt x="75009" y="20836"/>
                </a:cubicBezTo>
                <a:cubicBezTo>
                  <a:pt x="75009" y="9324"/>
                  <a:pt x="84333" y="0"/>
                  <a:pt x="95845" y="0"/>
                </a:cubicBezTo>
                <a:cubicBezTo>
                  <a:pt x="107357" y="0"/>
                  <a:pt x="116681" y="9324"/>
                  <a:pt x="116681" y="20836"/>
                </a:cubicBezTo>
                <a:cubicBezTo>
                  <a:pt x="116681" y="29379"/>
                  <a:pt x="111550" y="36723"/>
                  <a:pt x="104180" y="39927"/>
                </a:cubicBezTo>
                <a:lnTo>
                  <a:pt x="104180" y="45839"/>
                </a:lnTo>
                <a:cubicBezTo>
                  <a:pt x="104180" y="61961"/>
                  <a:pt x="91131" y="75009"/>
                  <a:pt x="75009" y="75009"/>
                </a:cubicBezTo>
                <a:lnTo>
                  <a:pt x="29170" y="75009"/>
                </a:lnTo>
                <a:lnTo>
                  <a:pt x="29170" y="93423"/>
                </a:lnTo>
                <a:cubicBezTo>
                  <a:pt x="36541" y="96627"/>
                  <a:pt x="41672" y="103971"/>
                  <a:pt x="41672" y="112514"/>
                </a:cubicBezTo>
                <a:cubicBezTo>
                  <a:pt x="41672" y="124026"/>
                  <a:pt x="32348" y="133350"/>
                  <a:pt x="20836" y="133350"/>
                </a:cubicBezTo>
                <a:cubicBezTo>
                  <a:pt x="9324" y="133350"/>
                  <a:pt x="0" y="124026"/>
                  <a:pt x="0" y="112514"/>
                </a:cubicBezTo>
                <a:cubicBezTo>
                  <a:pt x="0" y="103971"/>
                  <a:pt x="5131" y="96627"/>
                  <a:pt x="12502" y="93423"/>
                </a:cubicBezTo>
                <a:lnTo>
                  <a:pt x="12502" y="39953"/>
                </a:lnTo>
                <a:cubicBezTo>
                  <a:pt x="5131" y="36723"/>
                  <a:pt x="0" y="29379"/>
                  <a:pt x="0" y="20836"/>
                </a:cubicBezTo>
                <a:cubicBezTo>
                  <a:pt x="0" y="9324"/>
                  <a:pt x="9324" y="0"/>
                  <a:pt x="20836" y="0"/>
                </a:cubicBezTo>
                <a:cubicBezTo>
                  <a:pt x="32348" y="0"/>
                  <a:pt x="41672" y="9324"/>
                  <a:pt x="41672" y="20836"/>
                </a:cubicBezTo>
                <a:close/>
                <a:moveTo>
                  <a:pt x="102096" y="20836"/>
                </a:moveTo>
                <a:cubicBezTo>
                  <a:pt x="102096" y="17386"/>
                  <a:pt x="99295" y="14585"/>
                  <a:pt x="95845" y="14585"/>
                </a:cubicBezTo>
                <a:cubicBezTo>
                  <a:pt x="92395" y="14585"/>
                  <a:pt x="89595" y="17386"/>
                  <a:pt x="89595" y="20836"/>
                </a:cubicBezTo>
                <a:cubicBezTo>
                  <a:pt x="89595" y="24286"/>
                  <a:pt x="92395" y="27087"/>
                  <a:pt x="95845" y="27087"/>
                </a:cubicBezTo>
                <a:cubicBezTo>
                  <a:pt x="99295" y="27087"/>
                  <a:pt x="102096" y="24286"/>
                  <a:pt x="102096" y="20836"/>
                </a:cubicBezTo>
                <a:close/>
                <a:moveTo>
                  <a:pt x="20836" y="118765"/>
                </a:moveTo>
                <a:cubicBezTo>
                  <a:pt x="24286" y="118765"/>
                  <a:pt x="27087" y="115964"/>
                  <a:pt x="27087" y="112514"/>
                </a:cubicBezTo>
                <a:cubicBezTo>
                  <a:pt x="27087" y="109064"/>
                  <a:pt x="24286" y="106263"/>
                  <a:pt x="20836" y="106263"/>
                </a:cubicBezTo>
                <a:cubicBezTo>
                  <a:pt x="17386" y="106263"/>
                  <a:pt x="14585" y="109064"/>
                  <a:pt x="14585" y="112514"/>
                </a:cubicBezTo>
                <a:cubicBezTo>
                  <a:pt x="14585" y="115964"/>
                  <a:pt x="17386" y="118765"/>
                  <a:pt x="20836" y="118765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71" name="Text 69"/>
          <p:cNvSpPr/>
          <p:nvPr/>
        </p:nvSpPr>
        <p:spPr>
          <a:xfrm>
            <a:off x="6743700" y="5523667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Blue/Green Deployments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743700" y="5714167"/>
            <a:ext cx="497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Via CodeDeploy — zero downtime when deploying new versions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324600" y="594264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6412706" y="602837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18765" y="58341"/>
                </a:moveTo>
                <a:lnTo>
                  <a:pt x="81260" y="58341"/>
                </a:lnTo>
                <a:cubicBezTo>
                  <a:pt x="77796" y="58341"/>
                  <a:pt x="75009" y="55554"/>
                  <a:pt x="75009" y="52090"/>
                </a:cubicBezTo>
                <a:lnTo>
                  <a:pt x="75009" y="14585"/>
                </a:lnTo>
                <a:cubicBezTo>
                  <a:pt x="75009" y="12059"/>
                  <a:pt x="76520" y="9767"/>
                  <a:pt x="78864" y="8803"/>
                </a:cubicBezTo>
                <a:cubicBezTo>
                  <a:pt x="81208" y="7840"/>
                  <a:pt x="83891" y="8386"/>
                  <a:pt x="85688" y="10158"/>
                </a:cubicBezTo>
                <a:lnTo>
                  <a:pt x="96106" y="20575"/>
                </a:lnTo>
                <a:lnTo>
                  <a:pt x="115223" y="1459"/>
                </a:lnTo>
                <a:cubicBezTo>
                  <a:pt x="116160" y="521"/>
                  <a:pt x="117437" y="0"/>
                  <a:pt x="118765" y="0"/>
                </a:cubicBezTo>
                <a:cubicBezTo>
                  <a:pt x="120093" y="0"/>
                  <a:pt x="121369" y="521"/>
                  <a:pt x="122333" y="1485"/>
                </a:cubicBezTo>
                <a:lnTo>
                  <a:pt x="131891" y="11043"/>
                </a:lnTo>
                <a:cubicBezTo>
                  <a:pt x="132829" y="11981"/>
                  <a:pt x="133350" y="13257"/>
                  <a:pt x="133350" y="14585"/>
                </a:cubicBezTo>
                <a:cubicBezTo>
                  <a:pt x="133350" y="15913"/>
                  <a:pt x="132829" y="17190"/>
                  <a:pt x="131865" y="18153"/>
                </a:cubicBezTo>
                <a:lnTo>
                  <a:pt x="112775" y="37244"/>
                </a:lnTo>
                <a:lnTo>
                  <a:pt x="123192" y="47662"/>
                </a:lnTo>
                <a:cubicBezTo>
                  <a:pt x="124990" y="49459"/>
                  <a:pt x="125510" y="52142"/>
                  <a:pt x="124547" y="54486"/>
                </a:cubicBezTo>
                <a:cubicBezTo>
                  <a:pt x="123583" y="56830"/>
                  <a:pt x="121291" y="58341"/>
                  <a:pt x="118765" y="58341"/>
                </a:cubicBezTo>
                <a:close/>
                <a:moveTo>
                  <a:pt x="118765" y="75009"/>
                </a:moveTo>
                <a:cubicBezTo>
                  <a:pt x="121291" y="75009"/>
                  <a:pt x="123583" y="76520"/>
                  <a:pt x="124547" y="78864"/>
                </a:cubicBezTo>
                <a:cubicBezTo>
                  <a:pt x="125510" y="81208"/>
                  <a:pt x="124990" y="83891"/>
                  <a:pt x="123192" y="85688"/>
                </a:cubicBezTo>
                <a:lnTo>
                  <a:pt x="112775" y="96106"/>
                </a:lnTo>
                <a:lnTo>
                  <a:pt x="131891" y="115223"/>
                </a:lnTo>
                <a:cubicBezTo>
                  <a:pt x="132829" y="116160"/>
                  <a:pt x="133376" y="117437"/>
                  <a:pt x="133376" y="118791"/>
                </a:cubicBezTo>
                <a:cubicBezTo>
                  <a:pt x="133376" y="120145"/>
                  <a:pt x="132855" y="121395"/>
                  <a:pt x="131891" y="122359"/>
                </a:cubicBezTo>
                <a:lnTo>
                  <a:pt x="122333" y="131918"/>
                </a:lnTo>
                <a:cubicBezTo>
                  <a:pt x="121369" y="132829"/>
                  <a:pt x="120093" y="133350"/>
                  <a:pt x="118765" y="133350"/>
                </a:cubicBezTo>
                <a:cubicBezTo>
                  <a:pt x="117437" y="133350"/>
                  <a:pt x="116160" y="132829"/>
                  <a:pt x="115197" y="131865"/>
                </a:cubicBezTo>
                <a:lnTo>
                  <a:pt x="96106" y="112775"/>
                </a:lnTo>
                <a:lnTo>
                  <a:pt x="85688" y="123192"/>
                </a:lnTo>
                <a:cubicBezTo>
                  <a:pt x="83891" y="124990"/>
                  <a:pt x="81208" y="125510"/>
                  <a:pt x="78864" y="124547"/>
                </a:cubicBezTo>
                <a:cubicBezTo>
                  <a:pt x="76520" y="123583"/>
                  <a:pt x="75009" y="121291"/>
                  <a:pt x="75009" y="118765"/>
                </a:cubicBezTo>
                <a:lnTo>
                  <a:pt x="75009" y="81260"/>
                </a:lnTo>
                <a:cubicBezTo>
                  <a:pt x="75009" y="77796"/>
                  <a:pt x="77796" y="75009"/>
                  <a:pt x="81260" y="75009"/>
                </a:cubicBezTo>
                <a:lnTo>
                  <a:pt x="118765" y="75009"/>
                </a:lnTo>
                <a:close/>
                <a:moveTo>
                  <a:pt x="52090" y="75009"/>
                </a:moveTo>
                <a:cubicBezTo>
                  <a:pt x="55554" y="75009"/>
                  <a:pt x="58341" y="77796"/>
                  <a:pt x="58341" y="81260"/>
                </a:cubicBezTo>
                <a:lnTo>
                  <a:pt x="58341" y="118765"/>
                </a:lnTo>
                <a:cubicBezTo>
                  <a:pt x="58341" y="121291"/>
                  <a:pt x="56830" y="123583"/>
                  <a:pt x="54486" y="124547"/>
                </a:cubicBezTo>
                <a:cubicBezTo>
                  <a:pt x="52142" y="125510"/>
                  <a:pt x="49459" y="124990"/>
                  <a:pt x="47662" y="123192"/>
                </a:cubicBezTo>
                <a:lnTo>
                  <a:pt x="37244" y="112775"/>
                </a:lnTo>
                <a:lnTo>
                  <a:pt x="18127" y="131891"/>
                </a:lnTo>
                <a:cubicBezTo>
                  <a:pt x="17190" y="132829"/>
                  <a:pt x="15913" y="133350"/>
                  <a:pt x="14585" y="133350"/>
                </a:cubicBezTo>
                <a:cubicBezTo>
                  <a:pt x="13257" y="133350"/>
                  <a:pt x="11981" y="132829"/>
                  <a:pt x="11017" y="131865"/>
                </a:cubicBezTo>
                <a:lnTo>
                  <a:pt x="1485" y="122333"/>
                </a:lnTo>
                <a:cubicBezTo>
                  <a:pt x="521" y="121369"/>
                  <a:pt x="0" y="120093"/>
                  <a:pt x="0" y="118765"/>
                </a:cubicBezTo>
                <a:cubicBezTo>
                  <a:pt x="0" y="117437"/>
                  <a:pt x="521" y="116160"/>
                  <a:pt x="1485" y="115197"/>
                </a:cubicBezTo>
                <a:lnTo>
                  <a:pt x="20575" y="96106"/>
                </a:lnTo>
                <a:lnTo>
                  <a:pt x="10158" y="85688"/>
                </a:lnTo>
                <a:cubicBezTo>
                  <a:pt x="8360" y="83891"/>
                  <a:pt x="7840" y="81208"/>
                  <a:pt x="8803" y="78864"/>
                </a:cubicBezTo>
                <a:cubicBezTo>
                  <a:pt x="9767" y="76520"/>
                  <a:pt x="12059" y="75009"/>
                  <a:pt x="14585" y="75009"/>
                </a:cubicBezTo>
                <a:lnTo>
                  <a:pt x="52090" y="75009"/>
                </a:lnTo>
                <a:close/>
                <a:moveTo>
                  <a:pt x="14585" y="58341"/>
                </a:moveTo>
                <a:cubicBezTo>
                  <a:pt x="12059" y="58341"/>
                  <a:pt x="9767" y="56830"/>
                  <a:pt x="8803" y="54486"/>
                </a:cubicBezTo>
                <a:cubicBezTo>
                  <a:pt x="7840" y="52142"/>
                  <a:pt x="8386" y="49459"/>
                  <a:pt x="10158" y="47662"/>
                </a:cubicBezTo>
                <a:lnTo>
                  <a:pt x="20575" y="37244"/>
                </a:lnTo>
                <a:lnTo>
                  <a:pt x="1485" y="18153"/>
                </a:lnTo>
                <a:cubicBezTo>
                  <a:pt x="521" y="17190"/>
                  <a:pt x="0" y="15913"/>
                  <a:pt x="0" y="14585"/>
                </a:cubicBezTo>
                <a:cubicBezTo>
                  <a:pt x="0" y="13257"/>
                  <a:pt x="521" y="11981"/>
                  <a:pt x="1485" y="11017"/>
                </a:cubicBezTo>
                <a:lnTo>
                  <a:pt x="11017" y="1485"/>
                </a:lnTo>
                <a:cubicBezTo>
                  <a:pt x="11981" y="521"/>
                  <a:pt x="13257" y="0"/>
                  <a:pt x="14585" y="0"/>
                </a:cubicBezTo>
                <a:cubicBezTo>
                  <a:pt x="15913" y="0"/>
                  <a:pt x="17190" y="521"/>
                  <a:pt x="18153" y="1485"/>
                </a:cubicBezTo>
                <a:lnTo>
                  <a:pt x="37244" y="20575"/>
                </a:lnTo>
                <a:lnTo>
                  <a:pt x="47662" y="10158"/>
                </a:lnTo>
                <a:cubicBezTo>
                  <a:pt x="49459" y="8360"/>
                  <a:pt x="52142" y="7840"/>
                  <a:pt x="54486" y="8803"/>
                </a:cubicBezTo>
                <a:cubicBezTo>
                  <a:pt x="56830" y="9767"/>
                  <a:pt x="58341" y="12059"/>
                  <a:pt x="58341" y="14585"/>
                </a:cubicBezTo>
                <a:lnTo>
                  <a:pt x="58341" y="52090"/>
                </a:lnTo>
                <a:cubicBezTo>
                  <a:pt x="58341" y="55554"/>
                  <a:pt x="55554" y="58341"/>
                  <a:pt x="52090" y="58341"/>
                </a:cubicBezTo>
                <a:lnTo>
                  <a:pt x="14585" y="58341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75" name="Text 73"/>
          <p:cNvSpPr/>
          <p:nvPr/>
        </p:nvSpPr>
        <p:spPr>
          <a:xfrm>
            <a:off x="6743700" y="5942649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to Zero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743700" y="6133149"/>
            <a:ext cx="497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Non-production environments only run when needed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4757" y="455946"/>
            <a:ext cx="36476" cy="364757"/>
          </a:xfrm>
          <a:custGeom>
            <a:avLst/>
            <a:gdLst/>
            <a:ahLst/>
            <a:cxnLst/>
            <a:rect l="l" t="t" r="r" b="b"/>
            <a:pathLst>
              <a:path w="36476" h="364757">
                <a:moveTo>
                  <a:pt x="0" y="0"/>
                </a:moveTo>
                <a:lnTo>
                  <a:pt x="36476" y="0"/>
                </a:lnTo>
                <a:lnTo>
                  <a:pt x="36476" y="364757"/>
                </a:lnTo>
                <a:lnTo>
                  <a:pt x="0" y="364757"/>
                </a:lnTo>
                <a:lnTo>
                  <a:pt x="0" y="0"/>
                </a:ln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510660" y="364757"/>
            <a:ext cx="375699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spc="50" kern="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/ PROJECT 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0660" y="547135"/>
            <a:ext cx="3857304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Package Organization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757" y="1130746"/>
            <a:ext cx="5635494" cy="5726684"/>
          </a:xfrm>
          <a:custGeom>
            <a:avLst/>
            <a:gdLst/>
            <a:ahLst/>
            <a:cxnLst/>
            <a:rect l="l" t="t" r="r" b="b"/>
            <a:pathLst>
              <a:path w="5635494" h="5726684">
                <a:moveTo>
                  <a:pt x="109441" y="0"/>
                </a:moveTo>
                <a:lnTo>
                  <a:pt x="5526053" y="0"/>
                </a:lnTo>
                <a:cubicBezTo>
                  <a:pt x="5586496" y="0"/>
                  <a:pt x="5635494" y="48999"/>
                  <a:pt x="5635494" y="109441"/>
                </a:cubicBezTo>
                <a:lnTo>
                  <a:pt x="5635494" y="5617242"/>
                </a:lnTo>
                <a:cubicBezTo>
                  <a:pt x="5635494" y="5677685"/>
                  <a:pt x="5586496" y="5726684"/>
                  <a:pt x="5526053" y="5726684"/>
                </a:cubicBezTo>
                <a:lnTo>
                  <a:pt x="109441" y="5726684"/>
                </a:lnTo>
                <a:cubicBezTo>
                  <a:pt x="48999" y="5726684"/>
                  <a:pt x="0" y="5677685"/>
                  <a:pt x="0" y="5617242"/>
                </a:cubicBezTo>
                <a:lnTo>
                  <a:pt x="0" y="109441"/>
                </a:lnTo>
                <a:cubicBezTo>
                  <a:pt x="0" y="49039"/>
                  <a:pt x="49039" y="0"/>
                  <a:pt x="1094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6784" dist="91189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135" y="1313125"/>
            <a:ext cx="364757" cy="364757"/>
          </a:xfrm>
          <a:custGeom>
            <a:avLst/>
            <a:gdLst/>
            <a:ahLst/>
            <a:cxnLst/>
            <a:rect l="l" t="t" r="r" b="b"/>
            <a:pathLst>
              <a:path w="364757" h="364757">
                <a:moveTo>
                  <a:pt x="72951" y="0"/>
                </a:moveTo>
                <a:lnTo>
                  <a:pt x="291806" y="0"/>
                </a:lnTo>
                <a:cubicBezTo>
                  <a:pt x="332095" y="0"/>
                  <a:pt x="364757" y="32661"/>
                  <a:pt x="364757" y="72951"/>
                </a:cubicBezTo>
                <a:lnTo>
                  <a:pt x="364757" y="291806"/>
                </a:lnTo>
                <a:cubicBezTo>
                  <a:pt x="364757" y="332095"/>
                  <a:pt x="332095" y="364757"/>
                  <a:pt x="29180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7" name="Shape 5"/>
          <p:cNvSpPr/>
          <p:nvPr/>
        </p:nvSpPr>
        <p:spPr>
          <a:xfrm>
            <a:off x="661122" y="1404314"/>
            <a:ext cx="136784" cy="182378"/>
          </a:xfrm>
          <a:custGeom>
            <a:avLst/>
            <a:gdLst/>
            <a:ahLst/>
            <a:cxnLst/>
            <a:rect l="l" t="t" r="r" b="b"/>
            <a:pathLst>
              <a:path w="136784" h="182378">
                <a:moveTo>
                  <a:pt x="98955" y="111457"/>
                </a:moveTo>
                <a:cubicBezTo>
                  <a:pt x="102445" y="109071"/>
                  <a:pt x="107290" y="107005"/>
                  <a:pt x="107290" y="107005"/>
                </a:cubicBezTo>
                <a:cubicBezTo>
                  <a:pt x="107290" y="107005"/>
                  <a:pt x="93505" y="109498"/>
                  <a:pt x="79791" y="110638"/>
                </a:cubicBezTo>
                <a:cubicBezTo>
                  <a:pt x="63013" y="112027"/>
                  <a:pt x="44989" y="112312"/>
                  <a:pt x="35941" y="111101"/>
                </a:cubicBezTo>
                <a:cubicBezTo>
                  <a:pt x="14533" y="108252"/>
                  <a:pt x="47696" y="100379"/>
                  <a:pt x="47696" y="100379"/>
                </a:cubicBezTo>
                <a:cubicBezTo>
                  <a:pt x="47696" y="100379"/>
                  <a:pt x="34837" y="99524"/>
                  <a:pt x="18986" y="107147"/>
                </a:cubicBezTo>
                <a:cubicBezTo>
                  <a:pt x="285" y="116195"/>
                  <a:pt x="65293" y="120327"/>
                  <a:pt x="98955" y="111457"/>
                </a:cubicBezTo>
                <a:close/>
                <a:moveTo>
                  <a:pt x="68534" y="100023"/>
                </a:moveTo>
                <a:cubicBezTo>
                  <a:pt x="61766" y="84813"/>
                  <a:pt x="38934" y="71455"/>
                  <a:pt x="68534" y="48088"/>
                </a:cubicBezTo>
                <a:cubicBezTo>
                  <a:pt x="105473" y="18950"/>
                  <a:pt x="86523" y="0"/>
                  <a:pt x="86523" y="0"/>
                </a:cubicBezTo>
                <a:cubicBezTo>
                  <a:pt x="94181" y="30100"/>
                  <a:pt x="59594" y="39218"/>
                  <a:pt x="47091" y="57919"/>
                </a:cubicBezTo>
                <a:cubicBezTo>
                  <a:pt x="38577" y="70707"/>
                  <a:pt x="51258" y="84421"/>
                  <a:pt x="68534" y="100023"/>
                </a:cubicBezTo>
                <a:close/>
                <a:moveTo>
                  <a:pt x="109356" y="37259"/>
                </a:moveTo>
                <a:cubicBezTo>
                  <a:pt x="109391" y="37259"/>
                  <a:pt x="46948" y="52861"/>
                  <a:pt x="76763" y="87200"/>
                </a:cubicBezTo>
                <a:cubicBezTo>
                  <a:pt x="85561" y="97316"/>
                  <a:pt x="74447" y="106435"/>
                  <a:pt x="74447" y="106435"/>
                </a:cubicBezTo>
                <a:cubicBezTo>
                  <a:pt x="74447" y="106435"/>
                  <a:pt x="96782" y="94894"/>
                  <a:pt x="86523" y="80467"/>
                </a:cubicBezTo>
                <a:cubicBezTo>
                  <a:pt x="76941" y="67003"/>
                  <a:pt x="69603" y="60306"/>
                  <a:pt x="109356" y="37259"/>
                </a:cubicBezTo>
                <a:close/>
                <a:moveTo>
                  <a:pt x="107183" y="133614"/>
                </a:moveTo>
                <a:cubicBezTo>
                  <a:pt x="107005" y="133970"/>
                  <a:pt x="106756" y="134255"/>
                  <a:pt x="106471" y="134540"/>
                </a:cubicBezTo>
                <a:cubicBezTo>
                  <a:pt x="152172" y="122536"/>
                  <a:pt x="135359" y="92187"/>
                  <a:pt x="113523" y="99881"/>
                </a:cubicBezTo>
                <a:cubicBezTo>
                  <a:pt x="112348" y="100308"/>
                  <a:pt x="111315" y="101092"/>
                  <a:pt x="110603" y="102125"/>
                </a:cubicBezTo>
                <a:cubicBezTo>
                  <a:pt x="111885" y="101662"/>
                  <a:pt x="113203" y="101306"/>
                  <a:pt x="114521" y="101056"/>
                </a:cubicBezTo>
                <a:cubicBezTo>
                  <a:pt x="125563" y="98741"/>
                  <a:pt x="141415" y="115839"/>
                  <a:pt x="107183" y="133614"/>
                </a:cubicBezTo>
                <a:close/>
                <a:moveTo>
                  <a:pt x="123960" y="155805"/>
                </a:moveTo>
                <a:cubicBezTo>
                  <a:pt x="123960" y="155805"/>
                  <a:pt x="129125" y="160044"/>
                  <a:pt x="118297" y="163357"/>
                </a:cubicBezTo>
                <a:cubicBezTo>
                  <a:pt x="97672" y="169591"/>
                  <a:pt x="32522" y="171478"/>
                  <a:pt x="14426" y="163606"/>
                </a:cubicBezTo>
                <a:cubicBezTo>
                  <a:pt x="7908" y="160792"/>
                  <a:pt x="20126" y="156838"/>
                  <a:pt x="23973" y="156019"/>
                </a:cubicBezTo>
                <a:cubicBezTo>
                  <a:pt x="27962" y="155164"/>
                  <a:pt x="30278" y="155307"/>
                  <a:pt x="30278" y="155307"/>
                </a:cubicBezTo>
                <a:cubicBezTo>
                  <a:pt x="23047" y="150213"/>
                  <a:pt x="-16492" y="165316"/>
                  <a:pt x="10188" y="169626"/>
                </a:cubicBezTo>
                <a:cubicBezTo>
                  <a:pt x="82925" y="181452"/>
                  <a:pt x="142839" y="164319"/>
                  <a:pt x="123960" y="155805"/>
                </a:cubicBezTo>
                <a:close/>
                <a:moveTo>
                  <a:pt x="44348" y="141058"/>
                </a:moveTo>
                <a:cubicBezTo>
                  <a:pt x="16314" y="148895"/>
                  <a:pt x="61410" y="165067"/>
                  <a:pt x="97102" y="149785"/>
                </a:cubicBezTo>
                <a:cubicBezTo>
                  <a:pt x="93611" y="148432"/>
                  <a:pt x="90263" y="146793"/>
                  <a:pt x="87057" y="144870"/>
                </a:cubicBezTo>
                <a:cubicBezTo>
                  <a:pt x="71135" y="147898"/>
                  <a:pt x="63761" y="148111"/>
                  <a:pt x="49299" y="146473"/>
                </a:cubicBezTo>
                <a:cubicBezTo>
                  <a:pt x="37366" y="145119"/>
                  <a:pt x="44348" y="141058"/>
                  <a:pt x="44348" y="141058"/>
                </a:cubicBezTo>
                <a:close/>
                <a:moveTo>
                  <a:pt x="108394" y="175682"/>
                </a:moveTo>
                <a:cubicBezTo>
                  <a:pt x="80361" y="180954"/>
                  <a:pt x="45773" y="180348"/>
                  <a:pt x="25291" y="176964"/>
                </a:cubicBezTo>
                <a:cubicBezTo>
                  <a:pt x="25291" y="176928"/>
                  <a:pt x="29494" y="180419"/>
                  <a:pt x="51080" y="181809"/>
                </a:cubicBezTo>
                <a:cubicBezTo>
                  <a:pt x="83923" y="183910"/>
                  <a:pt x="134362" y="180633"/>
                  <a:pt x="135537" y="165102"/>
                </a:cubicBezTo>
                <a:cubicBezTo>
                  <a:pt x="135537" y="165102"/>
                  <a:pt x="133257" y="170980"/>
                  <a:pt x="108394" y="175682"/>
                </a:cubicBezTo>
                <a:close/>
                <a:moveTo>
                  <a:pt x="92863" y="125741"/>
                </a:moveTo>
                <a:cubicBezTo>
                  <a:pt x="71776" y="129802"/>
                  <a:pt x="59558" y="129695"/>
                  <a:pt x="44134" y="128092"/>
                </a:cubicBezTo>
                <a:cubicBezTo>
                  <a:pt x="32201" y="126846"/>
                  <a:pt x="40002" y="121075"/>
                  <a:pt x="40002" y="121075"/>
                </a:cubicBezTo>
                <a:cubicBezTo>
                  <a:pt x="9083" y="131334"/>
                  <a:pt x="57171" y="142946"/>
                  <a:pt x="100379" y="130301"/>
                </a:cubicBezTo>
                <a:cubicBezTo>
                  <a:pt x="97601" y="129303"/>
                  <a:pt x="95036" y="127772"/>
                  <a:pt x="92863" y="1257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1319" y="1367838"/>
            <a:ext cx="1787309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Source Structure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7135" y="1823785"/>
            <a:ext cx="5270737" cy="1057795"/>
          </a:xfrm>
          <a:custGeom>
            <a:avLst/>
            <a:gdLst/>
            <a:ahLst/>
            <a:cxnLst/>
            <a:rect l="l" t="t" r="r" b="b"/>
            <a:pathLst>
              <a:path w="5270737" h="1057795">
                <a:moveTo>
                  <a:pt x="72956" y="0"/>
                </a:moveTo>
                <a:lnTo>
                  <a:pt x="5197781" y="0"/>
                </a:lnTo>
                <a:cubicBezTo>
                  <a:pt x="5238074" y="0"/>
                  <a:pt x="5270737" y="32664"/>
                  <a:pt x="5270737" y="72956"/>
                </a:cubicBezTo>
                <a:lnTo>
                  <a:pt x="5270737" y="984839"/>
                </a:lnTo>
                <a:cubicBezTo>
                  <a:pt x="5270737" y="1025131"/>
                  <a:pt x="5238074" y="1057795"/>
                  <a:pt x="5197781" y="1057795"/>
                </a:cubicBezTo>
                <a:lnTo>
                  <a:pt x="72956" y="1057795"/>
                </a:lnTo>
                <a:cubicBezTo>
                  <a:pt x="32664" y="1057795"/>
                  <a:pt x="0" y="1025131"/>
                  <a:pt x="0" y="984839"/>
                </a:cubicBezTo>
                <a:lnTo>
                  <a:pt x="0" y="72956"/>
                </a:lnTo>
                <a:cubicBezTo>
                  <a:pt x="0" y="32691"/>
                  <a:pt x="32691" y="0"/>
                  <a:pt x="72956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638325" y="1924093"/>
            <a:ext cx="127665" cy="127665"/>
          </a:xfrm>
          <a:custGeom>
            <a:avLst/>
            <a:gdLst/>
            <a:ahLst/>
            <a:cxnLst/>
            <a:rect l="l" t="t" r="r" b="b"/>
            <a:pathLst>
              <a:path w="127665" h="127665">
                <a:moveTo>
                  <a:pt x="15958" y="111707"/>
                </a:moveTo>
                <a:lnTo>
                  <a:pt x="111707" y="111707"/>
                </a:lnTo>
                <a:cubicBezTo>
                  <a:pt x="120509" y="111707"/>
                  <a:pt x="127665" y="104551"/>
                  <a:pt x="127665" y="95749"/>
                </a:cubicBezTo>
                <a:lnTo>
                  <a:pt x="127665" y="35906"/>
                </a:lnTo>
                <a:cubicBezTo>
                  <a:pt x="127665" y="27104"/>
                  <a:pt x="120509" y="19948"/>
                  <a:pt x="111707" y="19948"/>
                </a:cubicBezTo>
                <a:lnTo>
                  <a:pt x="74480" y="19948"/>
                </a:lnTo>
                <a:cubicBezTo>
                  <a:pt x="72759" y="19948"/>
                  <a:pt x="71063" y="19399"/>
                  <a:pt x="69692" y="18352"/>
                </a:cubicBezTo>
                <a:lnTo>
                  <a:pt x="60117" y="11171"/>
                </a:lnTo>
                <a:cubicBezTo>
                  <a:pt x="57349" y="9101"/>
                  <a:pt x="53983" y="7979"/>
                  <a:pt x="50542" y="7979"/>
                </a:cubicBezTo>
                <a:lnTo>
                  <a:pt x="15958" y="7979"/>
                </a:lnTo>
                <a:cubicBezTo>
                  <a:pt x="7156" y="7979"/>
                  <a:pt x="0" y="15135"/>
                  <a:pt x="0" y="23937"/>
                </a:cubicBezTo>
                <a:lnTo>
                  <a:pt x="0" y="95749"/>
                </a:lnTo>
                <a:cubicBezTo>
                  <a:pt x="0" y="104551"/>
                  <a:pt x="7156" y="111707"/>
                  <a:pt x="15958" y="111707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852619" y="1896736"/>
            <a:ext cx="465065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config/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941" y="2115590"/>
            <a:ext cx="496069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InferenceProperties.java — @ConfigurationProperties binding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941" y="2297857"/>
            <a:ext cx="496069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OnnxRuntimeConfig.java — OrtEnvironment + SessionOptions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941" y="2480120"/>
            <a:ext cx="496069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AwsConfig.java — S3Client, SsmClient beans (IAM role auth)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941" y="2662383"/>
            <a:ext cx="496069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ModelRegistryConfig.java — Loads all models at startup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7135" y="2954077"/>
            <a:ext cx="5270737" cy="875417"/>
          </a:xfrm>
          <a:custGeom>
            <a:avLst/>
            <a:gdLst/>
            <a:ahLst/>
            <a:cxnLst/>
            <a:rect l="l" t="t" r="r" b="b"/>
            <a:pathLst>
              <a:path w="5270737" h="875417">
                <a:moveTo>
                  <a:pt x="72948" y="0"/>
                </a:moveTo>
                <a:lnTo>
                  <a:pt x="5197789" y="0"/>
                </a:lnTo>
                <a:cubicBezTo>
                  <a:pt x="5238050" y="0"/>
                  <a:pt x="5270737" y="32687"/>
                  <a:pt x="5270737" y="72948"/>
                </a:cubicBezTo>
                <a:lnTo>
                  <a:pt x="5270737" y="802468"/>
                </a:lnTo>
                <a:cubicBezTo>
                  <a:pt x="5270737" y="842756"/>
                  <a:pt x="5238077" y="875417"/>
                  <a:pt x="5197789" y="875417"/>
                </a:cubicBezTo>
                <a:lnTo>
                  <a:pt x="72948" y="875417"/>
                </a:lnTo>
                <a:cubicBezTo>
                  <a:pt x="32660" y="875417"/>
                  <a:pt x="0" y="842756"/>
                  <a:pt x="0" y="802468"/>
                </a:cubicBezTo>
                <a:lnTo>
                  <a:pt x="0" y="72948"/>
                </a:lnTo>
                <a:cubicBezTo>
                  <a:pt x="0" y="32687"/>
                  <a:pt x="32687" y="0"/>
                  <a:pt x="72948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325" y="3054385"/>
            <a:ext cx="127665" cy="127665"/>
          </a:xfrm>
          <a:custGeom>
            <a:avLst/>
            <a:gdLst/>
            <a:ahLst/>
            <a:cxnLst/>
            <a:rect l="l" t="t" r="r" b="b"/>
            <a:pathLst>
              <a:path w="127665" h="127665">
                <a:moveTo>
                  <a:pt x="15958" y="111707"/>
                </a:moveTo>
                <a:lnTo>
                  <a:pt x="111707" y="111707"/>
                </a:lnTo>
                <a:cubicBezTo>
                  <a:pt x="120509" y="111707"/>
                  <a:pt x="127665" y="104551"/>
                  <a:pt x="127665" y="95749"/>
                </a:cubicBezTo>
                <a:lnTo>
                  <a:pt x="127665" y="35906"/>
                </a:lnTo>
                <a:cubicBezTo>
                  <a:pt x="127665" y="27104"/>
                  <a:pt x="120509" y="19948"/>
                  <a:pt x="111707" y="19948"/>
                </a:cubicBezTo>
                <a:lnTo>
                  <a:pt x="74480" y="19948"/>
                </a:lnTo>
                <a:cubicBezTo>
                  <a:pt x="72759" y="19948"/>
                  <a:pt x="71063" y="19399"/>
                  <a:pt x="69692" y="18352"/>
                </a:cubicBezTo>
                <a:lnTo>
                  <a:pt x="60117" y="11171"/>
                </a:lnTo>
                <a:cubicBezTo>
                  <a:pt x="57349" y="9101"/>
                  <a:pt x="53983" y="7979"/>
                  <a:pt x="50542" y="7979"/>
                </a:cubicBezTo>
                <a:lnTo>
                  <a:pt x="15958" y="7979"/>
                </a:lnTo>
                <a:cubicBezTo>
                  <a:pt x="7156" y="7979"/>
                  <a:pt x="0" y="15135"/>
                  <a:pt x="0" y="23937"/>
                </a:cubicBezTo>
                <a:lnTo>
                  <a:pt x="0" y="95749"/>
                </a:lnTo>
                <a:cubicBezTo>
                  <a:pt x="0" y="104551"/>
                  <a:pt x="7156" y="111707"/>
                  <a:pt x="15958" y="111707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8" name="Text 16"/>
          <p:cNvSpPr/>
          <p:nvPr/>
        </p:nvSpPr>
        <p:spPr>
          <a:xfrm>
            <a:off x="852619" y="3027028"/>
            <a:ext cx="465065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model/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941" y="3245882"/>
            <a:ext cx="496069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ModelDefinition.java — id, s3Bucket, s3Key, version, inputSchema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941" y="3428145"/>
            <a:ext cx="496069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ModelRegistry.java — ConcurrentHashMap + AtomicReference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941" y="3610412"/>
            <a:ext cx="496069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ModelLoader.java — S3 download + OrtSession creation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7135" y="3902102"/>
            <a:ext cx="5270737" cy="1057795"/>
          </a:xfrm>
          <a:custGeom>
            <a:avLst/>
            <a:gdLst/>
            <a:ahLst/>
            <a:cxnLst/>
            <a:rect l="l" t="t" r="r" b="b"/>
            <a:pathLst>
              <a:path w="5270737" h="1057795">
                <a:moveTo>
                  <a:pt x="72956" y="0"/>
                </a:moveTo>
                <a:lnTo>
                  <a:pt x="5197781" y="0"/>
                </a:lnTo>
                <a:cubicBezTo>
                  <a:pt x="5238074" y="0"/>
                  <a:pt x="5270737" y="32664"/>
                  <a:pt x="5270737" y="72956"/>
                </a:cubicBezTo>
                <a:lnTo>
                  <a:pt x="5270737" y="984839"/>
                </a:lnTo>
                <a:cubicBezTo>
                  <a:pt x="5270737" y="1025131"/>
                  <a:pt x="5238074" y="1057795"/>
                  <a:pt x="5197781" y="1057795"/>
                </a:cubicBezTo>
                <a:lnTo>
                  <a:pt x="72956" y="1057795"/>
                </a:lnTo>
                <a:cubicBezTo>
                  <a:pt x="32664" y="1057795"/>
                  <a:pt x="0" y="1025131"/>
                  <a:pt x="0" y="984839"/>
                </a:cubicBezTo>
                <a:lnTo>
                  <a:pt x="0" y="72956"/>
                </a:lnTo>
                <a:cubicBezTo>
                  <a:pt x="0" y="32691"/>
                  <a:pt x="32691" y="0"/>
                  <a:pt x="72956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638325" y="4002410"/>
            <a:ext cx="127665" cy="127665"/>
          </a:xfrm>
          <a:custGeom>
            <a:avLst/>
            <a:gdLst/>
            <a:ahLst/>
            <a:cxnLst/>
            <a:rect l="l" t="t" r="r" b="b"/>
            <a:pathLst>
              <a:path w="127665" h="127665">
                <a:moveTo>
                  <a:pt x="15958" y="111707"/>
                </a:moveTo>
                <a:lnTo>
                  <a:pt x="111707" y="111707"/>
                </a:lnTo>
                <a:cubicBezTo>
                  <a:pt x="120509" y="111707"/>
                  <a:pt x="127665" y="104551"/>
                  <a:pt x="127665" y="95749"/>
                </a:cubicBezTo>
                <a:lnTo>
                  <a:pt x="127665" y="35906"/>
                </a:lnTo>
                <a:cubicBezTo>
                  <a:pt x="127665" y="27104"/>
                  <a:pt x="120509" y="19948"/>
                  <a:pt x="111707" y="19948"/>
                </a:cubicBezTo>
                <a:lnTo>
                  <a:pt x="74480" y="19948"/>
                </a:lnTo>
                <a:cubicBezTo>
                  <a:pt x="72759" y="19948"/>
                  <a:pt x="71063" y="19399"/>
                  <a:pt x="69692" y="18352"/>
                </a:cubicBezTo>
                <a:lnTo>
                  <a:pt x="60117" y="11171"/>
                </a:lnTo>
                <a:cubicBezTo>
                  <a:pt x="57349" y="9101"/>
                  <a:pt x="53983" y="7979"/>
                  <a:pt x="50542" y="7979"/>
                </a:cubicBezTo>
                <a:lnTo>
                  <a:pt x="15958" y="7979"/>
                </a:lnTo>
                <a:cubicBezTo>
                  <a:pt x="7156" y="7979"/>
                  <a:pt x="0" y="15135"/>
                  <a:pt x="0" y="23937"/>
                </a:cubicBezTo>
                <a:lnTo>
                  <a:pt x="0" y="95749"/>
                </a:lnTo>
                <a:cubicBezTo>
                  <a:pt x="0" y="104551"/>
                  <a:pt x="7156" y="111707"/>
                  <a:pt x="15958" y="111707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24" name="Text 22"/>
          <p:cNvSpPr/>
          <p:nvPr/>
        </p:nvSpPr>
        <p:spPr>
          <a:xfrm>
            <a:off x="852619" y="3975053"/>
            <a:ext cx="282687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api/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941" y="4193908"/>
            <a:ext cx="496069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InferenceController.java — POST /api/v1/infer/{modelId}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8941" y="4376170"/>
            <a:ext cx="496069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ManagementController.java — POST /models/{id}/reload, GET /models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8941" y="4558437"/>
            <a:ext cx="496069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dto/ — InferenceRequest, InferenceResponse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8941" y="4740700"/>
            <a:ext cx="496069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router/ — ModelRouter.java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7135" y="5032394"/>
            <a:ext cx="5270737" cy="693038"/>
          </a:xfrm>
          <a:custGeom>
            <a:avLst/>
            <a:gdLst/>
            <a:ahLst/>
            <a:cxnLst/>
            <a:rect l="l" t="t" r="r" b="b"/>
            <a:pathLst>
              <a:path w="5270737" h="693038">
                <a:moveTo>
                  <a:pt x="72949" y="0"/>
                </a:moveTo>
                <a:lnTo>
                  <a:pt x="5197788" y="0"/>
                </a:lnTo>
                <a:cubicBezTo>
                  <a:pt x="5238050" y="0"/>
                  <a:pt x="5270737" y="32687"/>
                  <a:pt x="5270737" y="72949"/>
                </a:cubicBezTo>
                <a:lnTo>
                  <a:pt x="5270737" y="620089"/>
                </a:lnTo>
                <a:cubicBezTo>
                  <a:pt x="5270737" y="660378"/>
                  <a:pt x="5238077" y="693038"/>
                  <a:pt x="5197788" y="693038"/>
                </a:cubicBezTo>
                <a:lnTo>
                  <a:pt x="72949" y="693038"/>
                </a:lnTo>
                <a:cubicBezTo>
                  <a:pt x="32687" y="693038"/>
                  <a:pt x="0" y="660351"/>
                  <a:pt x="0" y="620089"/>
                </a:cubicBezTo>
                <a:lnTo>
                  <a:pt x="0" y="72949"/>
                </a:lnTo>
                <a:cubicBezTo>
                  <a:pt x="0" y="32660"/>
                  <a:pt x="32660" y="0"/>
                  <a:pt x="7294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0" name="Shape 28"/>
          <p:cNvSpPr/>
          <p:nvPr/>
        </p:nvSpPr>
        <p:spPr>
          <a:xfrm>
            <a:off x="638325" y="5132702"/>
            <a:ext cx="127665" cy="127665"/>
          </a:xfrm>
          <a:custGeom>
            <a:avLst/>
            <a:gdLst/>
            <a:ahLst/>
            <a:cxnLst/>
            <a:rect l="l" t="t" r="r" b="b"/>
            <a:pathLst>
              <a:path w="127665" h="127665">
                <a:moveTo>
                  <a:pt x="15958" y="111707"/>
                </a:moveTo>
                <a:lnTo>
                  <a:pt x="111707" y="111707"/>
                </a:lnTo>
                <a:cubicBezTo>
                  <a:pt x="120509" y="111707"/>
                  <a:pt x="127665" y="104551"/>
                  <a:pt x="127665" y="95749"/>
                </a:cubicBezTo>
                <a:lnTo>
                  <a:pt x="127665" y="35906"/>
                </a:lnTo>
                <a:cubicBezTo>
                  <a:pt x="127665" y="27104"/>
                  <a:pt x="120509" y="19948"/>
                  <a:pt x="111707" y="19948"/>
                </a:cubicBezTo>
                <a:lnTo>
                  <a:pt x="74480" y="19948"/>
                </a:lnTo>
                <a:cubicBezTo>
                  <a:pt x="72759" y="19948"/>
                  <a:pt x="71063" y="19399"/>
                  <a:pt x="69692" y="18352"/>
                </a:cubicBezTo>
                <a:lnTo>
                  <a:pt x="60117" y="11171"/>
                </a:lnTo>
                <a:cubicBezTo>
                  <a:pt x="57349" y="9101"/>
                  <a:pt x="53983" y="7979"/>
                  <a:pt x="50542" y="7979"/>
                </a:cubicBezTo>
                <a:lnTo>
                  <a:pt x="15958" y="7979"/>
                </a:lnTo>
                <a:cubicBezTo>
                  <a:pt x="7156" y="7979"/>
                  <a:pt x="0" y="15135"/>
                  <a:pt x="0" y="23937"/>
                </a:cubicBezTo>
                <a:lnTo>
                  <a:pt x="0" y="95749"/>
                </a:lnTo>
                <a:cubicBezTo>
                  <a:pt x="0" y="104551"/>
                  <a:pt x="7156" y="111707"/>
                  <a:pt x="15958" y="111707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1" name="Text 29"/>
          <p:cNvSpPr/>
          <p:nvPr/>
        </p:nvSpPr>
        <p:spPr>
          <a:xfrm>
            <a:off x="852619" y="5105346"/>
            <a:ext cx="510660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service/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8941" y="5324200"/>
            <a:ext cx="496069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InferenceService.java — Core inference logic, tensor building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8941" y="5506463"/>
            <a:ext cx="496069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DriftDetectionService.java — PSI-based input drift monitoring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7135" y="5798152"/>
            <a:ext cx="5270737" cy="875417"/>
          </a:xfrm>
          <a:custGeom>
            <a:avLst/>
            <a:gdLst/>
            <a:ahLst/>
            <a:cxnLst/>
            <a:rect l="l" t="t" r="r" b="b"/>
            <a:pathLst>
              <a:path w="5270737" h="875417">
                <a:moveTo>
                  <a:pt x="72948" y="0"/>
                </a:moveTo>
                <a:lnTo>
                  <a:pt x="5197789" y="0"/>
                </a:lnTo>
                <a:cubicBezTo>
                  <a:pt x="5238050" y="0"/>
                  <a:pt x="5270737" y="32687"/>
                  <a:pt x="5270737" y="72948"/>
                </a:cubicBezTo>
                <a:lnTo>
                  <a:pt x="5270737" y="802468"/>
                </a:lnTo>
                <a:cubicBezTo>
                  <a:pt x="5270737" y="842756"/>
                  <a:pt x="5238077" y="875417"/>
                  <a:pt x="5197789" y="875417"/>
                </a:cubicBezTo>
                <a:lnTo>
                  <a:pt x="72948" y="875417"/>
                </a:lnTo>
                <a:cubicBezTo>
                  <a:pt x="32660" y="875417"/>
                  <a:pt x="0" y="842756"/>
                  <a:pt x="0" y="802468"/>
                </a:cubicBezTo>
                <a:lnTo>
                  <a:pt x="0" y="72948"/>
                </a:lnTo>
                <a:cubicBezTo>
                  <a:pt x="0" y="32687"/>
                  <a:pt x="32687" y="0"/>
                  <a:pt x="72948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5" name="Shape 33"/>
          <p:cNvSpPr/>
          <p:nvPr/>
        </p:nvSpPr>
        <p:spPr>
          <a:xfrm>
            <a:off x="638325" y="5898460"/>
            <a:ext cx="127665" cy="127665"/>
          </a:xfrm>
          <a:custGeom>
            <a:avLst/>
            <a:gdLst/>
            <a:ahLst/>
            <a:cxnLst/>
            <a:rect l="l" t="t" r="r" b="b"/>
            <a:pathLst>
              <a:path w="127665" h="127665">
                <a:moveTo>
                  <a:pt x="15958" y="111707"/>
                </a:moveTo>
                <a:lnTo>
                  <a:pt x="111707" y="111707"/>
                </a:lnTo>
                <a:cubicBezTo>
                  <a:pt x="120509" y="111707"/>
                  <a:pt x="127665" y="104551"/>
                  <a:pt x="127665" y="95749"/>
                </a:cubicBezTo>
                <a:lnTo>
                  <a:pt x="127665" y="35906"/>
                </a:lnTo>
                <a:cubicBezTo>
                  <a:pt x="127665" y="27104"/>
                  <a:pt x="120509" y="19948"/>
                  <a:pt x="111707" y="19948"/>
                </a:cubicBezTo>
                <a:lnTo>
                  <a:pt x="74480" y="19948"/>
                </a:lnTo>
                <a:cubicBezTo>
                  <a:pt x="72759" y="19948"/>
                  <a:pt x="71063" y="19399"/>
                  <a:pt x="69692" y="18352"/>
                </a:cubicBezTo>
                <a:lnTo>
                  <a:pt x="60117" y="11171"/>
                </a:lnTo>
                <a:cubicBezTo>
                  <a:pt x="57349" y="9101"/>
                  <a:pt x="53983" y="7979"/>
                  <a:pt x="50542" y="7979"/>
                </a:cubicBezTo>
                <a:lnTo>
                  <a:pt x="15958" y="7979"/>
                </a:lnTo>
                <a:cubicBezTo>
                  <a:pt x="7156" y="7979"/>
                  <a:pt x="0" y="15135"/>
                  <a:pt x="0" y="23937"/>
                </a:cubicBezTo>
                <a:lnTo>
                  <a:pt x="0" y="95749"/>
                </a:lnTo>
                <a:cubicBezTo>
                  <a:pt x="0" y="104551"/>
                  <a:pt x="7156" y="111707"/>
                  <a:pt x="15958" y="111707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6" name="Text 34"/>
          <p:cNvSpPr/>
          <p:nvPr/>
        </p:nvSpPr>
        <p:spPr>
          <a:xfrm>
            <a:off x="852619" y="5871104"/>
            <a:ext cx="82982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observability/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8941" y="6089958"/>
            <a:ext cx="496069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InferenceMetrics.java — Micrometer → CloudWatch + Prometheus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8941" y="6272225"/>
            <a:ext cx="496069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XRayTraceInterceptor.java — AWS X-Ray per-request tracing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8941" y="6454488"/>
            <a:ext cx="496069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InferenceTraceLogger.java — Structured JSON → CloudWatch Logs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86619" y="1130746"/>
            <a:ext cx="5635494" cy="2443871"/>
          </a:xfrm>
          <a:custGeom>
            <a:avLst/>
            <a:gdLst/>
            <a:ahLst/>
            <a:cxnLst/>
            <a:rect l="l" t="t" r="r" b="b"/>
            <a:pathLst>
              <a:path w="5635494" h="2443871">
                <a:moveTo>
                  <a:pt x="109437" y="0"/>
                </a:moveTo>
                <a:lnTo>
                  <a:pt x="5526058" y="0"/>
                </a:lnTo>
                <a:cubicBezTo>
                  <a:pt x="5586498" y="0"/>
                  <a:pt x="5635494" y="48996"/>
                  <a:pt x="5635494" y="109437"/>
                </a:cubicBezTo>
                <a:lnTo>
                  <a:pt x="5635494" y="2334435"/>
                </a:lnTo>
                <a:cubicBezTo>
                  <a:pt x="5635494" y="2394875"/>
                  <a:pt x="5586498" y="2443871"/>
                  <a:pt x="5526058" y="2443871"/>
                </a:cubicBezTo>
                <a:lnTo>
                  <a:pt x="109437" y="2443871"/>
                </a:lnTo>
                <a:cubicBezTo>
                  <a:pt x="49037" y="2443871"/>
                  <a:pt x="0" y="2394834"/>
                  <a:pt x="0" y="2334435"/>
                </a:cubicBezTo>
                <a:lnTo>
                  <a:pt x="0" y="109437"/>
                </a:lnTo>
                <a:cubicBezTo>
                  <a:pt x="0" y="48996"/>
                  <a:pt x="48996" y="0"/>
                  <a:pt x="10943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6784" dist="91189" dir="540000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68998" y="1313125"/>
            <a:ext cx="364757" cy="364757"/>
          </a:xfrm>
          <a:custGeom>
            <a:avLst/>
            <a:gdLst/>
            <a:ahLst/>
            <a:cxnLst/>
            <a:rect l="l" t="t" r="r" b="b"/>
            <a:pathLst>
              <a:path w="364757" h="364757">
                <a:moveTo>
                  <a:pt x="72951" y="0"/>
                </a:moveTo>
                <a:lnTo>
                  <a:pt x="291806" y="0"/>
                </a:lnTo>
                <a:cubicBezTo>
                  <a:pt x="332095" y="0"/>
                  <a:pt x="364757" y="32661"/>
                  <a:pt x="364757" y="72951"/>
                </a:cubicBezTo>
                <a:lnTo>
                  <a:pt x="364757" y="291806"/>
                </a:lnTo>
                <a:cubicBezTo>
                  <a:pt x="364757" y="332095"/>
                  <a:pt x="332095" y="364757"/>
                  <a:pt x="29180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42" name="Shape 40"/>
          <p:cNvSpPr/>
          <p:nvPr/>
        </p:nvSpPr>
        <p:spPr>
          <a:xfrm>
            <a:off x="6437390" y="1404314"/>
            <a:ext cx="227973" cy="182378"/>
          </a:xfrm>
          <a:custGeom>
            <a:avLst/>
            <a:gdLst/>
            <a:ahLst/>
            <a:cxnLst/>
            <a:rect l="l" t="t" r="r" b="b"/>
            <a:pathLst>
              <a:path w="227973" h="182378">
                <a:moveTo>
                  <a:pt x="64260" y="72310"/>
                </a:moveTo>
                <a:cubicBezTo>
                  <a:pt x="64011" y="80361"/>
                  <a:pt x="68036" y="83958"/>
                  <a:pt x="68143" y="86202"/>
                </a:cubicBezTo>
                <a:cubicBezTo>
                  <a:pt x="68107" y="86665"/>
                  <a:pt x="67929" y="87093"/>
                  <a:pt x="67680" y="87485"/>
                </a:cubicBezTo>
                <a:cubicBezTo>
                  <a:pt x="67430" y="87876"/>
                  <a:pt x="67074" y="88197"/>
                  <a:pt x="66682" y="88411"/>
                </a:cubicBezTo>
                <a:lnTo>
                  <a:pt x="62123" y="91617"/>
                </a:lnTo>
                <a:cubicBezTo>
                  <a:pt x="61517" y="92044"/>
                  <a:pt x="60840" y="92258"/>
                  <a:pt x="60128" y="92293"/>
                </a:cubicBezTo>
                <a:cubicBezTo>
                  <a:pt x="59985" y="92293"/>
                  <a:pt x="57207" y="92935"/>
                  <a:pt x="52826" y="83175"/>
                </a:cubicBezTo>
                <a:cubicBezTo>
                  <a:pt x="50154" y="86523"/>
                  <a:pt x="46770" y="89194"/>
                  <a:pt x="42887" y="91011"/>
                </a:cubicBezTo>
                <a:cubicBezTo>
                  <a:pt x="39005" y="92828"/>
                  <a:pt x="34802" y="93754"/>
                  <a:pt x="30527" y="93683"/>
                </a:cubicBezTo>
                <a:cubicBezTo>
                  <a:pt x="24721" y="94003"/>
                  <a:pt x="9012" y="90406"/>
                  <a:pt x="9831" y="73664"/>
                </a:cubicBezTo>
                <a:cubicBezTo>
                  <a:pt x="9261" y="60021"/>
                  <a:pt x="21978" y="51543"/>
                  <a:pt x="35086" y="52291"/>
                </a:cubicBezTo>
                <a:cubicBezTo>
                  <a:pt x="37616" y="52291"/>
                  <a:pt x="42781" y="52434"/>
                  <a:pt x="51828" y="54535"/>
                </a:cubicBezTo>
                <a:lnTo>
                  <a:pt x="51828" y="48979"/>
                </a:lnTo>
                <a:cubicBezTo>
                  <a:pt x="52790" y="39539"/>
                  <a:pt x="46592" y="32237"/>
                  <a:pt x="35870" y="33341"/>
                </a:cubicBezTo>
                <a:cubicBezTo>
                  <a:pt x="35015" y="33341"/>
                  <a:pt x="28960" y="33163"/>
                  <a:pt x="19556" y="36939"/>
                </a:cubicBezTo>
                <a:cubicBezTo>
                  <a:pt x="16920" y="38150"/>
                  <a:pt x="16599" y="37936"/>
                  <a:pt x="15709" y="37936"/>
                </a:cubicBezTo>
                <a:cubicBezTo>
                  <a:pt x="13073" y="37936"/>
                  <a:pt x="14141" y="30278"/>
                  <a:pt x="14676" y="29316"/>
                </a:cubicBezTo>
                <a:cubicBezTo>
                  <a:pt x="16528" y="27036"/>
                  <a:pt x="27464" y="22762"/>
                  <a:pt x="38150" y="22833"/>
                </a:cubicBezTo>
                <a:cubicBezTo>
                  <a:pt x="45310" y="22192"/>
                  <a:pt x="52434" y="24400"/>
                  <a:pt x="57991" y="28995"/>
                </a:cubicBezTo>
                <a:cubicBezTo>
                  <a:pt x="60235" y="31524"/>
                  <a:pt x="61980" y="34481"/>
                  <a:pt x="63049" y="37687"/>
                </a:cubicBezTo>
                <a:cubicBezTo>
                  <a:pt x="64117" y="40893"/>
                  <a:pt x="64545" y="44277"/>
                  <a:pt x="64296" y="47661"/>
                </a:cubicBezTo>
                <a:lnTo>
                  <a:pt x="64296" y="72346"/>
                </a:lnTo>
                <a:close/>
                <a:moveTo>
                  <a:pt x="33484" y="83851"/>
                </a:moveTo>
                <a:cubicBezTo>
                  <a:pt x="45025" y="83673"/>
                  <a:pt x="49940" y="76727"/>
                  <a:pt x="51045" y="72987"/>
                </a:cubicBezTo>
                <a:cubicBezTo>
                  <a:pt x="51935" y="69389"/>
                  <a:pt x="51793" y="67145"/>
                  <a:pt x="51793" y="63227"/>
                </a:cubicBezTo>
                <a:cubicBezTo>
                  <a:pt x="48337" y="62408"/>
                  <a:pt x="43386" y="61481"/>
                  <a:pt x="37687" y="61481"/>
                </a:cubicBezTo>
                <a:cubicBezTo>
                  <a:pt x="32272" y="61090"/>
                  <a:pt x="22441" y="63476"/>
                  <a:pt x="22833" y="72987"/>
                </a:cubicBezTo>
                <a:cubicBezTo>
                  <a:pt x="22405" y="78971"/>
                  <a:pt x="26787" y="84172"/>
                  <a:pt x="33519" y="83851"/>
                </a:cubicBezTo>
                <a:close/>
                <a:moveTo>
                  <a:pt x="94359" y="92080"/>
                </a:moveTo>
                <a:cubicBezTo>
                  <a:pt x="91545" y="92329"/>
                  <a:pt x="90263" y="90334"/>
                  <a:pt x="89836" y="88375"/>
                </a:cubicBezTo>
                <a:lnTo>
                  <a:pt x="72096" y="29708"/>
                </a:lnTo>
                <a:cubicBezTo>
                  <a:pt x="71740" y="28710"/>
                  <a:pt x="71527" y="27713"/>
                  <a:pt x="71420" y="26644"/>
                </a:cubicBezTo>
                <a:cubicBezTo>
                  <a:pt x="71348" y="26217"/>
                  <a:pt x="71455" y="25789"/>
                  <a:pt x="71705" y="25433"/>
                </a:cubicBezTo>
                <a:cubicBezTo>
                  <a:pt x="71954" y="25077"/>
                  <a:pt x="72346" y="24863"/>
                  <a:pt x="72773" y="24792"/>
                </a:cubicBezTo>
                <a:cubicBezTo>
                  <a:pt x="72845" y="24792"/>
                  <a:pt x="72025" y="24792"/>
                  <a:pt x="80681" y="24792"/>
                </a:cubicBezTo>
                <a:cubicBezTo>
                  <a:pt x="83816" y="24471"/>
                  <a:pt x="84813" y="26929"/>
                  <a:pt x="85169" y="28497"/>
                </a:cubicBezTo>
                <a:lnTo>
                  <a:pt x="97922" y="78651"/>
                </a:lnTo>
                <a:lnTo>
                  <a:pt x="109748" y="28497"/>
                </a:lnTo>
                <a:cubicBezTo>
                  <a:pt x="109926" y="27357"/>
                  <a:pt x="110781" y="24543"/>
                  <a:pt x="114307" y="24863"/>
                </a:cubicBezTo>
                <a:lnTo>
                  <a:pt x="120434" y="24863"/>
                </a:lnTo>
                <a:cubicBezTo>
                  <a:pt x="121218" y="24792"/>
                  <a:pt x="124388" y="24685"/>
                  <a:pt x="124958" y="28568"/>
                </a:cubicBezTo>
                <a:lnTo>
                  <a:pt x="136819" y="79328"/>
                </a:lnTo>
                <a:lnTo>
                  <a:pt x="149964" y="28532"/>
                </a:lnTo>
                <a:cubicBezTo>
                  <a:pt x="150142" y="27749"/>
                  <a:pt x="150925" y="24471"/>
                  <a:pt x="154487" y="24828"/>
                </a:cubicBezTo>
                <a:lnTo>
                  <a:pt x="161505" y="24828"/>
                </a:lnTo>
                <a:cubicBezTo>
                  <a:pt x="161825" y="24792"/>
                  <a:pt x="163713" y="24543"/>
                  <a:pt x="163393" y="27891"/>
                </a:cubicBezTo>
                <a:cubicBezTo>
                  <a:pt x="163250" y="28532"/>
                  <a:pt x="164604" y="24080"/>
                  <a:pt x="144585" y="88411"/>
                </a:cubicBezTo>
                <a:cubicBezTo>
                  <a:pt x="144193" y="90370"/>
                  <a:pt x="142875" y="92365"/>
                  <a:pt x="140061" y="92115"/>
                </a:cubicBezTo>
                <a:lnTo>
                  <a:pt x="133400" y="92115"/>
                </a:lnTo>
                <a:cubicBezTo>
                  <a:pt x="129517" y="92543"/>
                  <a:pt x="128947" y="88660"/>
                  <a:pt x="128876" y="88304"/>
                </a:cubicBezTo>
                <a:lnTo>
                  <a:pt x="117050" y="39468"/>
                </a:lnTo>
                <a:lnTo>
                  <a:pt x="105366" y="88268"/>
                </a:lnTo>
                <a:cubicBezTo>
                  <a:pt x="105295" y="88660"/>
                  <a:pt x="104761" y="92507"/>
                  <a:pt x="100842" y="92080"/>
                </a:cubicBezTo>
                <a:lnTo>
                  <a:pt x="94324" y="92080"/>
                </a:lnTo>
                <a:lnTo>
                  <a:pt x="94324" y="92080"/>
                </a:lnTo>
                <a:close/>
                <a:moveTo>
                  <a:pt x="191782" y="94075"/>
                </a:moveTo>
                <a:cubicBezTo>
                  <a:pt x="189681" y="94075"/>
                  <a:pt x="179707" y="93968"/>
                  <a:pt x="171336" y="89693"/>
                </a:cubicBezTo>
                <a:cubicBezTo>
                  <a:pt x="170517" y="89337"/>
                  <a:pt x="169804" y="88767"/>
                  <a:pt x="169306" y="87983"/>
                </a:cubicBezTo>
                <a:cubicBezTo>
                  <a:pt x="168807" y="87200"/>
                  <a:pt x="168558" y="86345"/>
                  <a:pt x="168558" y="85454"/>
                </a:cubicBezTo>
                <a:lnTo>
                  <a:pt x="168558" y="81643"/>
                </a:lnTo>
                <a:cubicBezTo>
                  <a:pt x="168558" y="78615"/>
                  <a:pt x="170766" y="79185"/>
                  <a:pt x="171692" y="79541"/>
                </a:cubicBezTo>
                <a:cubicBezTo>
                  <a:pt x="175254" y="81002"/>
                  <a:pt x="177570" y="82070"/>
                  <a:pt x="181951" y="82961"/>
                </a:cubicBezTo>
                <a:cubicBezTo>
                  <a:pt x="195024" y="85632"/>
                  <a:pt x="200759" y="82142"/>
                  <a:pt x="202148" y="81358"/>
                </a:cubicBezTo>
                <a:cubicBezTo>
                  <a:pt x="206850" y="78579"/>
                  <a:pt x="207206" y="72203"/>
                  <a:pt x="204036" y="68926"/>
                </a:cubicBezTo>
                <a:cubicBezTo>
                  <a:pt x="200296" y="65792"/>
                  <a:pt x="198515" y="65685"/>
                  <a:pt x="185121" y="61446"/>
                </a:cubicBezTo>
                <a:cubicBezTo>
                  <a:pt x="183483" y="60983"/>
                  <a:pt x="169555" y="56601"/>
                  <a:pt x="169519" y="42781"/>
                </a:cubicBezTo>
                <a:cubicBezTo>
                  <a:pt x="169306" y="32736"/>
                  <a:pt x="178425" y="22762"/>
                  <a:pt x="194276" y="22833"/>
                </a:cubicBezTo>
                <a:cubicBezTo>
                  <a:pt x="198800" y="22833"/>
                  <a:pt x="210804" y="24293"/>
                  <a:pt x="214081" y="28390"/>
                </a:cubicBezTo>
                <a:cubicBezTo>
                  <a:pt x="214580" y="29138"/>
                  <a:pt x="214793" y="30028"/>
                  <a:pt x="214758" y="30883"/>
                </a:cubicBezTo>
                <a:lnTo>
                  <a:pt x="214758" y="34481"/>
                </a:lnTo>
                <a:cubicBezTo>
                  <a:pt x="214758" y="36048"/>
                  <a:pt x="214188" y="36868"/>
                  <a:pt x="213012" y="36868"/>
                </a:cubicBezTo>
                <a:cubicBezTo>
                  <a:pt x="210270" y="36547"/>
                  <a:pt x="205389" y="32878"/>
                  <a:pt x="195487" y="33020"/>
                </a:cubicBezTo>
                <a:cubicBezTo>
                  <a:pt x="193029" y="32878"/>
                  <a:pt x="181274" y="33341"/>
                  <a:pt x="181809" y="41926"/>
                </a:cubicBezTo>
                <a:cubicBezTo>
                  <a:pt x="181666" y="48694"/>
                  <a:pt x="191284" y="51223"/>
                  <a:pt x="192388" y="51508"/>
                </a:cubicBezTo>
                <a:cubicBezTo>
                  <a:pt x="205389" y="55426"/>
                  <a:pt x="209700" y="56067"/>
                  <a:pt x="214865" y="62051"/>
                </a:cubicBezTo>
                <a:cubicBezTo>
                  <a:pt x="220956" y="69959"/>
                  <a:pt x="217679" y="79256"/>
                  <a:pt x="216396" y="81785"/>
                </a:cubicBezTo>
                <a:cubicBezTo>
                  <a:pt x="209593" y="95143"/>
                  <a:pt x="192032" y="94039"/>
                  <a:pt x="191711" y="94039"/>
                </a:cubicBezTo>
                <a:close/>
                <a:moveTo>
                  <a:pt x="206102" y="131441"/>
                </a:moveTo>
                <a:cubicBezTo>
                  <a:pt x="181167" y="149857"/>
                  <a:pt x="144941" y="159652"/>
                  <a:pt x="114022" y="159652"/>
                </a:cubicBezTo>
                <a:cubicBezTo>
                  <a:pt x="72310" y="159937"/>
                  <a:pt x="31987" y="144585"/>
                  <a:pt x="997" y="116658"/>
                </a:cubicBezTo>
                <a:cubicBezTo>
                  <a:pt x="-1318" y="114556"/>
                  <a:pt x="712" y="111671"/>
                  <a:pt x="3562" y="113274"/>
                </a:cubicBezTo>
                <a:cubicBezTo>
                  <a:pt x="37936" y="132937"/>
                  <a:pt x="76834" y="143267"/>
                  <a:pt x="116444" y="143231"/>
                </a:cubicBezTo>
                <a:cubicBezTo>
                  <a:pt x="146010" y="143089"/>
                  <a:pt x="175254" y="137069"/>
                  <a:pt x="202504" y="125599"/>
                </a:cubicBezTo>
                <a:cubicBezTo>
                  <a:pt x="206707" y="123818"/>
                  <a:pt x="210270" y="128377"/>
                  <a:pt x="206102" y="131441"/>
                </a:cubicBezTo>
                <a:close/>
                <a:moveTo>
                  <a:pt x="216503" y="119579"/>
                </a:moveTo>
                <a:cubicBezTo>
                  <a:pt x="213297" y="115483"/>
                  <a:pt x="195380" y="117655"/>
                  <a:pt x="187365" y="118617"/>
                </a:cubicBezTo>
                <a:cubicBezTo>
                  <a:pt x="184943" y="118902"/>
                  <a:pt x="184551" y="116801"/>
                  <a:pt x="186724" y="115233"/>
                </a:cubicBezTo>
                <a:cubicBezTo>
                  <a:pt x="201008" y="105188"/>
                  <a:pt x="224447" y="108073"/>
                  <a:pt x="227118" y="111457"/>
                </a:cubicBezTo>
                <a:cubicBezTo>
                  <a:pt x="229790" y="114841"/>
                  <a:pt x="226370" y="138316"/>
                  <a:pt x="213012" y="149536"/>
                </a:cubicBezTo>
                <a:cubicBezTo>
                  <a:pt x="210946" y="151282"/>
                  <a:pt x="208987" y="150355"/>
                  <a:pt x="209913" y="148076"/>
                </a:cubicBezTo>
                <a:cubicBezTo>
                  <a:pt x="212905" y="140488"/>
                  <a:pt x="219673" y="123675"/>
                  <a:pt x="216468" y="11957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843182" y="1367838"/>
            <a:ext cx="257153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 (CDK TypeScript)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68998" y="1823785"/>
            <a:ext cx="5270737" cy="474184"/>
          </a:xfrm>
          <a:custGeom>
            <a:avLst/>
            <a:gdLst/>
            <a:ahLst/>
            <a:cxnLst/>
            <a:rect l="l" t="t" r="r" b="b"/>
            <a:pathLst>
              <a:path w="5270737" h="474184">
                <a:moveTo>
                  <a:pt x="72953" y="0"/>
                </a:moveTo>
                <a:lnTo>
                  <a:pt x="5197784" y="0"/>
                </a:lnTo>
                <a:cubicBezTo>
                  <a:pt x="5238075" y="0"/>
                  <a:pt x="5270737" y="32662"/>
                  <a:pt x="5270737" y="72953"/>
                </a:cubicBezTo>
                <a:lnTo>
                  <a:pt x="5270737" y="401231"/>
                </a:lnTo>
                <a:cubicBezTo>
                  <a:pt x="5270737" y="441522"/>
                  <a:pt x="5238075" y="474184"/>
                  <a:pt x="5197784" y="474184"/>
                </a:cubicBezTo>
                <a:lnTo>
                  <a:pt x="72953" y="474184"/>
                </a:lnTo>
                <a:cubicBezTo>
                  <a:pt x="32689" y="474184"/>
                  <a:pt x="0" y="441495"/>
                  <a:pt x="0" y="401231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5" name="Shape 43"/>
          <p:cNvSpPr/>
          <p:nvPr/>
        </p:nvSpPr>
        <p:spPr>
          <a:xfrm>
            <a:off x="6460187" y="1924093"/>
            <a:ext cx="127665" cy="127665"/>
          </a:xfrm>
          <a:custGeom>
            <a:avLst/>
            <a:gdLst/>
            <a:ahLst/>
            <a:cxnLst/>
            <a:rect l="l" t="t" r="r" b="b"/>
            <a:pathLst>
              <a:path w="127665" h="127665">
                <a:moveTo>
                  <a:pt x="55928" y="-623"/>
                </a:moveTo>
                <a:cubicBezTo>
                  <a:pt x="60865" y="-3466"/>
                  <a:pt x="66949" y="-3466"/>
                  <a:pt x="71886" y="-623"/>
                </a:cubicBezTo>
                <a:lnTo>
                  <a:pt x="115746" y="24685"/>
                </a:lnTo>
                <a:cubicBezTo>
                  <a:pt x="120683" y="27528"/>
                  <a:pt x="123725" y="32814"/>
                  <a:pt x="123725" y="38499"/>
                </a:cubicBezTo>
                <a:lnTo>
                  <a:pt x="123725" y="89116"/>
                </a:lnTo>
                <a:cubicBezTo>
                  <a:pt x="123725" y="94826"/>
                  <a:pt x="120683" y="100087"/>
                  <a:pt x="115746" y="102930"/>
                </a:cubicBezTo>
                <a:lnTo>
                  <a:pt x="71886" y="128288"/>
                </a:lnTo>
                <a:cubicBezTo>
                  <a:pt x="66949" y="131131"/>
                  <a:pt x="60865" y="131131"/>
                  <a:pt x="55928" y="128288"/>
                </a:cubicBezTo>
                <a:lnTo>
                  <a:pt x="12093" y="102980"/>
                </a:lnTo>
                <a:cubicBezTo>
                  <a:pt x="7156" y="100137"/>
                  <a:pt x="4114" y="94851"/>
                  <a:pt x="4114" y="89166"/>
                </a:cubicBezTo>
                <a:lnTo>
                  <a:pt x="4114" y="38549"/>
                </a:lnTo>
                <a:cubicBezTo>
                  <a:pt x="4114" y="32839"/>
                  <a:pt x="7156" y="27578"/>
                  <a:pt x="12093" y="24735"/>
                </a:cubicBezTo>
                <a:lnTo>
                  <a:pt x="55928" y="-623"/>
                </a:lnTo>
                <a:close/>
                <a:moveTo>
                  <a:pt x="107742" y="89141"/>
                </a:moveTo>
                <a:lnTo>
                  <a:pt x="107742" y="47725"/>
                </a:lnTo>
                <a:lnTo>
                  <a:pt x="71886" y="68420"/>
                </a:lnTo>
                <a:lnTo>
                  <a:pt x="71886" y="109837"/>
                </a:lnTo>
                <a:lnTo>
                  <a:pt x="107742" y="89141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6" name="Text 44"/>
          <p:cNvSpPr/>
          <p:nvPr/>
        </p:nvSpPr>
        <p:spPr>
          <a:xfrm>
            <a:off x="6674482" y="1896736"/>
            <a:ext cx="1541098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inference-service-stack.ts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41949" y="2079114"/>
            <a:ext cx="5179548" cy="145903"/>
          </a:xfrm>
          <a:prstGeom prst="rect">
            <a:avLst/>
          </a:prstGeom>
          <a:noFill/>
          <a:ln/>
        </p:spPr>
        <p:txBody>
          <a:bodyPr wrap="square" lIns="218854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ECS + ALB + Auto-scaling + CodeDeploy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68998" y="2370809"/>
            <a:ext cx="5270737" cy="474184"/>
          </a:xfrm>
          <a:custGeom>
            <a:avLst/>
            <a:gdLst/>
            <a:ahLst/>
            <a:cxnLst/>
            <a:rect l="l" t="t" r="r" b="b"/>
            <a:pathLst>
              <a:path w="5270737" h="474184">
                <a:moveTo>
                  <a:pt x="72953" y="0"/>
                </a:moveTo>
                <a:lnTo>
                  <a:pt x="5197784" y="0"/>
                </a:lnTo>
                <a:cubicBezTo>
                  <a:pt x="5238075" y="0"/>
                  <a:pt x="5270737" y="32662"/>
                  <a:pt x="5270737" y="72953"/>
                </a:cubicBezTo>
                <a:lnTo>
                  <a:pt x="5270737" y="401231"/>
                </a:lnTo>
                <a:cubicBezTo>
                  <a:pt x="5270737" y="441522"/>
                  <a:pt x="5238075" y="474184"/>
                  <a:pt x="5197784" y="474184"/>
                </a:cubicBezTo>
                <a:lnTo>
                  <a:pt x="72953" y="474184"/>
                </a:lnTo>
                <a:cubicBezTo>
                  <a:pt x="32689" y="474184"/>
                  <a:pt x="0" y="441495"/>
                  <a:pt x="0" y="401231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9" name="Shape 47"/>
          <p:cNvSpPr/>
          <p:nvPr/>
        </p:nvSpPr>
        <p:spPr>
          <a:xfrm>
            <a:off x="6468166" y="2471117"/>
            <a:ext cx="111707" cy="127665"/>
          </a:xfrm>
          <a:custGeom>
            <a:avLst/>
            <a:gdLst/>
            <a:ahLst/>
            <a:cxnLst/>
            <a:rect l="l" t="t" r="r" b="b"/>
            <a:pathLst>
              <a:path w="111707" h="127665">
                <a:moveTo>
                  <a:pt x="111707" y="51315"/>
                </a:moveTo>
                <a:cubicBezTo>
                  <a:pt x="108016" y="53759"/>
                  <a:pt x="103778" y="55729"/>
                  <a:pt x="99364" y="57300"/>
                </a:cubicBezTo>
                <a:cubicBezTo>
                  <a:pt x="87645" y="61489"/>
                  <a:pt x="72260" y="63832"/>
                  <a:pt x="55853" y="63832"/>
                </a:cubicBezTo>
                <a:cubicBezTo>
                  <a:pt x="39446" y="63832"/>
                  <a:pt x="24037" y="61464"/>
                  <a:pt x="12343" y="57300"/>
                </a:cubicBezTo>
                <a:cubicBezTo>
                  <a:pt x="7954" y="55729"/>
                  <a:pt x="3690" y="53759"/>
                  <a:pt x="0" y="51315"/>
                </a:cubicBezTo>
                <a:lnTo>
                  <a:pt x="0" y="71812"/>
                </a:lnTo>
                <a:cubicBezTo>
                  <a:pt x="0" y="82833"/>
                  <a:pt x="25009" y="91759"/>
                  <a:pt x="55853" y="91759"/>
                </a:cubicBezTo>
                <a:cubicBezTo>
                  <a:pt x="86697" y="91759"/>
                  <a:pt x="111707" y="82833"/>
                  <a:pt x="111707" y="71812"/>
                </a:cubicBezTo>
                <a:lnTo>
                  <a:pt x="111707" y="51315"/>
                </a:lnTo>
                <a:close/>
                <a:moveTo>
                  <a:pt x="111707" y="31916"/>
                </a:moveTo>
                <a:lnTo>
                  <a:pt x="111707" y="19948"/>
                </a:lnTo>
                <a:cubicBezTo>
                  <a:pt x="111707" y="8927"/>
                  <a:pt x="86697" y="0"/>
                  <a:pt x="55853" y="0"/>
                </a:cubicBezTo>
                <a:cubicBezTo>
                  <a:pt x="25009" y="0"/>
                  <a:pt x="0" y="8927"/>
                  <a:pt x="0" y="19948"/>
                </a:cubicBezTo>
                <a:lnTo>
                  <a:pt x="0" y="31916"/>
                </a:lnTo>
                <a:cubicBezTo>
                  <a:pt x="0" y="42937"/>
                  <a:pt x="25009" y="51864"/>
                  <a:pt x="55853" y="51864"/>
                </a:cubicBezTo>
                <a:cubicBezTo>
                  <a:pt x="86697" y="51864"/>
                  <a:pt x="111707" y="42937"/>
                  <a:pt x="111707" y="31916"/>
                </a:cubicBezTo>
                <a:close/>
                <a:moveTo>
                  <a:pt x="99364" y="97195"/>
                </a:moveTo>
                <a:cubicBezTo>
                  <a:pt x="87670" y="101359"/>
                  <a:pt x="72285" y="103728"/>
                  <a:pt x="55853" y="103728"/>
                </a:cubicBezTo>
                <a:cubicBezTo>
                  <a:pt x="39422" y="103728"/>
                  <a:pt x="24037" y="101359"/>
                  <a:pt x="12343" y="97195"/>
                </a:cubicBezTo>
                <a:cubicBezTo>
                  <a:pt x="7954" y="95624"/>
                  <a:pt x="3690" y="93654"/>
                  <a:pt x="0" y="91211"/>
                </a:cubicBezTo>
                <a:lnTo>
                  <a:pt x="0" y="107717"/>
                </a:lnTo>
                <a:cubicBezTo>
                  <a:pt x="0" y="118738"/>
                  <a:pt x="25009" y="127665"/>
                  <a:pt x="55853" y="127665"/>
                </a:cubicBezTo>
                <a:cubicBezTo>
                  <a:pt x="86697" y="127665"/>
                  <a:pt x="111707" y="118738"/>
                  <a:pt x="111707" y="107717"/>
                </a:cubicBezTo>
                <a:lnTo>
                  <a:pt x="111707" y="91211"/>
                </a:lnTo>
                <a:cubicBezTo>
                  <a:pt x="108016" y="93654"/>
                  <a:pt x="103778" y="95624"/>
                  <a:pt x="99364" y="97195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0" name="Text 48"/>
          <p:cNvSpPr/>
          <p:nvPr/>
        </p:nvSpPr>
        <p:spPr>
          <a:xfrm>
            <a:off x="6674482" y="2443760"/>
            <a:ext cx="124929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model-store-stack.ts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41949" y="2626138"/>
            <a:ext cx="5179548" cy="145903"/>
          </a:xfrm>
          <a:prstGeom prst="rect">
            <a:avLst/>
          </a:prstGeom>
          <a:noFill/>
          <a:ln/>
        </p:spPr>
        <p:txBody>
          <a:bodyPr wrap="square" lIns="218854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S3 bucket + versioning + lifecycle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68998" y="2917828"/>
            <a:ext cx="5270737" cy="474184"/>
          </a:xfrm>
          <a:custGeom>
            <a:avLst/>
            <a:gdLst/>
            <a:ahLst/>
            <a:cxnLst/>
            <a:rect l="l" t="t" r="r" b="b"/>
            <a:pathLst>
              <a:path w="5270737" h="474184">
                <a:moveTo>
                  <a:pt x="72953" y="0"/>
                </a:moveTo>
                <a:lnTo>
                  <a:pt x="5197784" y="0"/>
                </a:lnTo>
                <a:cubicBezTo>
                  <a:pt x="5238075" y="0"/>
                  <a:pt x="5270737" y="32662"/>
                  <a:pt x="5270737" y="72953"/>
                </a:cubicBezTo>
                <a:lnTo>
                  <a:pt x="5270737" y="401231"/>
                </a:lnTo>
                <a:cubicBezTo>
                  <a:pt x="5270737" y="441522"/>
                  <a:pt x="5238075" y="474184"/>
                  <a:pt x="5197784" y="474184"/>
                </a:cubicBezTo>
                <a:lnTo>
                  <a:pt x="72953" y="474184"/>
                </a:lnTo>
                <a:cubicBezTo>
                  <a:pt x="32689" y="474184"/>
                  <a:pt x="0" y="441495"/>
                  <a:pt x="0" y="401231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53" name="Shape 51"/>
          <p:cNvSpPr/>
          <p:nvPr/>
        </p:nvSpPr>
        <p:spPr>
          <a:xfrm>
            <a:off x="6460187" y="3018136"/>
            <a:ext cx="127665" cy="127665"/>
          </a:xfrm>
          <a:custGeom>
            <a:avLst/>
            <a:gdLst/>
            <a:ahLst/>
            <a:cxnLst/>
            <a:rect l="l" t="t" r="r" b="b"/>
            <a:pathLst>
              <a:path w="127665" h="127665">
                <a:moveTo>
                  <a:pt x="15958" y="15958"/>
                </a:moveTo>
                <a:cubicBezTo>
                  <a:pt x="15958" y="11545"/>
                  <a:pt x="12392" y="7979"/>
                  <a:pt x="7979" y="7979"/>
                </a:cubicBezTo>
                <a:cubicBezTo>
                  <a:pt x="3566" y="7979"/>
                  <a:pt x="0" y="11545"/>
                  <a:pt x="0" y="15958"/>
                </a:cubicBezTo>
                <a:lnTo>
                  <a:pt x="0" y="99738"/>
                </a:lnTo>
                <a:cubicBezTo>
                  <a:pt x="0" y="110759"/>
                  <a:pt x="8927" y="119686"/>
                  <a:pt x="19948" y="119686"/>
                </a:cubicBezTo>
                <a:lnTo>
                  <a:pt x="119686" y="119686"/>
                </a:lnTo>
                <a:cubicBezTo>
                  <a:pt x="124099" y="119686"/>
                  <a:pt x="127665" y="116120"/>
                  <a:pt x="127665" y="111707"/>
                </a:cubicBezTo>
                <a:cubicBezTo>
                  <a:pt x="127665" y="107293"/>
                  <a:pt x="124099" y="103728"/>
                  <a:pt x="119686" y="103728"/>
                </a:cubicBezTo>
                <a:lnTo>
                  <a:pt x="19948" y="103728"/>
                </a:lnTo>
                <a:cubicBezTo>
                  <a:pt x="17753" y="103728"/>
                  <a:pt x="15958" y="101932"/>
                  <a:pt x="15958" y="99738"/>
                </a:cubicBezTo>
                <a:lnTo>
                  <a:pt x="15958" y="15958"/>
                </a:lnTo>
                <a:close/>
                <a:moveTo>
                  <a:pt x="117342" y="37551"/>
                </a:moveTo>
                <a:cubicBezTo>
                  <a:pt x="120459" y="34435"/>
                  <a:pt x="120459" y="29373"/>
                  <a:pt x="117342" y="26256"/>
                </a:cubicBezTo>
                <a:cubicBezTo>
                  <a:pt x="114225" y="23139"/>
                  <a:pt x="109163" y="23139"/>
                  <a:pt x="106047" y="26256"/>
                </a:cubicBezTo>
                <a:lnTo>
                  <a:pt x="79791" y="52537"/>
                </a:lnTo>
                <a:lnTo>
                  <a:pt x="65478" y="38250"/>
                </a:lnTo>
                <a:cubicBezTo>
                  <a:pt x="62361" y="35133"/>
                  <a:pt x="57300" y="35133"/>
                  <a:pt x="54183" y="38250"/>
                </a:cubicBezTo>
                <a:lnTo>
                  <a:pt x="30246" y="62187"/>
                </a:lnTo>
                <a:cubicBezTo>
                  <a:pt x="27129" y="65304"/>
                  <a:pt x="27129" y="70365"/>
                  <a:pt x="30246" y="73482"/>
                </a:cubicBezTo>
                <a:cubicBezTo>
                  <a:pt x="33362" y="76599"/>
                  <a:pt x="38424" y="76599"/>
                  <a:pt x="41541" y="73482"/>
                </a:cubicBezTo>
                <a:lnTo>
                  <a:pt x="59843" y="55180"/>
                </a:lnTo>
                <a:lnTo>
                  <a:pt x="74155" y="69493"/>
                </a:lnTo>
                <a:cubicBezTo>
                  <a:pt x="77272" y="72609"/>
                  <a:pt x="82334" y="72609"/>
                  <a:pt x="85451" y="69493"/>
                </a:cubicBezTo>
                <a:lnTo>
                  <a:pt x="117367" y="37576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4" name="Text 52"/>
          <p:cNvSpPr/>
          <p:nvPr/>
        </p:nvSpPr>
        <p:spPr>
          <a:xfrm>
            <a:off x="6674482" y="2990780"/>
            <a:ext cx="1276649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observability-stack.ts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41949" y="3173158"/>
            <a:ext cx="5179548" cy="145903"/>
          </a:xfrm>
          <a:prstGeom prst="rect">
            <a:avLst/>
          </a:prstGeom>
          <a:noFill/>
          <a:ln/>
        </p:spPr>
        <p:txBody>
          <a:bodyPr wrap="square" lIns="218854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 dashboards + alarms + Grafana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86619" y="3720178"/>
            <a:ext cx="5635494" cy="2443871"/>
          </a:xfrm>
          <a:custGeom>
            <a:avLst/>
            <a:gdLst/>
            <a:ahLst/>
            <a:cxnLst/>
            <a:rect l="l" t="t" r="r" b="b"/>
            <a:pathLst>
              <a:path w="5635494" h="2443871">
                <a:moveTo>
                  <a:pt x="109437" y="0"/>
                </a:moveTo>
                <a:lnTo>
                  <a:pt x="5526058" y="0"/>
                </a:lnTo>
                <a:cubicBezTo>
                  <a:pt x="5586498" y="0"/>
                  <a:pt x="5635494" y="48996"/>
                  <a:pt x="5635494" y="109437"/>
                </a:cubicBezTo>
                <a:lnTo>
                  <a:pt x="5635494" y="2334435"/>
                </a:lnTo>
                <a:cubicBezTo>
                  <a:pt x="5635494" y="2394875"/>
                  <a:pt x="5586498" y="2443871"/>
                  <a:pt x="5526058" y="2443871"/>
                </a:cubicBezTo>
                <a:lnTo>
                  <a:pt x="109437" y="2443871"/>
                </a:lnTo>
                <a:cubicBezTo>
                  <a:pt x="49037" y="2443871"/>
                  <a:pt x="0" y="2394834"/>
                  <a:pt x="0" y="2334435"/>
                </a:cubicBezTo>
                <a:lnTo>
                  <a:pt x="0" y="109437"/>
                </a:lnTo>
                <a:cubicBezTo>
                  <a:pt x="0" y="48996"/>
                  <a:pt x="48996" y="0"/>
                  <a:pt x="10943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6784" dist="91189" dir="5400000">
              <a:srgbClr val="000000">
                <a:alpha val="10196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368998" y="3902556"/>
            <a:ext cx="364757" cy="364757"/>
          </a:xfrm>
          <a:custGeom>
            <a:avLst/>
            <a:gdLst/>
            <a:ahLst/>
            <a:cxnLst/>
            <a:rect l="l" t="t" r="r" b="b"/>
            <a:pathLst>
              <a:path w="364757" h="364757">
                <a:moveTo>
                  <a:pt x="72951" y="0"/>
                </a:moveTo>
                <a:lnTo>
                  <a:pt x="291806" y="0"/>
                </a:lnTo>
                <a:cubicBezTo>
                  <a:pt x="332095" y="0"/>
                  <a:pt x="364757" y="32661"/>
                  <a:pt x="364757" y="72951"/>
                </a:cubicBezTo>
                <a:lnTo>
                  <a:pt x="364757" y="291806"/>
                </a:lnTo>
                <a:cubicBezTo>
                  <a:pt x="364757" y="332095"/>
                  <a:pt x="332095" y="364757"/>
                  <a:pt x="29180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8" name="Shape 56"/>
          <p:cNvSpPr/>
          <p:nvPr/>
        </p:nvSpPr>
        <p:spPr>
          <a:xfrm>
            <a:off x="6482984" y="3993745"/>
            <a:ext cx="136784" cy="182378"/>
          </a:xfrm>
          <a:custGeom>
            <a:avLst/>
            <a:gdLst/>
            <a:ahLst/>
            <a:cxnLst/>
            <a:rect l="l" t="t" r="r" b="b"/>
            <a:pathLst>
              <a:path w="136784" h="182378">
                <a:moveTo>
                  <a:pt x="0" y="22797"/>
                </a:moveTo>
                <a:cubicBezTo>
                  <a:pt x="0" y="10223"/>
                  <a:pt x="10223" y="0"/>
                  <a:pt x="22797" y="0"/>
                </a:cubicBezTo>
                <a:lnTo>
                  <a:pt x="76050" y="0"/>
                </a:lnTo>
                <a:cubicBezTo>
                  <a:pt x="82106" y="0"/>
                  <a:pt x="87912" y="2387"/>
                  <a:pt x="92187" y="6661"/>
                </a:cubicBezTo>
                <a:lnTo>
                  <a:pt x="130123" y="44633"/>
                </a:lnTo>
                <a:cubicBezTo>
                  <a:pt x="134397" y="48907"/>
                  <a:pt x="136784" y="54714"/>
                  <a:pt x="136784" y="60769"/>
                </a:cubicBezTo>
                <a:lnTo>
                  <a:pt x="136784" y="159581"/>
                </a:lnTo>
                <a:cubicBezTo>
                  <a:pt x="136784" y="172155"/>
                  <a:pt x="126561" y="182378"/>
                  <a:pt x="113987" y="182378"/>
                </a:cubicBezTo>
                <a:lnTo>
                  <a:pt x="22797" y="182378"/>
                </a:lnTo>
                <a:cubicBezTo>
                  <a:pt x="10223" y="182378"/>
                  <a:pt x="0" y="172155"/>
                  <a:pt x="0" y="159581"/>
                </a:cubicBezTo>
                <a:lnTo>
                  <a:pt x="0" y="22797"/>
                </a:lnTo>
                <a:close/>
                <a:moveTo>
                  <a:pt x="74091" y="20838"/>
                </a:moveTo>
                <a:lnTo>
                  <a:pt x="74091" y="54144"/>
                </a:lnTo>
                <a:cubicBezTo>
                  <a:pt x="74091" y="58881"/>
                  <a:pt x="77903" y="62693"/>
                  <a:pt x="82640" y="62693"/>
                </a:cubicBezTo>
                <a:lnTo>
                  <a:pt x="115946" y="62693"/>
                </a:lnTo>
                <a:lnTo>
                  <a:pt x="74091" y="20838"/>
                </a:lnTo>
                <a:close/>
                <a:moveTo>
                  <a:pt x="54927" y="105295"/>
                </a:moveTo>
                <a:cubicBezTo>
                  <a:pt x="57991" y="101697"/>
                  <a:pt x="57599" y="96319"/>
                  <a:pt x="54001" y="93255"/>
                </a:cubicBezTo>
                <a:cubicBezTo>
                  <a:pt x="50403" y="90192"/>
                  <a:pt x="45025" y="90584"/>
                  <a:pt x="41961" y="94181"/>
                </a:cubicBezTo>
                <a:lnTo>
                  <a:pt x="24863" y="114129"/>
                </a:lnTo>
                <a:cubicBezTo>
                  <a:pt x="22121" y="117335"/>
                  <a:pt x="22121" y="122037"/>
                  <a:pt x="24863" y="125243"/>
                </a:cubicBezTo>
                <a:lnTo>
                  <a:pt x="41961" y="145190"/>
                </a:lnTo>
                <a:cubicBezTo>
                  <a:pt x="45025" y="148788"/>
                  <a:pt x="50439" y="149180"/>
                  <a:pt x="54001" y="146116"/>
                </a:cubicBezTo>
                <a:cubicBezTo>
                  <a:pt x="57563" y="143053"/>
                  <a:pt x="57991" y="137639"/>
                  <a:pt x="54927" y="134077"/>
                </a:cubicBezTo>
                <a:lnTo>
                  <a:pt x="42602" y="119686"/>
                </a:lnTo>
                <a:lnTo>
                  <a:pt x="54927" y="105295"/>
                </a:lnTo>
                <a:close/>
                <a:moveTo>
                  <a:pt x="94823" y="94181"/>
                </a:moveTo>
                <a:cubicBezTo>
                  <a:pt x="91759" y="90584"/>
                  <a:pt x="86345" y="90192"/>
                  <a:pt x="82783" y="93255"/>
                </a:cubicBezTo>
                <a:cubicBezTo>
                  <a:pt x="79221" y="96319"/>
                  <a:pt x="78793" y="101733"/>
                  <a:pt x="81857" y="105295"/>
                </a:cubicBezTo>
                <a:lnTo>
                  <a:pt x="94181" y="119686"/>
                </a:lnTo>
                <a:lnTo>
                  <a:pt x="81857" y="134077"/>
                </a:lnTo>
                <a:cubicBezTo>
                  <a:pt x="78793" y="137674"/>
                  <a:pt x="79185" y="143053"/>
                  <a:pt x="82783" y="146116"/>
                </a:cubicBezTo>
                <a:cubicBezTo>
                  <a:pt x="86380" y="149180"/>
                  <a:pt x="91759" y="148788"/>
                  <a:pt x="94823" y="145190"/>
                </a:cubicBezTo>
                <a:lnTo>
                  <a:pt x="111921" y="125243"/>
                </a:lnTo>
                <a:cubicBezTo>
                  <a:pt x="114663" y="122037"/>
                  <a:pt x="114663" y="117335"/>
                  <a:pt x="111921" y="114129"/>
                </a:cubicBezTo>
                <a:lnTo>
                  <a:pt x="94823" y="941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843182" y="3957270"/>
            <a:ext cx="1541098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Configuration Files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68998" y="4413216"/>
            <a:ext cx="5270737" cy="474184"/>
          </a:xfrm>
          <a:custGeom>
            <a:avLst/>
            <a:gdLst/>
            <a:ahLst/>
            <a:cxnLst/>
            <a:rect l="l" t="t" r="r" b="b"/>
            <a:pathLst>
              <a:path w="5270737" h="474184">
                <a:moveTo>
                  <a:pt x="72953" y="0"/>
                </a:moveTo>
                <a:lnTo>
                  <a:pt x="5197784" y="0"/>
                </a:lnTo>
                <a:cubicBezTo>
                  <a:pt x="5238075" y="0"/>
                  <a:pt x="5270737" y="32662"/>
                  <a:pt x="5270737" y="72953"/>
                </a:cubicBezTo>
                <a:lnTo>
                  <a:pt x="5270737" y="401231"/>
                </a:lnTo>
                <a:cubicBezTo>
                  <a:pt x="5270737" y="441522"/>
                  <a:pt x="5238075" y="474184"/>
                  <a:pt x="5197784" y="474184"/>
                </a:cubicBezTo>
                <a:lnTo>
                  <a:pt x="72953" y="474184"/>
                </a:lnTo>
                <a:cubicBezTo>
                  <a:pt x="32689" y="474184"/>
                  <a:pt x="0" y="441495"/>
                  <a:pt x="0" y="401231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61" name="Shape 59"/>
          <p:cNvSpPr/>
          <p:nvPr/>
        </p:nvSpPr>
        <p:spPr>
          <a:xfrm>
            <a:off x="6460187" y="4513524"/>
            <a:ext cx="127665" cy="127665"/>
          </a:xfrm>
          <a:custGeom>
            <a:avLst/>
            <a:gdLst/>
            <a:ahLst/>
            <a:cxnLst/>
            <a:rect l="l" t="t" r="r" b="b"/>
            <a:pathLst>
              <a:path w="127665" h="127665">
                <a:moveTo>
                  <a:pt x="48647" y="2369"/>
                </a:moveTo>
                <a:cubicBezTo>
                  <a:pt x="49395" y="-1322"/>
                  <a:pt x="52662" y="-3990"/>
                  <a:pt x="56452" y="-3990"/>
                </a:cubicBezTo>
                <a:lnTo>
                  <a:pt x="71363" y="-3990"/>
                </a:lnTo>
                <a:cubicBezTo>
                  <a:pt x="75153" y="-3990"/>
                  <a:pt x="78419" y="-1322"/>
                  <a:pt x="79167" y="2369"/>
                </a:cubicBezTo>
                <a:lnTo>
                  <a:pt x="82783" y="19823"/>
                </a:lnTo>
                <a:cubicBezTo>
                  <a:pt x="86298" y="21319"/>
                  <a:pt x="89590" y="23239"/>
                  <a:pt x="92582" y="25508"/>
                </a:cubicBezTo>
                <a:lnTo>
                  <a:pt x="109488" y="19898"/>
                </a:lnTo>
                <a:cubicBezTo>
                  <a:pt x="113078" y="18701"/>
                  <a:pt x="117018" y="20197"/>
                  <a:pt x="118913" y="23488"/>
                </a:cubicBezTo>
                <a:lnTo>
                  <a:pt x="126368" y="36404"/>
                </a:lnTo>
                <a:cubicBezTo>
                  <a:pt x="128263" y="39696"/>
                  <a:pt x="127590" y="43835"/>
                  <a:pt x="124748" y="46353"/>
                </a:cubicBezTo>
                <a:lnTo>
                  <a:pt x="111457" y="58172"/>
                </a:lnTo>
                <a:cubicBezTo>
                  <a:pt x="111682" y="60017"/>
                  <a:pt x="111782" y="61912"/>
                  <a:pt x="111782" y="63832"/>
                </a:cubicBezTo>
                <a:cubicBezTo>
                  <a:pt x="111782" y="65752"/>
                  <a:pt x="111657" y="67647"/>
                  <a:pt x="111457" y="69493"/>
                </a:cubicBezTo>
                <a:lnTo>
                  <a:pt x="124773" y="81337"/>
                </a:lnTo>
                <a:cubicBezTo>
                  <a:pt x="127615" y="83855"/>
                  <a:pt x="128263" y="88019"/>
                  <a:pt x="126393" y="91285"/>
                </a:cubicBezTo>
                <a:lnTo>
                  <a:pt x="118938" y="104202"/>
                </a:lnTo>
                <a:cubicBezTo>
                  <a:pt x="117043" y="107468"/>
                  <a:pt x="113103" y="108989"/>
                  <a:pt x="109513" y="107792"/>
                </a:cubicBezTo>
                <a:lnTo>
                  <a:pt x="92607" y="102182"/>
                </a:lnTo>
                <a:cubicBezTo>
                  <a:pt x="89590" y="104451"/>
                  <a:pt x="86298" y="106346"/>
                  <a:pt x="82808" y="107867"/>
                </a:cubicBezTo>
                <a:lnTo>
                  <a:pt x="79217" y="125296"/>
                </a:lnTo>
                <a:cubicBezTo>
                  <a:pt x="78444" y="129011"/>
                  <a:pt x="75178" y="131654"/>
                  <a:pt x="71413" y="131654"/>
                </a:cubicBezTo>
                <a:lnTo>
                  <a:pt x="56502" y="131654"/>
                </a:lnTo>
                <a:cubicBezTo>
                  <a:pt x="52712" y="131654"/>
                  <a:pt x="49445" y="128986"/>
                  <a:pt x="48697" y="125296"/>
                </a:cubicBezTo>
                <a:lnTo>
                  <a:pt x="45107" y="107867"/>
                </a:lnTo>
                <a:cubicBezTo>
                  <a:pt x="41591" y="106371"/>
                  <a:pt x="38324" y="104451"/>
                  <a:pt x="35307" y="102182"/>
                </a:cubicBezTo>
                <a:lnTo>
                  <a:pt x="18327" y="107792"/>
                </a:lnTo>
                <a:cubicBezTo>
                  <a:pt x="14736" y="108989"/>
                  <a:pt x="10797" y="107493"/>
                  <a:pt x="8902" y="104202"/>
                </a:cubicBezTo>
                <a:lnTo>
                  <a:pt x="1446" y="91285"/>
                </a:lnTo>
                <a:cubicBezTo>
                  <a:pt x="-449" y="87994"/>
                  <a:pt x="224" y="83855"/>
                  <a:pt x="3067" y="81337"/>
                </a:cubicBezTo>
                <a:lnTo>
                  <a:pt x="16382" y="69493"/>
                </a:lnTo>
                <a:cubicBezTo>
                  <a:pt x="16158" y="67647"/>
                  <a:pt x="16058" y="65752"/>
                  <a:pt x="16058" y="63832"/>
                </a:cubicBezTo>
                <a:cubicBezTo>
                  <a:pt x="16058" y="61913"/>
                  <a:pt x="16183" y="60017"/>
                  <a:pt x="16382" y="58172"/>
                </a:cubicBezTo>
                <a:lnTo>
                  <a:pt x="3067" y="46328"/>
                </a:lnTo>
                <a:cubicBezTo>
                  <a:pt x="224" y="43810"/>
                  <a:pt x="-424" y="39646"/>
                  <a:pt x="1446" y="36380"/>
                </a:cubicBezTo>
                <a:lnTo>
                  <a:pt x="8902" y="23463"/>
                </a:lnTo>
                <a:cubicBezTo>
                  <a:pt x="10797" y="20172"/>
                  <a:pt x="14736" y="18676"/>
                  <a:pt x="18327" y="19873"/>
                </a:cubicBezTo>
                <a:lnTo>
                  <a:pt x="35233" y="25483"/>
                </a:lnTo>
                <a:cubicBezTo>
                  <a:pt x="38250" y="23214"/>
                  <a:pt x="41541" y="21319"/>
                  <a:pt x="45032" y="19798"/>
                </a:cubicBezTo>
                <a:lnTo>
                  <a:pt x="48647" y="2369"/>
                </a:lnTo>
                <a:close/>
                <a:moveTo>
                  <a:pt x="63907" y="83780"/>
                </a:moveTo>
                <a:cubicBezTo>
                  <a:pt x="71034" y="83753"/>
                  <a:pt x="77605" y="79927"/>
                  <a:pt x="81145" y="73742"/>
                </a:cubicBezTo>
                <a:cubicBezTo>
                  <a:pt x="84685" y="67556"/>
                  <a:pt x="84657" y="59952"/>
                  <a:pt x="81070" y="53794"/>
                </a:cubicBezTo>
                <a:cubicBezTo>
                  <a:pt x="77484" y="47635"/>
                  <a:pt x="70884" y="43858"/>
                  <a:pt x="63758" y="43885"/>
                </a:cubicBezTo>
                <a:cubicBezTo>
                  <a:pt x="56631" y="43912"/>
                  <a:pt x="50060" y="47738"/>
                  <a:pt x="46520" y="53923"/>
                </a:cubicBezTo>
                <a:cubicBezTo>
                  <a:pt x="42980" y="60109"/>
                  <a:pt x="43008" y="67713"/>
                  <a:pt x="46595" y="73871"/>
                </a:cubicBezTo>
                <a:cubicBezTo>
                  <a:pt x="50181" y="80030"/>
                  <a:pt x="56781" y="83807"/>
                  <a:pt x="63907" y="8378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62" name="Text 60"/>
          <p:cNvSpPr/>
          <p:nvPr/>
        </p:nvSpPr>
        <p:spPr>
          <a:xfrm>
            <a:off x="6674482" y="4486167"/>
            <a:ext cx="921011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application.yml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441949" y="4668546"/>
            <a:ext cx="5179548" cy="145903"/>
          </a:xfrm>
          <a:prstGeom prst="rect">
            <a:avLst/>
          </a:prstGeom>
          <a:noFill/>
          <a:ln/>
        </p:spPr>
        <p:txBody>
          <a:bodyPr wrap="square" lIns="218854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base configuration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68998" y="4960240"/>
            <a:ext cx="5270737" cy="474184"/>
          </a:xfrm>
          <a:custGeom>
            <a:avLst/>
            <a:gdLst/>
            <a:ahLst/>
            <a:cxnLst/>
            <a:rect l="l" t="t" r="r" b="b"/>
            <a:pathLst>
              <a:path w="5270737" h="474184">
                <a:moveTo>
                  <a:pt x="72953" y="0"/>
                </a:moveTo>
                <a:lnTo>
                  <a:pt x="5197784" y="0"/>
                </a:lnTo>
                <a:cubicBezTo>
                  <a:pt x="5238075" y="0"/>
                  <a:pt x="5270737" y="32662"/>
                  <a:pt x="5270737" y="72953"/>
                </a:cubicBezTo>
                <a:lnTo>
                  <a:pt x="5270737" y="401231"/>
                </a:lnTo>
                <a:cubicBezTo>
                  <a:pt x="5270737" y="441522"/>
                  <a:pt x="5238075" y="474184"/>
                  <a:pt x="5197784" y="474184"/>
                </a:cubicBezTo>
                <a:lnTo>
                  <a:pt x="72953" y="474184"/>
                </a:lnTo>
                <a:cubicBezTo>
                  <a:pt x="32689" y="474184"/>
                  <a:pt x="0" y="441495"/>
                  <a:pt x="0" y="401231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65" name="Shape 63"/>
          <p:cNvSpPr/>
          <p:nvPr/>
        </p:nvSpPr>
        <p:spPr>
          <a:xfrm>
            <a:off x="6452208" y="5060548"/>
            <a:ext cx="143623" cy="127665"/>
          </a:xfrm>
          <a:custGeom>
            <a:avLst/>
            <a:gdLst/>
            <a:ahLst/>
            <a:cxnLst/>
            <a:rect l="l" t="t" r="r" b="b"/>
            <a:pathLst>
              <a:path w="143623" h="127665">
                <a:moveTo>
                  <a:pt x="0" y="83780"/>
                </a:moveTo>
                <a:cubicBezTo>
                  <a:pt x="0" y="103603"/>
                  <a:pt x="16083" y="119686"/>
                  <a:pt x="35906" y="119686"/>
                </a:cubicBezTo>
                <a:lnTo>
                  <a:pt x="111707" y="119686"/>
                </a:lnTo>
                <a:cubicBezTo>
                  <a:pt x="129336" y="119686"/>
                  <a:pt x="143623" y="105398"/>
                  <a:pt x="143623" y="87770"/>
                </a:cubicBezTo>
                <a:cubicBezTo>
                  <a:pt x="143623" y="74903"/>
                  <a:pt x="136018" y="63808"/>
                  <a:pt x="125047" y="58771"/>
                </a:cubicBezTo>
                <a:cubicBezTo>
                  <a:pt x="126717" y="55504"/>
                  <a:pt x="127665" y="51789"/>
                  <a:pt x="127665" y="47874"/>
                </a:cubicBezTo>
                <a:cubicBezTo>
                  <a:pt x="127665" y="34659"/>
                  <a:pt x="116943" y="23937"/>
                  <a:pt x="103728" y="23937"/>
                </a:cubicBezTo>
                <a:cubicBezTo>
                  <a:pt x="99314" y="23937"/>
                  <a:pt x="95200" y="25134"/>
                  <a:pt x="91659" y="27204"/>
                </a:cubicBezTo>
                <a:cubicBezTo>
                  <a:pt x="85650" y="15784"/>
                  <a:pt x="73657" y="7979"/>
                  <a:pt x="59843" y="7979"/>
                </a:cubicBezTo>
                <a:cubicBezTo>
                  <a:pt x="40020" y="7979"/>
                  <a:pt x="23937" y="24062"/>
                  <a:pt x="23937" y="43885"/>
                </a:cubicBezTo>
                <a:cubicBezTo>
                  <a:pt x="23937" y="45880"/>
                  <a:pt x="24112" y="47849"/>
                  <a:pt x="24411" y="49744"/>
                </a:cubicBezTo>
                <a:cubicBezTo>
                  <a:pt x="10223" y="54532"/>
                  <a:pt x="0" y="67972"/>
                  <a:pt x="0" y="8378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66" name="Text 64"/>
          <p:cNvSpPr/>
          <p:nvPr/>
        </p:nvSpPr>
        <p:spPr>
          <a:xfrm>
            <a:off x="6674482" y="5033191"/>
            <a:ext cx="1231055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application-prod.yml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441949" y="5215570"/>
            <a:ext cx="5179548" cy="145903"/>
          </a:xfrm>
          <a:prstGeom prst="rect">
            <a:avLst/>
          </a:prstGeom>
          <a:noFill/>
          <a:ln/>
        </p:spPr>
        <p:txBody>
          <a:bodyPr wrap="square" lIns="218854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Reads model list from SSM Parameter Store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68998" y="5507260"/>
            <a:ext cx="5270737" cy="474184"/>
          </a:xfrm>
          <a:custGeom>
            <a:avLst/>
            <a:gdLst/>
            <a:ahLst/>
            <a:cxnLst/>
            <a:rect l="l" t="t" r="r" b="b"/>
            <a:pathLst>
              <a:path w="5270737" h="474184">
                <a:moveTo>
                  <a:pt x="72953" y="0"/>
                </a:moveTo>
                <a:lnTo>
                  <a:pt x="5197784" y="0"/>
                </a:lnTo>
                <a:cubicBezTo>
                  <a:pt x="5238075" y="0"/>
                  <a:pt x="5270737" y="32662"/>
                  <a:pt x="5270737" y="72953"/>
                </a:cubicBezTo>
                <a:lnTo>
                  <a:pt x="5270737" y="401231"/>
                </a:lnTo>
                <a:cubicBezTo>
                  <a:pt x="5270737" y="441522"/>
                  <a:pt x="5238075" y="474184"/>
                  <a:pt x="5197784" y="474184"/>
                </a:cubicBezTo>
                <a:lnTo>
                  <a:pt x="72953" y="474184"/>
                </a:lnTo>
                <a:cubicBezTo>
                  <a:pt x="32689" y="474184"/>
                  <a:pt x="0" y="441495"/>
                  <a:pt x="0" y="401231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69" name="Shape 67"/>
          <p:cNvSpPr/>
          <p:nvPr/>
        </p:nvSpPr>
        <p:spPr>
          <a:xfrm>
            <a:off x="6444229" y="5607568"/>
            <a:ext cx="159581" cy="127665"/>
          </a:xfrm>
          <a:custGeom>
            <a:avLst/>
            <a:gdLst/>
            <a:ahLst/>
            <a:cxnLst/>
            <a:rect l="l" t="t" r="r" b="b"/>
            <a:pathLst>
              <a:path w="159581" h="127665">
                <a:moveTo>
                  <a:pt x="15958" y="23937"/>
                </a:moveTo>
                <a:cubicBezTo>
                  <a:pt x="15958" y="15135"/>
                  <a:pt x="23114" y="7979"/>
                  <a:pt x="31916" y="7979"/>
                </a:cubicBezTo>
                <a:lnTo>
                  <a:pt x="127665" y="7979"/>
                </a:lnTo>
                <a:cubicBezTo>
                  <a:pt x="136467" y="7979"/>
                  <a:pt x="143623" y="15135"/>
                  <a:pt x="143623" y="23937"/>
                </a:cubicBezTo>
                <a:lnTo>
                  <a:pt x="143623" y="83780"/>
                </a:lnTo>
                <a:lnTo>
                  <a:pt x="127665" y="83780"/>
                </a:lnTo>
                <a:lnTo>
                  <a:pt x="127665" y="23937"/>
                </a:lnTo>
                <a:lnTo>
                  <a:pt x="31916" y="23937"/>
                </a:lnTo>
                <a:lnTo>
                  <a:pt x="31916" y="83780"/>
                </a:lnTo>
                <a:lnTo>
                  <a:pt x="15958" y="83780"/>
                </a:lnTo>
                <a:lnTo>
                  <a:pt x="15958" y="23937"/>
                </a:lnTo>
                <a:close/>
                <a:moveTo>
                  <a:pt x="0" y="100536"/>
                </a:moveTo>
                <a:cubicBezTo>
                  <a:pt x="0" y="97893"/>
                  <a:pt x="2144" y="95749"/>
                  <a:pt x="4787" y="95749"/>
                </a:cubicBezTo>
                <a:lnTo>
                  <a:pt x="154794" y="95749"/>
                </a:lnTo>
                <a:cubicBezTo>
                  <a:pt x="157437" y="95749"/>
                  <a:pt x="159581" y="97893"/>
                  <a:pt x="159581" y="100536"/>
                </a:cubicBezTo>
                <a:cubicBezTo>
                  <a:pt x="159581" y="111108"/>
                  <a:pt x="151004" y="119686"/>
                  <a:pt x="140431" y="119686"/>
                </a:cubicBezTo>
                <a:lnTo>
                  <a:pt x="19150" y="119686"/>
                </a:lnTo>
                <a:cubicBezTo>
                  <a:pt x="8577" y="119686"/>
                  <a:pt x="0" y="111108"/>
                  <a:pt x="0" y="100536"/>
                </a:cubicBezTo>
                <a:close/>
                <a:moveTo>
                  <a:pt x="70066" y="52113"/>
                </a:moveTo>
                <a:lnTo>
                  <a:pt x="62336" y="59843"/>
                </a:lnTo>
                <a:lnTo>
                  <a:pt x="70066" y="67573"/>
                </a:lnTo>
                <a:cubicBezTo>
                  <a:pt x="72410" y="69916"/>
                  <a:pt x="72410" y="73707"/>
                  <a:pt x="70066" y="76025"/>
                </a:cubicBezTo>
                <a:cubicBezTo>
                  <a:pt x="67722" y="78344"/>
                  <a:pt x="63932" y="78369"/>
                  <a:pt x="61613" y="76025"/>
                </a:cubicBezTo>
                <a:lnTo>
                  <a:pt x="49645" y="64057"/>
                </a:lnTo>
                <a:cubicBezTo>
                  <a:pt x="47301" y="61713"/>
                  <a:pt x="47301" y="57923"/>
                  <a:pt x="49645" y="55604"/>
                </a:cubicBezTo>
                <a:lnTo>
                  <a:pt x="61613" y="43635"/>
                </a:lnTo>
                <a:cubicBezTo>
                  <a:pt x="63957" y="41292"/>
                  <a:pt x="67747" y="41292"/>
                  <a:pt x="70066" y="43635"/>
                </a:cubicBezTo>
                <a:cubicBezTo>
                  <a:pt x="72385" y="45979"/>
                  <a:pt x="72410" y="49769"/>
                  <a:pt x="70066" y="52088"/>
                </a:cubicBezTo>
                <a:close/>
                <a:moveTo>
                  <a:pt x="97993" y="43635"/>
                </a:moveTo>
                <a:lnTo>
                  <a:pt x="109961" y="55604"/>
                </a:lnTo>
                <a:cubicBezTo>
                  <a:pt x="112305" y="57948"/>
                  <a:pt x="112305" y="61738"/>
                  <a:pt x="109961" y="64057"/>
                </a:cubicBezTo>
                <a:lnTo>
                  <a:pt x="97993" y="76025"/>
                </a:lnTo>
                <a:cubicBezTo>
                  <a:pt x="95649" y="78369"/>
                  <a:pt x="91859" y="78369"/>
                  <a:pt x="89540" y="76025"/>
                </a:cubicBezTo>
                <a:cubicBezTo>
                  <a:pt x="87221" y="73682"/>
                  <a:pt x="87196" y="69892"/>
                  <a:pt x="89540" y="67573"/>
                </a:cubicBezTo>
                <a:lnTo>
                  <a:pt x="97270" y="59843"/>
                </a:lnTo>
                <a:lnTo>
                  <a:pt x="89540" y="52113"/>
                </a:lnTo>
                <a:cubicBezTo>
                  <a:pt x="87196" y="49769"/>
                  <a:pt x="87196" y="45979"/>
                  <a:pt x="89540" y="43660"/>
                </a:cubicBezTo>
                <a:cubicBezTo>
                  <a:pt x="91884" y="41341"/>
                  <a:pt x="95674" y="41317"/>
                  <a:pt x="97993" y="4366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70" name="Text 68"/>
          <p:cNvSpPr/>
          <p:nvPr/>
        </p:nvSpPr>
        <p:spPr>
          <a:xfrm>
            <a:off x="6674482" y="5580211"/>
            <a:ext cx="1231055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application-local.yml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441949" y="5762589"/>
            <a:ext cx="5179548" cy="145903"/>
          </a:xfrm>
          <a:prstGeom prst="rect">
            <a:avLst/>
          </a:prstGeom>
          <a:noFill/>
          <a:ln/>
        </p:spPr>
        <p:txBody>
          <a:bodyPr wrap="square" lIns="218854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dev with file-based models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96875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317500"/>
            <a:ext cx="457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/ MODEL CONFIGURATION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476250"/>
            <a:ext cx="465931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SSM + S3 Integration with EFS Cache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984250"/>
            <a:ext cx="11557000" cy="2206625"/>
          </a:xfrm>
          <a:custGeom>
            <a:avLst/>
            <a:gdLst/>
            <a:ahLst/>
            <a:cxnLst/>
            <a:rect l="l" t="t" r="r" b="b"/>
            <a:pathLst>
              <a:path w="11557000" h="2206625">
                <a:moveTo>
                  <a:pt x="95260" y="0"/>
                </a:moveTo>
                <a:lnTo>
                  <a:pt x="11461740" y="0"/>
                </a:lnTo>
                <a:cubicBezTo>
                  <a:pt x="11514351" y="0"/>
                  <a:pt x="11557000" y="42649"/>
                  <a:pt x="11557000" y="95260"/>
                </a:cubicBezTo>
                <a:lnTo>
                  <a:pt x="11557000" y="2111365"/>
                </a:lnTo>
                <a:cubicBezTo>
                  <a:pt x="11557000" y="2163976"/>
                  <a:pt x="11514351" y="2206625"/>
                  <a:pt x="11461740" y="2206625"/>
                </a:cubicBezTo>
                <a:lnTo>
                  <a:pt x="95260" y="2206625"/>
                </a:lnTo>
                <a:cubicBezTo>
                  <a:pt x="42649" y="2206625"/>
                  <a:pt x="0" y="2163976"/>
                  <a:pt x="0" y="2111365"/>
                </a:cubicBezTo>
                <a:lnTo>
                  <a:pt x="0" y="95260"/>
                </a:lnTo>
                <a:cubicBezTo>
                  <a:pt x="0" y="42649"/>
                  <a:pt x="42649" y="0"/>
                  <a:pt x="9526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4344" y="115093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93762" y="98227"/>
                </a:moveTo>
                <a:cubicBezTo>
                  <a:pt x="120886" y="98227"/>
                  <a:pt x="142875" y="76237"/>
                  <a:pt x="142875" y="49113"/>
                </a:cubicBezTo>
                <a:cubicBezTo>
                  <a:pt x="142875" y="21989"/>
                  <a:pt x="120886" y="0"/>
                  <a:pt x="93762" y="0"/>
                </a:cubicBezTo>
                <a:cubicBezTo>
                  <a:pt x="66638" y="0"/>
                  <a:pt x="44648" y="21989"/>
                  <a:pt x="44648" y="49113"/>
                </a:cubicBezTo>
                <a:cubicBezTo>
                  <a:pt x="44648" y="54332"/>
                  <a:pt x="45458" y="59382"/>
                  <a:pt x="46965" y="64098"/>
                </a:cubicBezTo>
                <a:lnTo>
                  <a:pt x="1953" y="109110"/>
                </a:lnTo>
                <a:cubicBezTo>
                  <a:pt x="698" y="110365"/>
                  <a:pt x="0" y="112068"/>
                  <a:pt x="0" y="113854"/>
                </a:cubicBezTo>
                <a:lnTo>
                  <a:pt x="0" y="136178"/>
                </a:lnTo>
                <a:cubicBezTo>
                  <a:pt x="0" y="139889"/>
                  <a:pt x="2986" y="142875"/>
                  <a:pt x="6697" y="142875"/>
                </a:cubicBezTo>
                <a:lnTo>
                  <a:pt x="29021" y="142875"/>
                </a:lnTo>
                <a:cubicBezTo>
                  <a:pt x="32733" y="142875"/>
                  <a:pt x="35719" y="139889"/>
                  <a:pt x="35719" y="136178"/>
                </a:cubicBezTo>
                <a:lnTo>
                  <a:pt x="35719" y="125016"/>
                </a:lnTo>
                <a:lnTo>
                  <a:pt x="46881" y="125016"/>
                </a:lnTo>
                <a:cubicBezTo>
                  <a:pt x="50592" y="125016"/>
                  <a:pt x="53578" y="122030"/>
                  <a:pt x="53578" y="118318"/>
                </a:cubicBezTo>
                <a:lnTo>
                  <a:pt x="53578" y="107156"/>
                </a:lnTo>
                <a:lnTo>
                  <a:pt x="64740" y="107156"/>
                </a:lnTo>
                <a:cubicBezTo>
                  <a:pt x="66526" y="107156"/>
                  <a:pt x="68228" y="106459"/>
                  <a:pt x="69484" y="105203"/>
                </a:cubicBezTo>
                <a:lnTo>
                  <a:pt x="78777" y="95910"/>
                </a:lnTo>
                <a:cubicBezTo>
                  <a:pt x="83493" y="97417"/>
                  <a:pt x="88543" y="98227"/>
                  <a:pt x="93762" y="98227"/>
                </a:cubicBezTo>
                <a:close/>
                <a:moveTo>
                  <a:pt x="104924" y="26789"/>
                </a:moveTo>
                <a:cubicBezTo>
                  <a:pt x="111084" y="26789"/>
                  <a:pt x="116086" y="31791"/>
                  <a:pt x="116086" y="37951"/>
                </a:cubicBezTo>
                <a:cubicBezTo>
                  <a:pt x="116086" y="44112"/>
                  <a:pt x="111084" y="49113"/>
                  <a:pt x="104924" y="49113"/>
                </a:cubicBezTo>
                <a:cubicBezTo>
                  <a:pt x="98763" y="49113"/>
                  <a:pt x="93762" y="44112"/>
                  <a:pt x="93762" y="37951"/>
                </a:cubicBezTo>
                <a:cubicBezTo>
                  <a:pt x="93762" y="31791"/>
                  <a:pt x="98763" y="26789"/>
                  <a:pt x="104924" y="26789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627063" y="1111250"/>
            <a:ext cx="1119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SSM Parameter Store Structure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4500" y="1428750"/>
            <a:ext cx="11303000" cy="412750"/>
          </a:xfrm>
          <a:custGeom>
            <a:avLst/>
            <a:gdLst/>
            <a:ahLst/>
            <a:cxnLst/>
            <a:rect l="l" t="t" r="r" b="b"/>
            <a:pathLst>
              <a:path w="11303000" h="412750">
                <a:moveTo>
                  <a:pt x="63502" y="0"/>
                </a:moveTo>
                <a:lnTo>
                  <a:pt x="11239498" y="0"/>
                </a:lnTo>
                <a:cubicBezTo>
                  <a:pt x="11274569" y="0"/>
                  <a:pt x="11303000" y="28431"/>
                  <a:pt x="11303000" y="63502"/>
                </a:cubicBezTo>
                <a:lnTo>
                  <a:pt x="11303000" y="349248"/>
                </a:lnTo>
                <a:cubicBezTo>
                  <a:pt x="11303000" y="384319"/>
                  <a:pt x="11274569" y="412750"/>
                  <a:pt x="11239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539750" y="1524000"/>
            <a:ext cx="1116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SSM?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Swap model version without redeployment. Per-environment paths. CloudTrail audit history. No secrets in code.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500" y="1936750"/>
            <a:ext cx="5603875" cy="1127125"/>
          </a:xfrm>
          <a:custGeom>
            <a:avLst/>
            <a:gdLst/>
            <a:ahLst/>
            <a:cxnLst/>
            <a:rect l="l" t="t" r="r" b="b"/>
            <a:pathLst>
              <a:path w="5603875" h="1127125">
                <a:moveTo>
                  <a:pt x="31751" y="0"/>
                </a:moveTo>
                <a:lnTo>
                  <a:pt x="5572124" y="0"/>
                </a:lnTo>
                <a:cubicBezTo>
                  <a:pt x="5589660" y="0"/>
                  <a:pt x="5603875" y="14215"/>
                  <a:pt x="5603875" y="31751"/>
                </a:cubicBezTo>
                <a:lnTo>
                  <a:pt x="5603875" y="1095374"/>
                </a:lnTo>
                <a:cubicBezTo>
                  <a:pt x="5603875" y="1112910"/>
                  <a:pt x="5589660" y="1127125"/>
                  <a:pt x="5572124" y="1127125"/>
                </a:cubicBezTo>
                <a:lnTo>
                  <a:pt x="31751" y="1127125"/>
                </a:lnTo>
                <a:cubicBezTo>
                  <a:pt x="14215" y="1127125"/>
                  <a:pt x="0" y="1112910"/>
                  <a:pt x="0" y="1095374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508000" y="2000250"/>
            <a:ext cx="5524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/octaura/inference/prod/models/credit-risk/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158903"/>
            <a:ext cx="5461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s3-key = models/credit-risk/v2/model.onnx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301677"/>
            <a:ext cx="5461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 = 2.0.1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2444452"/>
            <a:ext cx="5461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input-name =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2587230"/>
            <a:ext cx="5461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input-shape = 1,28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2730004"/>
            <a:ext cx="5461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output-name = probabilities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2872782"/>
            <a:ext cx="5461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 = CLO credit risk scoring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43625" y="1936750"/>
            <a:ext cx="5603875" cy="698500"/>
          </a:xfrm>
          <a:custGeom>
            <a:avLst/>
            <a:gdLst/>
            <a:ahLst/>
            <a:cxnLst/>
            <a:rect l="l" t="t" r="r" b="b"/>
            <a:pathLst>
              <a:path w="5603875" h="698500">
                <a:moveTo>
                  <a:pt x="31747" y="0"/>
                </a:moveTo>
                <a:lnTo>
                  <a:pt x="5572128" y="0"/>
                </a:lnTo>
                <a:cubicBezTo>
                  <a:pt x="5589661" y="0"/>
                  <a:pt x="5603875" y="14214"/>
                  <a:pt x="5603875" y="31747"/>
                </a:cubicBezTo>
                <a:lnTo>
                  <a:pt x="5603875" y="666753"/>
                </a:lnTo>
                <a:cubicBezTo>
                  <a:pt x="5603875" y="684286"/>
                  <a:pt x="5589661" y="698500"/>
                  <a:pt x="5572128" y="698500"/>
                </a:cubicBezTo>
                <a:lnTo>
                  <a:pt x="31747" y="698500"/>
                </a:lnTo>
                <a:cubicBezTo>
                  <a:pt x="14214" y="698500"/>
                  <a:pt x="0" y="684286"/>
                  <a:pt x="0" y="666753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6207125" y="2000250"/>
            <a:ext cx="5524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/octaura/inference/prod/models/prepayment/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70625" y="2158903"/>
            <a:ext cx="5461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s3-key = models/prepayment/v1/model.onnx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70625" y="2301677"/>
            <a:ext cx="5461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 = 1.3.0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70625" y="2444452"/>
            <a:ext cx="5461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input-shape = 1,15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46800" y="2669780"/>
            <a:ext cx="5594350" cy="387350"/>
          </a:xfrm>
          <a:custGeom>
            <a:avLst/>
            <a:gdLst/>
            <a:ahLst/>
            <a:cxnLst/>
            <a:rect l="l" t="t" r="r" b="b"/>
            <a:pathLst>
              <a:path w="5594350" h="387350">
                <a:moveTo>
                  <a:pt x="31751" y="0"/>
                </a:moveTo>
                <a:lnTo>
                  <a:pt x="5562599" y="0"/>
                </a:lnTo>
                <a:cubicBezTo>
                  <a:pt x="5580135" y="0"/>
                  <a:pt x="5594350" y="14215"/>
                  <a:pt x="5594350" y="31751"/>
                </a:cubicBezTo>
                <a:lnTo>
                  <a:pt x="5594350" y="355599"/>
                </a:lnTo>
                <a:cubicBezTo>
                  <a:pt x="5594350" y="373135"/>
                  <a:pt x="5580135" y="387350"/>
                  <a:pt x="5562599" y="387350"/>
                </a:cubicBezTo>
                <a:lnTo>
                  <a:pt x="31751" y="387350"/>
                </a:lnTo>
                <a:cubicBezTo>
                  <a:pt x="14215" y="387350"/>
                  <a:pt x="0" y="373135"/>
                  <a:pt x="0" y="3555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 w="10160">
            <a:solidFill>
              <a:srgbClr val="4299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3475" y="2736453"/>
            <a:ext cx="5508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/octaura/inference/prod/default-model-id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13475" y="2863356"/>
            <a:ext cx="5508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 credit-risk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17500" y="3317181"/>
            <a:ext cx="5715000" cy="5302250"/>
          </a:xfrm>
          <a:custGeom>
            <a:avLst/>
            <a:gdLst/>
            <a:ahLst/>
            <a:cxnLst/>
            <a:rect l="l" t="t" r="r" b="b"/>
            <a:pathLst>
              <a:path w="5715000" h="5302250">
                <a:moveTo>
                  <a:pt x="95228" y="0"/>
                </a:moveTo>
                <a:lnTo>
                  <a:pt x="5619772" y="0"/>
                </a:lnTo>
                <a:cubicBezTo>
                  <a:pt x="5672365" y="0"/>
                  <a:pt x="5715000" y="42635"/>
                  <a:pt x="5715000" y="95228"/>
                </a:cubicBezTo>
                <a:lnTo>
                  <a:pt x="5715000" y="5207022"/>
                </a:lnTo>
                <a:cubicBezTo>
                  <a:pt x="5715000" y="5259615"/>
                  <a:pt x="5672365" y="5302250"/>
                  <a:pt x="5619772" y="5302250"/>
                </a:cubicBezTo>
                <a:lnTo>
                  <a:pt x="95228" y="5302250"/>
                </a:lnTo>
                <a:cubicBezTo>
                  <a:pt x="42635" y="5302250"/>
                  <a:pt x="0" y="5259615"/>
                  <a:pt x="0" y="5207022"/>
                </a:cubicBezTo>
                <a:lnTo>
                  <a:pt x="0" y="95228"/>
                </a:lnTo>
                <a:cubicBezTo>
                  <a:pt x="0" y="42670"/>
                  <a:pt x="42670" y="0"/>
                  <a:pt x="9522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273" y="3483869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71438" y="8930"/>
                </a:moveTo>
                <a:cubicBezTo>
                  <a:pt x="71438" y="3990"/>
                  <a:pt x="67447" y="0"/>
                  <a:pt x="62508" y="0"/>
                </a:cubicBezTo>
                <a:cubicBezTo>
                  <a:pt x="57569" y="0"/>
                  <a:pt x="53578" y="3990"/>
                  <a:pt x="53578" y="8930"/>
                </a:cubicBezTo>
                <a:lnTo>
                  <a:pt x="53578" y="67726"/>
                </a:lnTo>
                <a:lnTo>
                  <a:pt x="42025" y="56173"/>
                </a:lnTo>
                <a:cubicBezTo>
                  <a:pt x="38537" y="52685"/>
                  <a:pt x="32872" y="52685"/>
                  <a:pt x="29384" y="56173"/>
                </a:cubicBezTo>
                <a:cubicBezTo>
                  <a:pt x="25896" y="59661"/>
                  <a:pt x="25896" y="65326"/>
                  <a:pt x="29384" y="68814"/>
                </a:cubicBezTo>
                <a:lnTo>
                  <a:pt x="56173" y="95603"/>
                </a:lnTo>
                <a:cubicBezTo>
                  <a:pt x="59661" y="99092"/>
                  <a:pt x="65326" y="99092"/>
                  <a:pt x="68814" y="95603"/>
                </a:cubicBezTo>
                <a:lnTo>
                  <a:pt x="95603" y="68814"/>
                </a:lnTo>
                <a:cubicBezTo>
                  <a:pt x="99092" y="65326"/>
                  <a:pt x="99092" y="59661"/>
                  <a:pt x="95603" y="56173"/>
                </a:cubicBezTo>
                <a:cubicBezTo>
                  <a:pt x="92115" y="52685"/>
                  <a:pt x="86451" y="52685"/>
                  <a:pt x="82962" y="56173"/>
                </a:cubicBezTo>
                <a:lnTo>
                  <a:pt x="71438" y="67726"/>
                </a:lnTo>
                <a:lnTo>
                  <a:pt x="71438" y="8930"/>
                </a:lnTo>
                <a:close/>
                <a:moveTo>
                  <a:pt x="17859" y="89297"/>
                </a:moveTo>
                <a:cubicBezTo>
                  <a:pt x="8009" y="89297"/>
                  <a:pt x="0" y="97306"/>
                  <a:pt x="0" y="107156"/>
                </a:cubicBezTo>
                <a:lnTo>
                  <a:pt x="0" y="116086"/>
                </a:lnTo>
                <a:cubicBezTo>
                  <a:pt x="0" y="125936"/>
                  <a:pt x="8009" y="133945"/>
                  <a:pt x="17859" y="133945"/>
                </a:cubicBezTo>
                <a:lnTo>
                  <a:pt x="107156" y="133945"/>
                </a:lnTo>
                <a:cubicBezTo>
                  <a:pt x="117007" y="133945"/>
                  <a:pt x="125016" y="125936"/>
                  <a:pt x="125016" y="116086"/>
                </a:cubicBezTo>
                <a:lnTo>
                  <a:pt x="125016" y="107156"/>
                </a:lnTo>
                <a:cubicBezTo>
                  <a:pt x="125016" y="97306"/>
                  <a:pt x="117007" y="89297"/>
                  <a:pt x="107156" y="89297"/>
                </a:cubicBezTo>
                <a:lnTo>
                  <a:pt x="94069" y="89297"/>
                </a:lnTo>
                <a:lnTo>
                  <a:pt x="78274" y="105091"/>
                </a:lnTo>
                <a:cubicBezTo>
                  <a:pt x="69568" y="113798"/>
                  <a:pt x="55420" y="113798"/>
                  <a:pt x="46713" y="105091"/>
                </a:cubicBezTo>
                <a:lnTo>
                  <a:pt x="30947" y="89297"/>
                </a:lnTo>
                <a:lnTo>
                  <a:pt x="17859" y="89297"/>
                </a:lnTo>
                <a:close/>
                <a:moveTo>
                  <a:pt x="102691" y="104924"/>
                </a:moveTo>
                <a:cubicBezTo>
                  <a:pt x="106388" y="104924"/>
                  <a:pt x="109389" y="107925"/>
                  <a:pt x="109389" y="111621"/>
                </a:cubicBezTo>
                <a:cubicBezTo>
                  <a:pt x="109389" y="115317"/>
                  <a:pt x="106388" y="118318"/>
                  <a:pt x="102691" y="118318"/>
                </a:cubicBezTo>
                <a:cubicBezTo>
                  <a:pt x="98995" y="118318"/>
                  <a:pt x="95994" y="115317"/>
                  <a:pt x="95994" y="111621"/>
                </a:cubicBezTo>
                <a:cubicBezTo>
                  <a:pt x="95994" y="107925"/>
                  <a:pt x="98995" y="104924"/>
                  <a:pt x="102691" y="104924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8" name="Text 26"/>
          <p:cNvSpPr/>
          <p:nvPr/>
        </p:nvSpPr>
        <p:spPr>
          <a:xfrm>
            <a:off x="627063" y="3444181"/>
            <a:ext cx="534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ModelLoader.java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4500" y="3761681"/>
            <a:ext cx="5461000" cy="4381500"/>
          </a:xfrm>
          <a:custGeom>
            <a:avLst/>
            <a:gdLst/>
            <a:ahLst/>
            <a:cxnLst/>
            <a:rect l="l" t="t" r="r" b="b"/>
            <a:pathLst>
              <a:path w="5461000" h="4381500">
                <a:moveTo>
                  <a:pt x="63488" y="0"/>
                </a:moveTo>
                <a:lnTo>
                  <a:pt x="5397512" y="0"/>
                </a:lnTo>
                <a:cubicBezTo>
                  <a:pt x="5432575" y="0"/>
                  <a:pt x="5461000" y="28425"/>
                  <a:pt x="5461000" y="63488"/>
                </a:cubicBezTo>
                <a:lnTo>
                  <a:pt x="5461000" y="4318012"/>
                </a:lnTo>
                <a:cubicBezTo>
                  <a:pt x="5461000" y="4353075"/>
                  <a:pt x="5432575" y="4381500"/>
                  <a:pt x="5397512" y="4381500"/>
                </a:cubicBezTo>
                <a:lnTo>
                  <a:pt x="63488" y="4381500"/>
                </a:lnTo>
                <a:cubicBezTo>
                  <a:pt x="28425" y="4381500"/>
                  <a:pt x="0" y="4353075"/>
                  <a:pt x="0" y="4318012"/>
                </a:cubicBezTo>
                <a:lnTo>
                  <a:pt x="0" y="63488"/>
                </a:lnTo>
                <a:cubicBezTo>
                  <a:pt x="0" y="28448"/>
                  <a:pt x="28448" y="0"/>
                  <a:pt x="63488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0" name="Text 28"/>
          <p:cNvSpPr/>
          <p:nvPr/>
        </p:nvSpPr>
        <p:spPr>
          <a:xfrm>
            <a:off x="539750" y="3856931"/>
            <a:ext cx="531812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@Service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 class ModelLoader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public OrtSession load(ModelDefinition def)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// EFS cache path — shared across ALL tasks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Path cachePath = Path.of(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props.getS3().getLocalCacheDir(),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def.getId(), def.getVersion(), "model.onnx"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if (!Files.exists(cachePath))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// Streaming download — never holds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// full file in JVM heap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s3Client.getObject(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GetObjectRequest.builder()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    .bucket(props.getS3().getBucket())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    .key(def.getS3Key())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    .build(),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cachePath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return ortEnv.createSession(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cachePath.toString(),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buildSessionOptions()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4500" y="8235156"/>
            <a:ext cx="5461000" cy="254000"/>
          </a:xfrm>
          <a:custGeom>
            <a:avLst/>
            <a:gdLst/>
            <a:ahLst/>
            <a:cxnLst/>
            <a:rect l="l" t="t" r="r" b="b"/>
            <a:pathLst>
              <a:path w="5461000" h="254000">
                <a:moveTo>
                  <a:pt x="63500" y="0"/>
                </a:moveTo>
                <a:lnTo>
                  <a:pt x="5397500" y="0"/>
                </a:lnTo>
                <a:cubicBezTo>
                  <a:pt x="5432547" y="0"/>
                  <a:pt x="5461000" y="28453"/>
                  <a:pt x="5461000" y="63500"/>
                </a:cubicBezTo>
                <a:lnTo>
                  <a:pt x="5461000" y="190500"/>
                </a:lnTo>
                <a:cubicBezTo>
                  <a:pt x="5461000" y="225547"/>
                  <a:pt x="5432547" y="254000"/>
                  <a:pt x="5397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8000" y="8298656"/>
            <a:ext cx="5381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EFS shared cache — first task downloads, subsequent tasks use cached file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59500" y="3317181"/>
            <a:ext cx="5715000" cy="5302250"/>
          </a:xfrm>
          <a:custGeom>
            <a:avLst/>
            <a:gdLst/>
            <a:ahLst/>
            <a:cxnLst/>
            <a:rect l="l" t="t" r="r" b="b"/>
            <a:pathLst>
              <a:path w="5715000" h="5302250">
                <a:moveTo>
                  <a:pt x="95228" y="0"/>
                </a:moveTo>
                <a:lnTo>
                  <a:pt x="5619772" y="0"/>
                </a:lnTo>
                <a:cubicBezTo>
                  <a:pt x="5672365" y="0"/>
                  <a:pt x="5715000" y="42635"/>
                  <a:pt x="5715000" y="95228"/>
                </a:cubicBezTo>
                <a:lnTo>
                  <a:pt x="5715000" y="5207022"/>
                </a:lnTo>
                <a:cubicBezTo>
                  <a:pt x="5715000" y="5259615"/>
                  <a:pt x="5672365" y="5302250"/>
                  <a:pt x="5619772" y="5302250"/>
                </a:cubicBezTo>
                <a:lnTo>
                  <a:pt x="95228" y="5302250"/>
                </a:lnTo>
                <a:cubicBezTo>
                  <a:pt x="42635" y="5302250"/>
                  <a:pt x="0" y="5259615"/>
                  <a:pt x="0" y="5207022"/>
                </a:cubicBezTo>
                <a:lnTo>
                  <a:pt x="0" y="95228"/>
                </a:lnTo>
                <a:cubicBezTo>
                  <a:pt x="0" y="42670"/>
                  <a:pt x="42670" y="0"/>
                  <a:pt x="9522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6344" y="348386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3973" y="53578"/>
                </a:moveTo>
                <a:lnTo>
                  <a:pt x="136178" y="53578"/>
                </a:lnTo>
                <a:cubicBezTo>
                  <a:pt x="139889" y="53578"/>
                  <a:pt x="142875" y="50592"/>
                  <a:pt x="142875" y="46881"/>
                </a:cubicBezTo>
                <a:lnTo>
                  <a:pt x="142875" y="6697"/>
                </a:lnTo>
                <a:cubicBezTo>
                  <a:pt x="142875" y="3990"/>
                  <a:pt x="141256" y="1535"/>
                  <a:pt x="138745" y="502"/>
                </a:cubicBezTo>
                <a:cubicBezTo>
                  <a:pt x="136234" y="-530"/>
                  <a:pt x="133359" y="56"/>
                  <a:pt x="131434" y="1953"/>
                </a:cubicBezTo>
                <a:lnTo>
                  <a:pt x="117007" y="16408"/>
                </a:lnTo>
                <a:cubicBezTo>
                  <a:pt x="104645" y="6167"/>
                  <a:pt x="88739" y="0"/>
                  <a:pt x="71438" y="0"/>
                </a:cubicBezTo>
                <a:cubicBezTo>
                  <a:pt x="35440" y="0"/>
                  <a:pt x="5665" y="26622"/>
                  <a:pt x="726" y="61252"/>
                </a:cubicBezTo>
                <a:cubicBezTo>
                  <a:pt x="28" y="66135"/>
                  <a:pt x="3404" y="70656"/>
                  <a:pt x="8288" y="71354"/>
                </a:cubicBezTo>
                <a:cubicBezTo>
                  <a:pt x="13171" y="72051"/>
                  <a:pt x="17692" y="68647"/>
                  <a:pt x="18390" y="63791"/>
                </a:cubicBezTo>
                <a:cubicBezTo>
                  <a:pt x="22101" y="37812"/>
                  <a:pt x="44453" y="17859"/>
                  <a:pt x="71438" y="17859"/>
                </a:cubicBezTo>
                <a:cubicBezTo>
                  <a:pt x="83827" y="17859"/>
                  <a:pt x="95213" y="22045"/>
                  <a:pt x="104282" y="29105"/>
                </a:cubicBezTo>
                <a:lnTo>
                  <a:pt x="91250" y="42137"/>
                </a:lnTo>
                <a:cubicBezTo>
                  <a:pt x="89325" y="44062"/>
                  <a:pt x="88767" y="46937"/>
                  <a:pt x="89799" y="49448"/>
                </a:cubicBezTo>
                <a:cubicBezTo>
                  <a:pt x="90832" y="51960"/>
                  <a:pt x="93287" y="53578"/>
                  <a:pt x="95994" y="53578"/>
                </a:cubicBezTo>
                <a:lnTo>
                  <a:pt x="133973" y="53578"/>
                </a:lnTo>
                <a:close/>
                <a:moveTo>
                  <a:pt x="142177" y="81623"/>
                </a:moveTo>
                <a:cubicBezTo>
                  <a:pt x="142875" y="76740"/>
                  <a:pt x="139471" y="72219"/>
                  <a:pt x="134615" y="71521"/>
                </a:cubicBezTo>
                <a:cubicBezTo>
                  <a:pt x="129760" y="70824"/>
                  <a:pt x="125211" y="74228"/>
                  <a:pt x="124513" y="79084"/>
                </a:cubicBezTo>
                <a:cubicBezTo>
                  <a:pt x="120802" y="105035"/>
                  <a:pt x="98450" y="124988"/>
                  <a:pt x="71465" y="124988"/>
                </a:cubicBezTo>
                <a:cubicBezTo>
                  <a:pt x="59075" y="124988"/>
                  <a:pt x="47690" y="120802"/>
                  <a:pt x="38621" y="113742"/>
                </a:cubicBezTo>
                <a:lnTo>
                  <a:pt x="51625" y="100738"/>
                </a:lnTo>
                <a:cubicBezTo>
                  <a:pt x="53550" y="98813"/>
                  <a:pt x="54108" y="95938"/>
                  <a:pt x="53076" y="93427"/>
                </a:cubicBezTo>
                <a:cubicBezTo>
                  <a:pt x="52043" y="90915"/>
                  <a:pt x="49588" y="89297"/>
                  <a:pt x="46881" y="89297"/>
                </a:cubicBezTo>
                <a:lnTo>
                  <a:pt x="6697" y="89297"/>
                </a:lnTo>
                <a:cubicBezTo>
                  <a:pt x="2986" y="89297"/>
                  <a:pt x="0" y="92283"/>
                  <a:pt x="0" y="95994"/>
                </a:cubicBezTo>
                <a:lnTo>
                  <a:pt x="0" y="136178"/>
                </a:lnTo>
                <a:cubicBezTo>
                  <a:pt x="0" y="138885"/>
                  <a:pt x="1619" y="141340"/>
                  <a:pt x="4130" y="142373"/>
                </a:cubicBezTo>
                <a:cubicBezTo>
                  <a:pt x="6641" y="143405"/>
                  <a:pt x="9516" y="142819"/>
                  <a:pt x="11441" y="140922"/>
                </a:cubicBezTo>
                <a:lnTo>
                  <a:pt x="25896" y="126467"/>
                </a:lnTo>
                <a:cubicBezTo>
                  <a:pt x="38230" y="136708"/>
                  <a:pt x="54136" y="142875"/>
                  <a:pt x="71438" y="142875"/>
                </a:cubicBezTo>
                <a:cubicBezTo>
                  <a:pt x="107435" y="142875"/>
                  <a:pt x="137210" y="116253"/>
                  <a:pt x="142149" y="81623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5" name="Text 33"/>
          <p:cNvSpPr/>
          <p:nvPr/>
        </p:nvSpPr>
        <p:spPr>
          <a:xfrm>
            <a:off x="6469063" y="3444181"/>
            <a:ext cx="534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ModelRegistry.java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86500" y="3761681"/>
            <a:ext cx="5461000" cy="4381500"/>
          </a:xfrm>
          <a:custGeom>
            <a:avLst/>
            <a:gdLst/>
            <a:ahLst/>
            <a:cxnLst/>
            <a:rect l="l" t="t" r="r" b="b"/>
            <a:pathLst>
              <a:path w="5461000" h="4381500">
                <a:moveTo>
                  <a:pt x="63488" y="0"/>
                </a:moveTo>
                <a:lnTo>
                  <a:pt x="5397512" y="0"/>
                </a:lnTo>
                <a:cubicBezTo>
                  <a:pt x="5432575" y="0"/>
                  <a:pt x="5461000" y="28425"/>
                  <a:pt x="5461000" y="63488"/>
                </a:cubicBezTo>
                <a:lnTo>
                  <a:pt x="5461000" y="4318012"/>
                </a:lnTo>
                <a:cubicBezTo>
                  <a:pt x="5461000" y="4353075"/>
                  <a:pt x="5432575" y="4381500"/>
                  <a:pt x="5397512" y="4381500"/>
                </a:cubicBezTo>
                <a:lnTo>
                  <a:pt x="63488" y="4381500"/>
                </a:lnTo>
                <a:cubicBezTo>
                  <a:pt x="28425" y="4381500"/>
                  <a:pt x="0" y="4353075"/>
                  <a:pt x="0" y="4318012"/>
                </a:cubicBezTo>
                <a:lnTo>
                  <a:pt x="0" y="63488"/>
                </a:lnTo>
                <a:cubicBezTo>
                  <a:pt x="0" y="28448"/>
                  <a:pt x="28448" y="0"/>
                  <a:pt x="63488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7" name="Text 35"/>
          <p:cNvSpPr/>
          <p:nvPr/>
        </p:nvSpPr>
        <p:spPr>
          <a:xfrm>
            <a:off x="6381750" y="3856931"/>
            <a:ext cx="5318125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@Component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 class ModelRegistry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// Lock-free read path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private final ConcurrentHashMap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AtomicReference&gt; registry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= new ConcurrentHashMap&lt;&gt;();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// O(1) read — called on every inference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public RegisteredModel get(String modelId)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AtomicReference ref =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registry.get(modelId);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if (ref == null)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throw new ModelNotFoundException(modelId);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return ref.get();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// Atomic swap — zero-downtime reload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public void register(String modelId,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         OrtSession session,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         ModelDefinition def)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registry.compute(modelId, (id, existing) -&gt;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AtomicReference ref =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(existing != null) ? existing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    : new AtomicReference&lt;&gt;();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RegisteredModel old = ref.getAndSet(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new RegisteredModel(session, def,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    Instant.now())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if (old != null) closeQuietly(old.session());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return ref;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});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86500" y="8235156"/>
            <a:ext cx="5461000" cy="254000"/>
          </a:xfrm>
          <a:custGeom>
            <a:avLst/>
            <a:gdLst/>
            <a:ahLst/>
            <a:cxnLst/>
            <a:rect l="l" t="t" r="r" b="b"/>
            <a:pathLst>
              <a:path w="5461000" h="254000">
                <a:moveTo>
                  <a:pt x="63500" y="0"/>
                </a:moveTo>
                <a:lnTo>
                  <a:pt x="5397500" y="0"/>
                </a:lnTo>
                <a:cubicBezTo>
                  <a:pt x="5432547" y="0"/>
                  <a:pt x="5461000" y="28453"/>
                  <a:pt x="5461000" y="63500"/>
                </a:cubicBezTo>
                <a:lnTo>
                  <a:pt x="5461000" y="190500"/>
                </a:lnTo>
                <a:cubicBezTo>
                  <a:pt x="5461000" y="225547"/>
                  <a:pt x="5432547" y="254000"/>
                  <a:pt x="5397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B6CB0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350000" y="8298656"/>
            <a:ext cx="5381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Concurrency: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Lock-free reads via AtomicReference. Atomic swap guarantees zero-downtime model updates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96875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317500"/>
            <a:ext cx="4960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/ API LAYER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476250"/>
            <a:ext cx="50482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Model-Agnostic Inference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984250"/>
            <a:ext cx="11557000" cy="2690813"/>
          </a:xfrm>
          <a:custGeom>
            <a:avLst/>
            <a:gdLst/>
            <a:ahLst/>
            <a:cxnLst/>
            <a:rect l="l" t="t" r="r" b="b"/>
            <a:pathLst>
              <a:path w="11557000" h="2690813">
                <a:moveTo>
                  <a:pt x="95255" y="0"/>
                </a:moveTo>
                <a:lnTo>
                  <a:pt x="11461745" y="0"/>
                </a:lnTo>
                <a:cubicBezTo>
                  <a:pt x="11514353" y="0"/>
                  <a:pt x="11557000" y="42647"/>
                  <a:pt x="11557000" y="95255"/>
                </a:cubicBezTo>
                <a:lnTo>
                  <a:pt x="11557000" y="2595558"/>
                </a:lnTo>
                <a:cubicBezTo>
                  <a:pt x="11557000" y="2648165"/>
                  <a:pt x="11514353" y="2690812"/>
                  <a:pt x="11461745" y="2690813"/>
                </a:cubicBezTo>
                <a:lnTo>
                  <a:pt x="95255" y="2690813"/>
                </a:lnTo>
                <a:cubicBezTo>
                  <a:pt x="42647" y="2690813"/>
                  <a:pt x="0" y="2648165"/>
                  <a:pt x="0" y="2595558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3273" y="115093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35719" y="-8930"/>
                </a:moveTo>
                <a:cubicBezTo>
                  <a:pt x="40658" y="-8930"/>
                  <a:pt x="44648" y="-4939"/>
                  <a:pt x="44648" y="0"/>
                </a:cubicBezTo>
                <a:lnTo>
                  <a:pt x="44648" y="26789"/>
                </a:lnTo>
                <a:lnTo>
                  <a:pt x="80367" y="26789"/>
                </a:lnTo>
                <a:lnTo>
                  <a:pt x="80367" y="0"/>
                </a:lnTo>
                <a:cubicBezTo>
                  <a:pt x="80367" y="-4939"/>
                  <a:pt x="84358" y="-8930"/>
                  <a:pt x="89297" y="-8930"/>
                </a:cubicBezTo>
                <a:cubicBezTo>
                  <a:pt x="94236" y="-8930"/>
                  <a:pt x="98227" y="-4939"/>
                  <a:pt x="98227" y="0"/>
                </a:cubicBezTo>
                <a:lnTo>
                  <a:pt x="98227" y="26789"/>
                </a:lnTo>
                <a:lnTo>
                  <a:pt x="116086" y="26789"/>
                </a:lnTo>
                <a:cubicBezTo>
                  <a:pt x="121025" y="26789"/>
                  <a:pt x="125016" y="30780"/>
                  <a:pt x="125016" y="35719"/>
                </a:cubicBezTo>
                <a:cubicBezTo>
                  <a:pt x="125016" y="40658"/>
                  <a:pt x="121025" y="44648"/>
                  <a:pt x="116086" y="44648"/>
                </a:cubicBezTo>
                <a:lnTo>
                  <a:pt x="116086" y="62508"/>
                </a:lnTo>
                <a:cubicBezTo>
                  <a:pt x="116086" y="89046"/>
                  <a:pt x="96775" y="111091"/>
                  <a:pt x="71438" y="115332"/>
                </a:cubicBezTo>
                <a:lnTo>
                  <a:pt x="71438" y="133945"/>
                </a:lnTo>
                <a:cubicBezTo>
                  <a:pt x="71438" y="138885"/>
                  <a:pt x="67447" y="142875"/>
                  <a:pt x="62508" y="142875"/>
                </a:cubicBezTo>
                <a:cubicBezTo>
                  <a:pt x="57569" y="142875"/>
                  <a:pt x="53578" y="138885"/>
                  <a:pt x="53578" y="133945"/>
                </a:cubicBezTo>
                <a:lnTo>
                  <a:pt x="53578" y="115332"/>
                </a:lnTo>
                <a:cubicBezTo>
                  <a:pt x="28240" y="111091"/>
                  <a:pt x="8930" y="89046"/>
                  <a:pt x="8930" y="62508"/>
                </a:cubicBezTo>
                <a:lnTo>
                  <a:pt x="8930" y="44648"/>
                </a:lnTo>
                <a:cubicBezTo>
                  <a:pt x="3990" y="44648"/>
                  <a:pt x="0" y="40658"/>
                  <a:pt x="0" y="35719"/>
                </a:cubicBezTo>
                <a:cubicBezTo>
                  <a:pt x="0" y="30780"/>
                  <a:pt x="3990" y="26789"/>
                  <a:pt x="8930" y="26789"/>
                </a:cubicBezTo>
                <a:lnTo>
                  <a:pt x="26789" y="26789"/>
                </a:lnTo>
                <a:lnTo>
                  <a:pt x="26789" y="0"/>
                </a:lnTo>
                <a:cubicBezTo>
                  <a:pt x="26789" y="-4939"/>
                  <a:pt x="30780" y="-8930"/>
                  <a:pt x="35719" y="-893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627063" y="1111250"/>
            <a:ext cx="1119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Contract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4500" y="1428750"/>
            <a:ext cx="3706813" cy="476250"/>
          </a:xfrm>
          <a:custGeom>
            <a:avLst/>
            <a:gdLst/>
            <a:ahLst/>
            <a:cxnLst/>
            <a:rect l="l" t="t" r="r" b="b"/>
            <a:pathLst>
              <a:path w="3706813" h="476250">
                <a:moveTo>
                  <a:pt x="63498" y="0"/>
                </a:moveTo>
                <a:lnTo>
                  <a:pt x="3643314" y="0"/>
                </a:lnTo>
                <a:cubicBezTo>
                  <a:pt x="3678383" y="0"/>
                  <a:pt x="3706813" y="28429"/>
                  <a:pt x="3706813" y="63498"/>
                </a:cubicBezTo>
                <a:lnTo>
                  <a:pt x="3706813" y="412752"/>
                </a:lnTo>
                <a:cubicBezTo>
                  <a:pt x="3706813" y="447821"/>
                  <a:pt x="3678383" y="476250"/>
                  <a:pt x="3643314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539750" y="1524000"/>
            <a:ext cx="3563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 /api/v1/infer/{modelId}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750" y="1682653"/>
            <a:ext cx="3563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Explicit — caller knows which model to use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43884" y="1428750"/>
            <a:ext cx="3706813" cy="476250"/>
          </a:xfrm>
          <a:custGeom>
            <a:avLst/>
            <a:gdLst/>
            <a:ahLst/>
            <a:cxnLst/>
            <a:rect l="l" t="t" r="r" b="b"/>
            <a:pathLst>
              <a:path w="3706813" h="476250">
                <a:moveTo>
                  <a:pt x="63498" y="0"/>
                </a:moveTo>
                <a:lnTo>
                  <a:pt x="3643314" y="0"/>
                </a:lnTo>
                <a:cubicBezTo>
                  <a:pt x="3678383" y="0"/>
                  <a:pt x="3706813" y="28429"/>
                  <a:pt x="3706813" y="63498"/>
                </a:cubicBezTo>
                <a:lnTo>
                  <a:pt x="3706813" y="412752"/>
                </a:lnTo>
                <a:cubicBezTo>
                  <a:pt x="3706813" y="447821"/>
                  <a:pt x="3678383" y="476250"/>
                  <a:pt x="3643314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339134" y="1524000"/>
            <a:ext cx="3563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 /api/v1/infer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39134" y="1682653"/>
            <a:ext cx="3563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Auto-route — uses modelId from body or default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3267" y="1428750"/>
            <a:ext cx="3706813" cy="476250"/>
          </a:xfrm>
          <a:custGeom>
            <a:avLst/>
            <a:gdLst/>
            <a:ahLst/>
            <a:cxnLst/>
            <a:rect l="l" t="t" r="r" b="b"/>
            <a:pathLst>
              <a:path w="3706813" h="476250">
                <a:moveTo>
                  <a:pt x="63498" y="0"/>
                </a:moveTo>
                <a:lnTo>
                  <a:pt x="3643314" y="0"/>
                </a:lnTo>
                <a:cubicBezTo>
                  <a:pt x="3678383" y="0"/>
                  <a:pt x="3706813" y="28429"/>
                  <a:pt x="3706813" y="63498"/>
                </a:cubicBezTo>
                <a:lnTo>
                  <a:pt x="3706813" y="412752"/>
                </a:lnTo>
                <a:cubicBezTo>
                  <a:pt x="3706813" y="447821"/>
                  <a:pt x="3678383" y="476250"/>
                  <a:pt x="3643314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518" y="1524000"/>
            <a:ext cx="3563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/api/v1/models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518" y="1682653"/>
            <a:ext cx="3563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Discovery — list loaded models with schemas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4500" y="2000052"/>
            <a:ext cx="5603875" cy="1547813"/>
          </a:xfrm>
          <a:custGeom>
            <a:avLst/>
            <a:gdLst/>
            <a:ahLst/>
            <a:cxnLst/>
            <a:rect l="l" t="t" r="r" b="b"/>
            <a:pathLst>
              <a:path w="5603875" h="1547813">
                <a:moveTo>
                  <a:pt x="63507" y="0"/>
                </a:moveTo>
                <a:lnTo>
                  <a:pt x="5540368" y="0"/>
                </a:lnTo>
                <a:cubicBezTo>
                  <a:pt x="5575442" y="0"/>
                  <a:pt x="5603875" y="28433"/>
                  <a:pt x="5603875" y="63507"/>
                </a:cubicBezTo>
                <a:lnTo>
                  <a:pt x="5603875" y="1484306"/>
                </a:lnTo>
                <a:cubicBezTo>
                  <a:pt x="5603875" y="1519380"/>
                  <a:pt x="5575442" y="1547813"/>
                  <a:pt x="5540368" y="1547813"/>
                </a:cubicBezTo>
                <a:lnTo>
                  <a:pt x="63507" y="1547813"/>
                </a:lnTo>
                <a:cubicBezTo>
                  <a:pt x="28433" y="1547813"/>
                  <a:pt x="0" y="1519380"/>
                  <a:pt x="0" y="1484306"/>
                </a:cubicBezTo>
                <a:lnTo>
                  <a:pt x="0" y="63507"/>
                </a:lnTo>
                <a:cubicBezTo>
                  <a:pt x="0" y="28456"/>
                  <a:pt x="28456" y="0"/>
                  <a:pt x="63507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39750" y="2095302"/>
            <a:ext cx="5461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750" y="2285702"/>
            <a:ext cx="5453063" cy="1055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"features": [1.0, 0.5, 3.2, 7.1, ...],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"modelId": "credit-risk",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"requestId": "trade-req-abc123",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"metadata":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"dealId": "CLO-2026-042",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"trancheId": "A1",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"source": "pricing-engine"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43625" y="2000052"/>
            <a:ext cx="5603875" cy="1547813"/>
          </a:xfrm>
          <a:custGeom>
            <a:avLst/>
            <a:gdLst/>
            <a:ahLst/>
            <a:cxnLst/>
            <a:rect l="l" t="t" r="r" b="b"/>
            <a:pathLst>
              <a:path w="5603875" h="1547813">
                <a:moveTo>
                  <a:pt x="63507" y="0"/>
                </a:moveTo>
                <a:lnTo>
                  <a:pt x="5540368" y="0"/>
                </a:lnTo>
                <a:cubicBezTo>
                  <a:pt x="5575442" y="0"/>
                  <a:pt x="5603875" y="28433"/>
                  <a:pt x="5603875" y="63507"/>
                </a:cubicBezTo>
                <a:lnTo>
                  <a:pt x="5603875" y="1484306"/>
                </a:lnTo>
                <a:cubicBezTo>
                  <a:pt x="5603875" y="1519380"/>
                  <a:pt x="5575442" y="1547813"/>
                  <a:pt x="5540368" y="1547813"/>
                </a:cubicBezTo>
                <a:lnTo>
                  <a:pt x="63507" y="1547813"/>
                </a:lnTo>
                <a:cubicBezTo>
                  <a:pt x="28433" y="1547813"/>
                  <a:pt x="0" y="1519380"/>
                  <a:pt x="0" y="1484306"/>
                </a:cubicBezTo>
                <a:lnTo>
                  <a:pt x="0" y="63507"/>
                </a:lnTo>
                <a:cubicBezTo>
                  <a:pt x="0" y="28456"/>
                  <a:pt x="28456" y="0"/>
                  <a:pt x="63507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21" name="Text 19"/>
          <p:cNvSpPr/>
          <p:nvPr/>
        </p:nvSpPr>
        <p:spPr>
          <a:xfrm>
            <a:off x="6238875" y="2095302"/>
            <a:ext cx="5461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38875" y="2285702"/>
            <a:ext cx="5453063" cy="1166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"requestId": "trade-req-abc123",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"modelId": "credit-risk",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"modelVersion": "2.0.1",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"output": [0.042, 0.958],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"outputLabels": ["default_probability",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   "survival_probability"],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"inferenceLatencyMs": 1.87,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"driftWarning": false,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"traceId": "1-58406520-a0066..."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17500" y="3798392"/>
            <a:ext cx="5715000" cy="6977063"/>
          </a:xfrm>
          <a:custGeom>
            <a:avLst/>
            <a:gdLst/>
            <a:ahLst/>
            <a:cxnLst/>
            <a:rect l="l" t="t" r="r" b="b"/>
            <a:pathLst>
              <a:path w="5715000" h="6977063">
                <a:moveTo>
                  <a:pt x="95269" y="0"/>
                </a:moveTo>
                <a:lnTo>
                  <a:pt x="5619731" y="0"/>
                </a:lnTo>
                <a:cubicBezTo>
                  <a:pt x="5672347" y="0"/>
                  <a:pt x="5715000" y="42653"/>
                  <a:pt x="5715000" y="95269"/>
                </a:cubicBezTo>
                <a:lnTo>
                  <a:pt x="5715000" y="6881793"/>
                </a:lnTo>
                <a:cubicBezTo>
                  <a:pt x="5715000" y="6934409"/>
                  <a:pt x="5672347" y="6977063"/>
                  <a:pt x="5619731" y="6977063"/>
                </a:cubicBezTo>
                <a:lnTo>
                  <a:pt x="95269" y="6977063"/>
                </a:lnTo>
                <a:cubicBezTo>
                  <a:pt x="42653" y="6977063"/>
                  <a:pt x="0" y="6934409"/>
                  <a:pt x="0" y="6881793"/>
                </a:cubicBezTo>
                <a:lnTo>
                  <a:pt x="0" y="95269"/>
                </a:lnTo>
                <a:cubicBezTo>
                  <a:pt x="0" y="42653"/>
                  <a:pt x="42653" y="0"/>
                  <a:pt x="9526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6484" y="3965080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116058" y="58741"/>
                </a:moveTo>
                <a:cubicBezTo>
                  <a:pt x="119462" y="57820"/>
                  <a:pt x="123034" y="59438"/>
                  <a:pt x="124569" y="62592"/>
                </a:cubicBezTo>
                <a:lnTo>
                  <a:pt x="129760" y="73084"/>
                </a:lnTo>
                <a:cubicBezTo>
                  <a:pt x="132634" y="73475"/>
                  <a:pt x="135452" y="74256"/>
                  <a:pt x="138103" y="75344"/>
                </a:cubicBezTo>
                <a:lnTo>
                  <a:pt x="147870" y="68842"/>
                </a:lnTo>
                <a:cubicBezTo>
                  <a:pt x="150800" y="66889"/>
                  <a:pt x="154679" y="67280"/>
                  <a:pt x="157162" y="69763"/>
                </a:cubicBezTo>
                <a:lnTo>
                  <a:pt x="162520" y="75121"/>
                </a:lnTo>
                <a:cubicBezTo>
                  <a:pt x="165004" y="77605"/>
                  <a:pt x="165395" y="81511"/>
                  <a:pt x="163441" y="84413"/>
                </a:cubicBezTo>
                <a:lnTo>
                  <a:pt x="156939" y="94152"/>
                </a:lnTo>
                <a:cubicBezTo>
                  <a:pt x="157469" y="95464"/>
                  <a:pt x="157944" y="96831"/>
                  <a:pt x="158335" y="98254"/>
                </a:cubicBezTo>
                <a:cubicBezTo>
                  <a:pt x="158725" y="99678"/>
                  <a:pt x="158976" y="101073"/>
                  <a:pt x="159172" y="102496"/>
                </a:cubicBezTo>
                <a:lnTo>
                  <a:pt x="169692" y="107686"/>
                </a:lnTo>
                <a:cubicBezTo>
                  <a:pt x="172845" y="109249"/>
                  <a:pt x="174464" y="112821"/>
                  <a:pt x="173543" y="116198"/>
                </a:cubicBezTo>
                <a:lnTo>
                  <a:pt x="171590" y="123509"/>
                </a:lnTo>
                <a:cubicBezTo>
                  <a:pt x="170669" y="126885"/>
                  <a:pt x="167515" y="129174"/>
                  <a:pt x="163999" y="128950"/>
                </a:cubicBezTo>
                <a:lnTo>
                  <a:pt x="152279" y="128197"/>
                </a:lnTo>
                <a:cubicBezTo>
                  <a:pt x="150521" y="130457"/>
                  <a:pt x="148484" y="132550"/>
                  <a:pt x="146168" y="134336"/>
                </a:cubicBezTo>
                <a:lnTo>
                  <a:pt x="146921" y="146028"/>
                </a:lnTo>
                <a:cubicBezTo>
                  <a:pt x="147145" y="149544"/>
                  <a:pt x="144856" y="152726"/>
                  <a:pt x="141480" y="153619"/>
                </a:cubicBezTo>
                <a:lnTo>
                  <a:pt x="134169" y="155572"/>
                </a:lnTo>
                <a:cubicBezTo>
                  <a:pt x="130764" y="156493"/>
                  <a:pt x="127220" y="154874"/>
                  <a:pt x="125657" y="151721"/>
                </a:cubicBezTo>
                <a:lnTo>
                  <a:pt x="120467" y="141229"/>
                </a:lnTo>
                <a:cubicBezTo>
                  <a:pt x="117593" y="140838"/>
                  <a:pt x="114774" y="140057"/>
                  <a:pt x="112123" y="138968"/>
                </a:cubicBezTo>
                <a:lnTo>
                  <a:pt x="102357" y="145470"/>
                </a:lnTo>
                <a:cubicBezTo>
                  <a:pt x="99426" y="147424"/>
                  <a:pt x="95548" y="147033"/>
                  <a:pt x="93064" y="144549"/>
                </a:cubicBezTo>
                <a:lnTo>
                  <a:pt x="87706" y="139192"/>
                </a:lnTo>
                <a:cubicBezTo>
                  <a:pt x="85223" y="136708"/>
                  <a:pt x="84832" y="132829"/>
                  <a:pt x="86785" y="129899"/>
                </a:cubicBezTo>
                <a:lnTo>
                  <a:pt x="93287" y="120132"/>
                </a:lnTo>
                <a:cubicBezTo>
                  <a:pt x="92757" y="118821"/>
                  <a:pt x="92283" y="117453"/>
                  <a:pt x="91892" y="116030"/>
                </a:cubicBezTo>
                <a:cubicBezTo>
                  <a:pt x="91501" y="114607"/>
                  <a:pt x="91250" y="113184"/>
                  <a:pt x="91055" y="111789"/>
                </a:cubicBezTo>
                <a:lnTo>
                  <a:pt x="80535" y="106598"/>
                </a:lnTo>
                <a:cubicBezTo>
                  <a:pt x="77381" y="105035"/>
                  <a:pt x="75791" y="101464"/>
                  <a:pt x="76684" y="98087"/>
                </a:cubicBezTo>
                <a:lnTo>
                  <a:pt x="78637" y="90776"/>
                </a:lnTo>
                <a:cubicBezTo>
                  <a:pt x="79558" y="87399"/>
                  <a:pt x="82711" y="85111"/>
                  <a:pt x="86227" y="85334"/>
                </a:cubicBezTo>
                <a:lnTo>
                  <a:pt x="97920" y="86088"/>
                </a:lnTo>
                <a:cubicBezTo>
                  <a:pt x="99678" y="83827"/>
                  <a:pt x="101715" y="81735"/>
                  <a:pt x="104031" y="79949"/>
                </a:cubicBezTo>
                <a:lnTo>
                  <a:pt x="103277" y="68284"/>
                </a:lnTo>
                <a:cubicBezTo>
                  <a:pt x="103054" y="64768"/>
                  <a:pt x="105342" y="61587"/>
                  <a:pt x="108719" y="60694"/>
                </a:cubicBezTo>
                <a:lnTo>
                  <a:pt x="116030" y="58741"/>
                </a:lnTo>
                <a:close/>
                <a:moveTo>
                  <a:pt x="125127" y="94878"/>
                </a:moveTo>
                <a:cubicBezTo>
                  <a:pt x="118351" y="94886"/>
                  <a:pt x="112855" y="100394"/>
                  <a:pt x="112863" y="107170"/>
                </a:cubicBezTo>
                <a:cubicBezTo>
                  <a:pt x="112871" y="113947"/>
                  <a:pt x="118379" y="119442"/>
                  <a:pt x="125155" y="119435"/>
                </a:cubicBezTo>
                <a:cubicBezTo>
                  <a:pt x="131932" y="119427"/>
                  <a:pt x="137427" y="113919"/>
                  <a:pt x="137420" y="107142"/>
                </a:cubicBezTo>
                <a:cubicBezTo>
                  <a:pt x="137412" y="100366"/>
                  <a:pt x="131904" y="94870"/>
                  <a:pt x="125127" y="94878"/>
                </a:cubicBezTo>
                <a:close/>
                <a:moveTo>
                  <a:pt x="62759" y="-12697"/>
                </a:moveTo>
                <a:lnTo>
                  <a:pt x="70070" y="-10744"/>
                </a:lnTo>
                <a:cubicBezTo>
                  <a:pt x="73447" y="-9823"/>
                  <a:pt x="75735" y="-6641"/>
                  <a:pt x="75512" y="-3153"/>
                </a:cubicBezTo>
                <a:lnTo>
                  <a:pt x="74758" y="8511"/>
                </a:lnTo>
                <a:cubicBezTo>
                  <a:pt x="77074" y="10297"/>
                  <a:pt x="79111" y="12362"/>
                  <a:pt x="80869" y="14650"/>
                </a:cubicBezTo>
                <a:lnTo>
                  <a:pt x="92590" y="13897"/>
                </a:lnTo>
                <a:cubicBezTo>
                  <a:pt x="96078" y="13674"/>
                  <a:pt x="99259" y="15962"/>
                  <a:pt x="100180" y="19338"/>
                </a:cubicBezTo>
                <a:lnTo>
                  <a:pt x="102133" y="26650"/>
                </a:lnTo>
                <a:cubicBezTo>
                  <a:pt x="103026" y="30026"/>
                  <a:pt x="101436" y="33598"/>
                  <a:pt x="98282" y="35161"/>
                </a:cubicBezTo>
                <a:lnTo>
                  <a:pt x="87762" y="40351"/>
                </a:lnTo>
                <a:cubicBezTo>
                  <a:pt x="87567" y="41774"/>
                  <a:pt x="87288" y="43197"/>
                  <a:pt x="86925" y="44593"/>
                </a:cubicBezTo>
                <a:cubicBezTo>
                  <a:pt x="86562" y="45988"/>
                  <a:pt x="86060" y="47383"/>
                  <a:pt x="85530" y="48695"/>
                </a:cubicBezTo>
                <a:lnTo>
                  <a:pt x="92032" y="58462"/>
                </a:lnTo>
                <a:cubicBezTo>
                  <a:pt x="93985" y="61392"/>
                  <a:pt x="93594" y="65270"/>
                  <a:pt x="91111" y="67754"/>
                </a:cubicBezTo>
                <a:lnTo>
                  <a:pt x="85753" y="73112"/>
                </a:lnTo>
                <a:cubicBezTo>
                  <a:pt x="83269" y="75595"/>
                  <a:pt x="79391" y="75986"/>
                  <a:pt x="76460" y="74033"/>
                </a:cubicBezTo>
                <a:lnTo>
                  <a:pt x="66694" y="67531"/>
                </a:lnTo>
                <a:cubicBezTo>
                  <a:pt x="64043" y="68619"/>
                  <a:pt x="61224" y="69400"/>
                  <a:pt x="58350" y="69791"/>
                </a:cubicBezTo>
                <a:lnTo>
                  <a:pt x="53160" y="80283"/>
                </a:lnTo>
                <a:cubicBezTo>
                  <a:pt x="51597" y="83437"/>
                  <a:pt x="48025" y="85027"/>
                  <a:pt x="44648" y="84134"/>
                </a:cubicBezTo>
                <a:lnTo>
                  <a:pt x="37337" y="82181"/>
                </a:lnTo>
                <a:cubicBezTo>
                  <a:pt x="33933" y="81260"/>
                  <a:pt x="31672" y="78079"/>
                  <a:pt x="31896" y="74591"/>
                </a:cubicBezTo>
                <a:lnTo>
                  <a:pt x="32649" y="62898"/>
                </a:lnTo>
                <a:cubicBezTo>
                  <a:pt x="30333" y="61113"/>
                  <a:pt x="28296" y="59048"/>
                  <a:pt x="26538" y="56759"/>
                </a:cubicBezTo>
                <a:lnTo>
                  <a:pt x="14818" y="57513"/>
                </a:lnTo>
                <a:cubicBezTo>
                  <a:pt x="11330" y="57736"/>
                  <a:pt x="8148" y="55448"/>
                  <a:pt x="7227" y="52071"/>
                </a:cubicBezTo>
                <a:lnTo>
                  <a:pt x="5274" y="44760"/>
                </a:lnTo>
                <a:cubicBezTo>
                  <a:pt x="4381" y="41384"/>
                  <a:pt x="5972" y="37812"/>
                  <a:pt x="9125" y="36249"/>
                </a:cubicBezTo>
                <a:lnTo>
                  <a:pt x="19645" y="31059"/>
                </a:lnTo>
                <a:cubicBezTo>
                  <a:pt x="19841" y="29635"/>
                  <a:pt x="20120" y="28240"/>
                  <a:pt x="20482" y="26817"/>
                </a:cubicBezTo>
                <a:cubicBezTo>
                  <a:pt x="20873" y="25394"/>
                  <a:pt x="21320" y="24026"/>
                  <a:pt x="21878" y="22715"/>
                </a:cubicBezTo>
                <a:lnTo>
                  <a:pt x="15376" y="12976"/>
                </a:lnTo>
                <a:cubicBezTo>
                  <a:pt x="13422" y="10046"/>
                  <a:pt x="13813" y="6167"/>
                  <a:pt x="16297" y="3683"/>
                </a:cubicBezTo>
                <a:lnTo>
                  <a:pt x="21654" y="-1674"/>
                </a:lnTo>
                <a:cubicBezTo>
                  <a:pt x="24138" y="-4158"/>
                  <a:pt x="28017" y="-4549"/>
                  <a:pt x="30947" y="-2595"/>
                </a:cubicBezTo>
                <a:lnTo>
                  <a:pt x="40714" y="3907"/>
                </a:lnTo>
                <a:cubicBezTo>
                  <a:pt x="43365" y="2818"/>
                  <a:pt x="46183" y="2037"/>
                  <a:pt x="49057" y="1646"/>
                </a:cubicBezTo>
                <a:lnTo>
                  <a:pt x="54248" y="-8846"/>
                </a:lnTo>
                <a:cubicBezTo>
                  <a:pt x="55811" y="-11999"/>
                  <a:pt x="59355" y="-13590"/>
                  <a:pt x="62759" y="-12697"/>
                </a:cubicBezTo>
                <a:close/>
                <a:moveTo>
                  <a:pt x="53690" y="23440"/>
                </a:moveTo>
                <a:cubicBezTo>
                  <a:pt x="46913" y="23440"/>
                  <a:pt x="41411" y="28942"/>
                  <a:pt x="41411" y="35719"/>
                </a:cubicBezTo>
                <a:cubicBezTo>
                  <a:pt x="41411" y="42495"/>
                  <a:pt x="46913" y="47997"/>
                  <a:pt x="53690" y="47997"/>
                </a:cubicBezTo>
                <a:cubicBezTo>
                  <a:pt x="60466" y="47997"/>
                  <a:pt x="65968" y="42495"/>
                  <a:pt x="65968" y="35719"/>
                </a:cubicBezTo>
                <a:cubicBezTo>
                  <a:pt x="65968" y="28942"/>
                  <a:pt x="60466" y="23440"/>
                  <a:pt x="53690" y="2344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5" name="Text 23"/>
          <p:cNvSpPr/>
          <p:nvPr/>
        </p:nvSpPr>
        <p:spPr>
          <a:xfrm>
            <a:off x="627063" y="3925392"/>
            <a:ext cx="534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InferenceService.java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4500" y="4242892"/>
            <a:ext cx="5461000" cy="6405563"/>
          </a:xfrm>
          <a:custGeom>
            <a:avLst/>
            <a:gdLst/>
            <a:ahLst/>
            <a:cxnLst/>
            <a:rect l="l" t="t" r="r" b="b"/>
            <a:pathLst>
              <a:path w="5461000" h="6405563">
                <a:moveTo>
                  <a:pt x="63511" y="0"/>
                </a:moveTo>
                <a:lnTo>
                  <a:pt x="5397489" y="0"/>
                </a:lnTo>
                <a:cubicBezTo>
                  <a:pt x="5432565" y="0"/>
                  <a:pt x="5461000" y="28435"/>
                  <a:pt x="5461000" y="63511"/>
                </a:cubicBezTo>
                <a:lnTo>
                  <a:pt x="5461000" y="6342051"/>
                </a:lnTo>
                <a:cubicBezTo>
                  <a:pt x="5461000" y="6377127"/>
                  <a:pt x="5432565" y="6405563"/>
                  <a:pt x="5397489" y="6405563"/>
                </a:cubicBezTo>
                <a:lnTo>
                  <a:pt x="63511" y="6405563"/>
                </a:lnTo>
                <a:cubicBezTo>
                  <a:pt x="28435" y="6405563"/>
                  <a:pt x="0" y="6377127"/>
                  <a:pt x="0" y="6342051"/>
                </a:cubicBezTo>
                <a:lnTo>
                  <a:pt x="0" y="63511"/>
                </a:lnTo>
                <a:cubicBezTo>
                  <a:pt x="0" y="28435"/>
                  <a:pt x="28435" y="0"/>
                  <a:pt x="63511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539750" y="4338142"/>
            <a:ext cx="5318125" cy="6215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@Service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 class InferenceService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public InferenceResponse infer(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String modelId,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InferenceRequest request)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long startNs = System.nanoTime();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// Lock-free read from registry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RegisteredModel model = registry.get(modelId);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ModelDefinition def = model.definition();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// Build float tensor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OnnxTensor inputTensor = OnnxTensor.createTensor(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OrtEnvironment.getEnvironment(),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FloatBuffer.wrap(request.getFeatures()),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def.getInputShape()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// Run ONNX inference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float[] output;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try (OrtSession.Result result =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model.session().run(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    Map.of(def.getInputName(),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           inputTensor)))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output = ((float[][])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result.get(def.getOutputName())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      .get().getValue())[0];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double latencyMs =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(System.nanoTime() - startNs) / 1_000_000.0;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metrics.recordInference(modelId,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                latencyMs, true);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// Async drift check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boolean driftWarning =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driftDetection.checkAsync(modelId,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request.getFeatures());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return InferenceResponse.builder()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.requestId(request.getRequestId())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.modelId(modelId)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.modelVersion(def.getVersion())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.output(output)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.inferenceLatencyMs(latencyMs)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.driftWarning(driftWarning)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.build();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59500" y="3798392"/>
            <a:ext cx="5715000" cy="6977063"/>
          </a:xfrm>
          <a:custGeom>
            <a:avLst/>
            <a:gdLst/>
            <a:ahLst/>
            <a:cxnLst/>
            <a:rect l="l" t="t" r="r" b="b"/>
            <a:pathLst>
              <a:path w="5715000" h="6977063">
                <a:moveTo>
                  <a:pt x="95269" y="0"/>
                </a:moveTo>
                <a:lnTo>
                  <a:pt x="5619731" y="0"/>
                </a:lnTo>
                <a:cubicBezTo>
                  <a:pt x="5672347" y="0"/>
                  <a:pt x="5715000" y="42653"/>
                  <a:pt x="5715000" y="95269"/>
                </a:cubicBezTo>
                <a:lnTo>
                  <a:pt x="5715000" y="6881793"/>
                </a:lnTo>
                <a:cubicBezTo>
                  <a:pt x="5715000" y="6934409"/>
                  <a:pt x="5672347" y="6977063"/>
                  <a:pt x="5619731" y="6977063"/>
                </a:cubicBezTo>
                <a:lnTo>
                  <a:pt x="95269" y="6977063"/>
                </a:lnTo>
                <a:cubicBezTo>
                  <a:pt x="42653" y="6977063"/>
                  <a:pt x="0" y="6934409"/>
                  <a:pt x="0" y="6881793"/>
                </a:cubicBezTo>
                <a:lnTo>
                  <a:pt x="0" y="95269"/>
                </a:lnTo>
                <a:cubicBezTo>
                  <a:pt x="0" y="42653"/>
                  <a:pt x="42653" y="0"/>
                  <a:pt x="9526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6344" y="396508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5" y="26789"/>
                </a:moveTo>
                <a:cubicBezTo>
                  <a:pt x="142875" y="40798"/>
                  <a:pt x="126383" y="61699"/>
                  <a:pt x="119267" y="70042"/>
                </a:cubicBezTo>
                <a:cubicBezTo>
                  <a:pt x="118207" y="71270"/>
                  <a:pt x="116644" y="71744"/>
                  <a:pt x="115221" y="71438"/>
                </a:cubicBezTo>
                <a:lnTo>
                  <a:pt x="89297" y="71438"/>
                </a:lnTo>
                <a:cubicBezTo>
                  <a:pt x="84358" y="71438"/>
                  <a:pt x="80367" y="75428"/>
                  <a:pt x="80367" y="80367"/>
                </a:cubicBezTo>
                <a:cubicBezTo>
                  <a:pt x="80367" y="85306"/>
                  <a:pt x="84358" y="89297"/>
                  <a:pt x="89297" y="89297"/>
                </a:cubicBezTo>
                <a:lnTo>
                  <a:pt x="116086" y="89297"/>
                </a:lnTo>
                <a:cubicBezTo>
                  <a:pt x="130876" y="89297"/>
                  <a:pt x="142875" y="101296"/>
                  <a:pt x="142875" y="116086"/>
                </a:cubicBezTo>
                <a:cubicBezTo>
                  <a:pt x="142875" y="130876"/>
                  <a:pt x="130876" y="142875"/>
                  <a:pt x="116086" y="142875"/>
                </a:cubicBezTo>
                <a:lnTo>
                  <a:pt x="38956" y="142875"/>
                </a:lnTo>
                <a:cubicBezTo>
                  <a:pt x="41384" y="140112"/>
                  <a:pt x="44341" y="136568"/>
                  <a:pt x="47327" y="132606"/>
                </a:cubicBezTo>
                <a:cubicBezTo>
                  <a:pt x="49085" y="130262"/>
                  <a:pt x="50899" y="127695"/>
                  <a:pt x="52629" y="125016"/>
                </a:cubicBezTo>
                <a:lnTo>
                  <a:pt x="116086" y="125016"/>
                </a:lnTo>
                <a:cubicBezTo>
                  <a:pt x="121025" y="125016"/>
                  <a:pt x="125016" y="121025"/>
                  <a:pt x="125016" y="116086"/>
                </a:cubicBezTo>
                <a:cubicBezTo>
                  <a:pt x="125016" y="111147"/>
                  <a:pt x="121025" y="107156"/>
                  <a:pt x="116086" y="107156"/>
                </a:cubicBezTo>
                <a:lnTo>
                  <a:pt x="89297" y="107156"/>
                </a:lnTo>
                <a:cubicBezTo>
                  <a:pt x="74507" y="107156"/>
                  <a:pt x="62508" y="95157"/>
                  <a:pt x="62508" y="80367"/>
                </a:cubicBezTo>
                <a:cubicBezTo>
                  <a:pt x="62508" y="65577"/>
                  <a:pt x="74507" y="53578"/>
                  <a:pt x="89297" y="53578"/>
                </a:cubicBezTo>
                <a:lnTo>
                  <a:pt x="100403" y="53578"/>
                </a:lnTo>
                <a:cubicBezTo>
                  <a:pt x="94543" y="44788"/>
                  <a:pt x="89297" y="34686"/>
                  <a:pt x="89297" y="26789"/>
                </a:cubicBezTo>
                <a:cubicBezTo>
                  <a:pt x="89297" y="11999"/>
                  <a:pt x="101296" y="0"/>
                  <a:pt x="116086" y="0"/>
                </a:cubicBezTo>
                <a:cubicBezTo>
                  <a:pt x="130876" y="0"/>
                  <a:pt x="142875" y="11999"/>
                  <a:pt x="142875" y="26789"/>
                </a:cubicBezTo>
                <a:close/>
                <a:moveTo>
                  <a:pt x="32677" y="136485"/>
                </a:moveTo>
                <a:cubicBezTo>
                  <a:pt x="31617" y="137685"/>
                  <a:pt x="30668" y="138745"/>
                  <a:pt x="29859" y="139638"/>
                </a:cubicBezTo>
                <a:lnTo>
                  <a:pt x="29356" y="140196"/>
                </a:lnTo>
                <a:lnTo>
                  <a:pt x="29301" y="140140"/>
                </a:lnTo>
                <a:cubicBezTo>
                  <a:pt x="27626" y="141424"/>
                  <a:pt x="25226" y="141256"/>
                  <a:pt x="23719" y="139638"/>
                </a:cubicBezTo>
                <a:cubicBezTo>
                  <a:pt x="16687" y="131992"/>
                  <a:pt x="0" y="112319"/>
                  <a:pt x="0" y="98227"/>
                </a:cubicBezTo>
                <a:cubicBezTo>
                  <a:pt x="0" y="83437"/>
                  <a:pt x="11999" y="71438"/>
                  <a:pt x="26789" y="71438"/>
                </a:cubicBezTo>
                <a:cubicBezTo>
                  <a:pt x="41579" y="71438"/>
                  <a:pt x="53578" y="83437"/>
                  <a:pt x="53578" y="98227"/>
                </a:cubicBezTo>
                <a:cubicBezTo>
                  <a:pt x="53578" y="106598"/>
                  <a:pt x="47690" y="116923"/>
                  <a:pt x="41439" y="125546"/>
                </a:cubicBezTo>
                <a:cubicBezTo>
                  <a:pt x="38453" y="129648"/>
                  <a:pt x="35384" y="133359"/>
                  <a:pt x="32845" y="136289"/>
                </a:cubicBezTo>
                <a:lnTo>
                  <a:pt x="32677" y="136485"/>
                </a:lnTo>
                <a:close/>
                <a:moveTo>
                  <a:pt x="35719" y="98227"/>
                </a:moveTo>
                <a:cubicBezTo>
                  <a:pt x="35719" y="93298"/>
                  <a:pt x="31717" y="89297"/>
                  <a:pt x="26789" y="89297"/>
                </a:cubicBezTo>
                <a:cubicBezTo>
                  <a:pt x="21861" y="89297"/>
                  <a:pt x="17859" y="93298"/>
                  <a:pt x="17859" y="98227"/>
                </a:cubicBezTo>
                <a:cubicBezTo>
                  <a:pt x="17859" y="103155"/>
                  <a:pt x="21861" y="107156"/>
                  <a:pt x="26789" y="107156"/>
                </a:cubicBezTo>
                <a:cubicBezTo>
                  <a:pt x="31717" y="107156"/>
                  <a:pt x="35719" y="103155"/>
                  <a:pt x="35719" y="98227"/>
                </a:cubicBezTo>
                <a:close/>
                <a:moveTo>
                  <a:pt x="116086" y="35719"/>
                </a:moveTo>
                <a:cubicBezTo>
                  <a:pt x="121014" y="35719"/>
                  <a:pt x="125016" y="31717"/>
                  <a:pt x="125016" y="26789"/>
                </a:cubicBezTo>
                <a:cubicBezTo>
                  <a:pt x="125016" y="21861"/>
                  <a:pt x="121014" y="17859"/>
                  <a:pt x="116086" y="17859"/>
                </a:cubicBezTo>
                <a:cubicBezTo>
                  <a:pt x="111158" y="17859"/>
                  <a:pt x="107156" y="21861"/>
                  <a:pt x="107156" y="26789"/>
                </a:cubicBezTo>
                <a:cubicBezTo>
                  <a:pt x="107156" y="31717"/>
                  <a:pt x="111158" y="35719"/>
                  <a:pt x="116086" y="35719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0" name="Text 28"/>
          <p:cNvSpPr/>
          <p:nvPr/>
        </p:nvSpPr>
        <p:spPr>
          <a:xfrm>
            <a:off x="6469063" y="3925392"/>
            <a:ext cx="534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ModelRouter.java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86500" y="4242892"/>
            <a:ext cx="5461000" cy="6056313"/>
          </a:xfrm>
          <a:custGeom>
            <a:avLst/>
            <a:gdLst/>
            <a:ahLst/>
            <a:cxnLst/>
            <a:rect l="l" t="t" r="r" b="b"/>
            <a:pathLst>
              <a:path w="5461000" h="6056313">
                <a:moveTo>
                  <a:pt x="63511" y="0"/>
                </a:moveTo>
                <a:lnTo>
                  <a:pt x="5397489" y="0"/>
                </a:lnTo>
                <a:cubicBezTo>
                  <a:pt x="5432565" y="0"/>
                  <a:pt x="5461000" y="28435"/>
                  <a:pt x="5461000" y="63511"/>
                </a:cubicBezTo>
                <a:lnTo>
                  <a:pt x="5461000" y="5992801"/>
                </a:lnTo>
                <a:cubicBezTo>
                  <a:pt x="5461000" y="6027877"/>
                  <a:pt x="5432565" y="6056313"/>
                  <a:pt x="5397489" y="6056313"/>
                </a:cubicBezTo>
                <a:lnTo>
                  <a:pt x="63511" y="6056313"/>
                </a:lnTo>
                <a:cubicBezTo>
                  <a:pt x="28435" y="6056313"/>
                  <a:pt x="0" y="6027877"/>
                  <a:pt x="0" y="5992801"/>
                </a:cubicBezTo>
                <a:lnTo>
                  <a:pt x="0" y="63511"/>
                </a:lnTo>
                <a:cubicBezTo>
                  <a:pt x="0" y="28435"/>
                  <a:pt x="28435" y="0"/>
                  <a:pt x="63511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2" name="Text 30"/>
          <p:cNvSpPr/>
          <p:nvPr/>
        </p:nvSpPr>
        <p:spPr>
          <a:xfrm>
            <a:off x="6381750" y="4338142"/>
            <a:ext cx="5318125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@Component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 class ModelRouter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/**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* Resolution order: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* 1. modelId in request body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* 2. Default model from SSM config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* 3. If exactly one model loaded,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*    use it automatically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*/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public String resolve(InferenceRequest request)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if (StringUtils.hasText(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request.getModelId()))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return request.getModelId();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if (StringUtils.hasText(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properties.getDefaultModelId()))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return properties.getDefaultModelId();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List all =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registry.listAll();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if (all.size() == 1)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return all.get(0).definition().getId();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throw new ModelRoutingException(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"Multiple models loaded — specify " +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"modelId in request body or set " +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"default-model-id in SSM config");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86500" y="10397629"/>
            <a:ext cx="5461000" cy="254000"/>
          </a:xfrm>
          <a:custGeom>
            <a:avLst/>
            <a:gdLst/>
            <a:ahLst/>
            <a:cxnLst/>
            <a:rect l="l" t="t" r="r" b="b"/>
            <a:pathLst>
              <a:path w="5461000" h="254000">
                <a:moveTo>
                  <a:pt x="63500" y="0"/>
                </a:moveTo>
                <a:lnTo>
                  <a:pt x="5397500" y="0"/>
                </a:lnTo>
                <a:cubicBezTo>
                  <a:pt x="5432547" y="0"/>
                  <a:pt x="5461000" y="28453"/>
                  <a:pt x="5461000" y="63500"/>
                </a:cubicBezTo>
                <a:lnTo>
                  <a:pt x="5461000" y="190500"/>
                </a:lnTo>
                <a:cubicBezTo>
                  <a:pt x="5461000" y="225547"/>
                  <a:pt x="5432547" y="254000"/>
                  <a:pt x="5397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50000" y="10461129"/>
            <a:ext cx="5381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Resolution Priority: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Explicit → Default → Auto-single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96875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317500"/>
            <a:ext cx="4429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/ OBSERVABILITY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476250"/>
            <a:ext cx="4516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&amp; Performance Tracking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920750"/>
            <a:ext cx="5715000" cy="6540500"/>
          </a:xfrm>
          <a:custGeom>
            <a:avLst/>
            <a:gdLst/>
            <a:ahLst/>
            <a:cxnLst/>
            <a:rect l="l" t="t" r="r" b="b"/>
            <a:pathLst>
              <a:path w="5715000" h="6540500">
                <a:moveTo>
                  <a:pt x="95269" y="0"/>
                </a:moveTo>
                <a:lnTo>
                  <a:pt x="5619731" y="0"/>
                </a:lnTo>
                <a:cubicBezTo>
                  <a:pt x="5672347" y="0"/>
                  <a:pt x="5715000" y="42653"/>
                  <a:pt x="5715000" y="95269"/>
                </a:cubicBezTo>
                <a:lnTo>
                  <a:pt x="5715000" y="6445231"/>
                </a:lnTo>
                <a:cubicBezTo>
                  <a:pt x="5715000" y="6497847"/>
                  <a:pt x="5672347" y="6540500"/>
                  <a:pt x="5619731" y="6540500"/>
                </a:cubicBezTo>
                <a:lnTo>
                  <a:pt x="95269" y="6540500"/>
                </a:lnTo>
                <a:cubicBezTo>
                  <a:pt x="42653" y="6540500"/>
                  <a:pt x="0" y="6497847"/>
                  <a:pt x="0" y="6445231"/>
                </a:cubicBezTo>
                <a:lnTo>
                  <a:pt x="0" y="95269"/>
                </a:lnTo>
                <a:cubicBezTo>
                  <a:pt x="0" y="42653"/>
                  <a:pt x="42653" y="0"/>
                  <a:pt x="9526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4344" y="108743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7859" y="17859"/>
                </a:moveTo>
                <a:cubicBezTo>
                  <a:pt x="17859" y="12920"/>
                  <a:pt x="13869" y="8930"/>
                  <a:pt x="8930" y="8930"/>
                </a:cubicBezTo>
                <a:cubicBezTo>
                  <a:pt x="3990" y="8930"/>
                  <a:pt x="0" y="12920"/>
                  <a:pt x="0" y="17859"/>
                </a:cubicBezTo>
                <a:lnTo>
                  <a:pt x="0" y="111621"/>
                </a:lnTo>
                <a:cubicBezTo>
                  <a:pt x="0" y="123955"/>
                  <a:pt x="9990" y="133945"/>
                  <a:pt x="22324" y="133945"/>
                </a:cubicBezTo>
                <a:lnTo>
                  <a:pt x="133945" y="133945"/>
                </a:lnTo>
                <a:cubicBezTo>
                  <a:pt x="138885" y="133945"/>
                  <a:pt x="142875" y="129955"/>
                  <a:pt x="142875" y="125016"/>
                </a:cubicBezTo>
                <a:cubicBezTo>
                  <a:pt x="142875" y="120076"/>
                  <a:pt x="138885" y="116086"/>
                  <a:pt x="133945" y="116086"/>
                </a:cubicBezTo>
                <a:lnTo>
                  <a:pt x="22324" y="116086"/>
                </a:lnTo>
                <a:cubicBezTo>
                  <a:pt x="19869" y="116086"/>
                  <a:pt x="17859" y="114077"/>
                  <a:pt x="17859" y="111621"/>
                </a:cubicBezTo>
                <a:lnTo>
                  <a:pt x="17859" y="17859"/>
                </a:lnTo>
                <a:close/>
                <a:moveTo>
                  <a:pt x="131322" y="42025"/>
                </a:moveTo>
                <a:cubicBezTo>
                  <a:pt x="134810" y="38537"/>
                  <a:pt x="134810" y="32872"/>
                  <a:pt x="131322" y="29384"/>
                </a:cubicBezTo>
                <a:cubicBezTo>
                  <a:pt x="127834" y="25896"/>
                  <a:pt x="122169" y="25896"/>
                  <a:pt x="118681" y="29384"/>
                </a:cubicBezTo>
                <a:lnTo>
                  <a:pt x="89297" y="58796"/>
                </a:lnTo>
                <a:lnTo>
                  <a:pt x="73279" y="42807"/>
                </a:lnTo>
                <a:cubicBezTo>
                  <a:pt x="69791" y="39319"/>
                  <a:pt x="64126" y="39319"/>
                  <a:pt x="60638" y="42807"/>
                </a:cubicBezTo>
                <a:lnTo>
                  <a:pt x="33849" y="69596"/>
                </a:lnTo>
                <a:cubicBezTo>
                  <a:pt x="30361" y="73084"/>
                  <a:pt x="30361" y="78749"/>
                  <a:pt x="33849" y="82237"/>
                </a:cubicBezTo>
                <a:cubicBezTo>
                  <a:pt x="37337" y="85725"/>
                  <a:pt x="43002" y="85725"/>
                  <a:pt x="46490" y="82237"/>
                </a:cubicBezTo>
                <a:lnTo>
                  <a:pt x="66973" y="61754"/>
                </a:lnTo>
                <a:lnTo>
                  <a:pt x="82990" y="77772"/>
                </a:lnTo>
                <a:cubicBezTo>
                  <a:pt x="86478" y="81260"/>
                  <a:pt x="92143" y="81260"/>
                  <a:pt x="95631" y="77772"/>
                </a:cubicBezTo>
                <a:lnTo>
                  <a:pt x="131350" y="42053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627063" y="1047750"/>
            <a:ext cx="534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Metrics — CloudWatch + Prometheus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4500" y="1333500"/>
            <a:ext cx="5461000" cy="2857500"/>
          </a:xfrm>
          <a:custGeom>
            <a:avLst/>
            <a:gdLst/>
            <a:ahLst/>
            <a:cxnLst/>
            <a:rect l="l" t="t" r="r" b="b"/>
            <a:pathLst>
              <a:path w="5461000" h="2857500">
                <a:moveTo>
                  <a:pt x="63494" y="0"/>
                </a:moveTo>
                <a:lnTo>
                  <a:pt x="5397506" y="0"/>
                </a:lnTo>
                <a:cubicBezTo>
                  <a:pt x="5432573" y="0"/>
                  <a:pt x="5461000" y="28427"/>
                  <a:pt x="5461000" y="63494"/>
                </a:cubicBezTo>
                <a:lnTo>
                  <a:pt x="5461000" y="2794006"/>
                </a:lnTo>
                <a:cubicBezTo>
                  <a:pt x="5461000" y="2829073"/>
                  <a:pt x="5432573" y="2857500"/>
                  <a:pt x="5397506" y="2857500"/>
                </a:cubicBezTo>
                <a:lnTo>
                  <a:pt x="63494" y="2857500"/>
                </a:lnTo>
                <a:cubicBezTo>
                  <a:pt x="28427" y="2857500"/>
                  <a:pt x="0" y="2829073"/>
                  <a:pt x="0" y="27940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539750" y="1428750"/>
            <a:ext cx="5318125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@Component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 class InferenceMetrics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public void recordInference(String modelId,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                double latencyMs,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                boolean success)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Timer.builder("inference.latency")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.tag("model_id", modelId)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.tag("success", String.valueOf(success))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.publishPercentiles(0.50, 0.90,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                0.95, 0.99)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.publishPercentileHistogram()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.register(registry)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.record(Duration.ofNanos(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    (long)(latencyMs * 1_000_000)));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Counter.builder("inference.requests.total")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.tag("model_id", modelId)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.tag("success", String.valueOf(success))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.register(registry).increment();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4500" y="4252419"/>
            <a:ext cx="551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 Alarms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4500" y="4442919"/>
            <a:ext cx="5461000" cy="230188"/>
          </a:xfrm>
          <a:custGeom>
            <a:avLst/>
            <a:gdLst/>
            <a:ahLst/>
            <a:cxnLst/>
            <a:rect l="l" t="t" r="r" b="b"/>
            <a:pathLst>
              <a:path w="5461000" h="230188">
                <a:moveTo>
                  <a:pt x="31750" y="0"/>
                </a:moveTo>
                <a:lnTo>
                  <a:pt x="5429250" y="0"/>
                </a:lnTo>
                <a:cubicBezTo>
                  <a:pt x="5446785" y="0"/>
                  <a:pt x="5461000" y="14215"/>
                  <a:pt x="5461000" y="31750"/>
                </a:cubicBezTo>
                <a:lnTo>
                  <a:pt x="5461000" y="198438"/>
                </a:lnTo>
                <a:cubicBezTo>
                  <a:pt x="5461000" y="215973"/>
                  <a:pt x="5446785" y="230188"/>
                  <a:pt x="5429250" y="230188"/>
                </a:cubicBezTo>
                <a:lnTo>
                  <a:pt x="31750" y="230188"/>
                </a:lnTo>
                <a:cubicBezTo>
                  <a:pt x="14215" y="230188"/>
                  <a:pt x="0" y="215973"/>
                  <a:pt x="0" y="198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92125" y="4495799"/>
            <a:ext cx="952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InferenceP99Latency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75795" y="4490544"/>
            <a:ext cx="1079500" cy="134938"/>
          </a:xfrm>
          <a:custGeom>
            <a:avLst/>
            <a:gdLst/>
            <a:ahLst/>
            <a:cxnLst/>
            <a:rect l="l" t="t" r="r" b="b"/>
            <a:pathLst>
              <a:path w="1079500" h="134938">
                <a:moveTo>
                  <a:pt x="31749" y="0"/>
                </a:moveTo>
                <a:lnTo>
                  <a:pt x="1047751" y="0"/>
                </a:lnTo>
                <a:cubicBezTo>
                  <a:pt x="1065285" y="0"/>
                  <a:pt x="1079500" y="14215"/>
                  <a:pt x="1079500" y="31749"/>
                </a:cubicBezTo>
                <a:lnTo>
                  <a:pt x="1079500" y="103188"/>
                </a:lnTo>
                <a:cubicBezTo>
                  <a:pt x="1079500" y="120723"/>
                  <a:pt x="1065285" y="134937"/>
                  <a:pt x="1047751" y="134938"/>
                </a:cubicBezTo>
                <a:lnTo>
                  <a:pt x="31749" y="134938"/>
                </a:lnTo>
                <a:cubicBezTo>
                  <a:pt x="14215" y="134938"/>
                  <a:pt x="0" y="120723"/>
                  <a:pt x="0" y="103188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775795" y="4490544"/>
            <a:ext cx="1119188" cy="134938"/>
          </a:xfrm>
          <a:prstGeom prst="rect">
            <a:avLst/>
          </a:prstGeom>
          <a:noFill/>
          <a:ln/>
        </p:spPr>
        <p:txBody>
          <a:bodyPr wrap="square" lIns="63500" tIns="15875" rIns="63500" bIns="15875" rtlCol="0" anchor="ctr"/>
          <a:lstStyle/>
          <a:p>
            <a:pPr>
              <a:lnSpc>
                <a:spcPct val="110000"/>
              </a:lnSpc>
            </a:pPr>
            <a:r>
              <a:rPr lang="en-US" sz="62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P99 &gt; 500ms → PagerDuty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4500" y="4707434"/>
            <a:ext cx="5461000" cy="230188"/>
          </a:xfrm>
          <a:custGeom>
            <a:avLst/>
            <a:gdLst/>
            <a:ahLst/>
            <a:cxnLst/>
            <a:rect l="l" t="t" r="r" b="b"/>
            <a:pathLst>
              <a:path w="5461000" h="230188">
                <a:moveTo>
                  <a:pt x="31750" y="0"/>
                </a:moveTo>
                <a:lnTo>
                  <a:pt x="5429250" y="0"/>
                </a:lnTo>
                <a:cubicBezTo>
                  <a:pt x="5446785" y="0"/>
                  <a:pt x="5461000" y="14215"/>
                  <a:pt x="5461000" y="31750"/>
                </a:cubicBezTo>
                <a:lnTo>
                  <a:pt x="5461000" y="198438"/>
                </a:lnTo>
                <a:cubicBezTo>
                  <a:pt x="5461000" y="215973"/>
                  <a:pt x="5446785" y="230188"/>
                  <a:pt x="5429250" y="230188"/>
                </a:cubicBezTo>
                <a:lnTo>
                  <a:pt x="31750" y="230188"/>
                </a:lnTo>
                <a:cubicBezTo>
                  <a:pt x="14215" y="230188"/>
                  <a:pt x="0" y="215973"/>
                  <a:pt x="0" y="198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492125" y="4760318"/>
            <a:ext cx="841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InferenceErrorRate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93692" y="4755059"/>
            <a:ext cx="762000" cy="134938"/>
          </a:xfrm>
          <a:custGeom>
            <a:avLst/>
            <a:gdLst/>
            <a:ahLst/>
            <a:cxnLst/>
            <a:rect l="l" t="t" r="r" b="b"/>
            <a:pathLst>
              <a:path w="762000" h="134938">
                <a:moveTo>
                  <a:pt x="31749" y="0"/>
                </a:moveTo>
                <a:lnTo>
                  <a:pt x="730251" y="0"/>
                </a:lnTo>
                <a:cubicBezTo>
                  <a:pt x="747785" y="0"/>
                  <a:pt x="762000" y="14215"/>
                  <a:pt x="762000" y="31749"/>
                </a:cubicBezTo>
                <a:lnTo>
                  <a:pt x="762000" y="103188"/>
                </a:lnTo>
                <a:cubicBezTo>
                  <a:pt x="762000" y="120723"/>
                  <a:pt x="747785" y="134937"/>
                  <a:pt x="730251" y="134938"/>
                </a:cubicBezTo>
                <a:lnTo>
                  <a:pt x="31749" y="134938"/>
                </a:lnTo>
                <a:cubicBezTo>
                  <a:pt x="14215" y="134938"/>
                  <a:pt x="0" y="120723"/>
                  <a:pt x="0" y="103188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5093692" y="4755059"/>
            <a:ext cx="801688" cy="134938"/>
          </a:xfrm>
          <a:prstGeom prst="rect">
            <a:avLst/>
          </a:prstGeom>
          <a:noFill/>
          <a:ln/>
        </p:spPr>
        <p:txBody>
          <a:bodyPr wrap="square" lIns="63500" tIns="15875" rIns="63500" bIns="15875" rtlCol="0" anchor="ctr"/>
          <a:lstStyle/>
          <a:p>
            <a:pPr>
              <a:lnSpc>
                <a:spcPct val="110000"/>
              </a:lnSpc>
            </a:pPr>
            <a:r>
              <a:rPr lang="en-US" sz="62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 1% → PagerDuty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4500" y="4971952"/>
            <a:ext cx="5461000" cy="230188"/>
          </a:xfrm>
          <a:custGeom>
            <a:avLst/>
            <a:gdLst/>
            <a:ahLst/>
            <a:cxnLst/>
            <a:rect l="l" t="t" r="r" b="b"/>
            <a:pathLst>
              <a:path w="5461000" h="230188">
                <a:moveTo>
                  <a:pt x="31750" y="0"/>
                </a:moveTo>
                <a:lnTo>
                  <a:pt x="5429250" y="0"/>
                </a:lnTo>
                <a:cubicBezTo>
                  <a:pt x="5446785" y="0"/>
                  <a:pt x="5461000" y="14215"/>
                  <a:pt x="5461000" y="31750"/>
                </a:cubicBezTo>
                <a:lnTo>
                  <a:pt x="5461000" y="198438"/>
                </a:lnTo>
                <a:cubicBezTo>
                  <a:pt x="5461000" y="215973"/>
                  <a:pt x="5446785" y="230188"/>
                  <a:pt x="5429250" y="230188"/>
                </a:cubicBezTo>
                <a:lnTo>
                  <a:pt x="31750" y="230188"/>
                </a:lnTo>
                <a:cubicBezTo>
                  <a:pt x="14215" y="230188"/>
                  <a:pt x="0" y="215973"/>
                  <a:pt x="0" y="198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492125" y="5024837"/>
            <a:ext cx="642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ModelDriftPSI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82270" y="5019577"/>
            <a:ext cx="873125" cy="134938"/>
          </a:xfrm>
          <a:custGeom>
            <a:avLst/>
            <a:gdLst/>
            <a:ahLst/>
            <a:cxnLst/>
            <a:rect l="l" t="t" r="r" b="b"/>
            <a:pathLst>
              <a:path w="873125" h="134938">
                <a:moveTo>
                  <a:pt x="31749" y="0"/>
                </a:moveTo>
                <a:lnTo>
                  <a:pt x="841376" y="0"/>
                </a:lnTo>
                <a:cubicBezTo>
                  <a:pt x="858910" y="0"/>
                  <a:pt x="873125" y="14215"/>
                  <a:pt x="873125" y="31749"/>
                </a:cubicBezTo>
                <a:lnTo>
                  <a:pt x="873125" y="103188"/>
                </a:lnTo>
                <a:cubicBezTo>
                  <a:pt x="873125" y="120723"/>
                  <a:pt x="858910" y="134937"/>
                  <a:pt x="841376" y="134938"/>
                </a:cubicBezTo>
                <a:lnTo>
                  <a:pt x="31749" y="134938"/>
                </a:lnTo>
                <a:cubicBezTo>
                  <a:pt x="14215" y="134938"/>
                  <a:pt x="0" y="120723"/>
                  <a:pt x="0" y="103188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2" name="Text 20"/>
          <p:cNvSpPr/>
          <p:nvPr/>
        </p:nvSpPr>
        <p:spPr>
          <a:xfrm>
            <a:off x="4982270" y="5019577"/>
            <a:ext cx="912813" cy="134938"/>
          </a:xfrm>
          <a:prstGeom prst="rect">
            <a:avLst/>
          </a:prstGeom>
          <a:noFill/>
          <a:ln/>
        </p:spPr>
        <p:txBody>
          <a:bodyPr wrap="square" lIns="63500" tIns="15875" rIns="63500" bIns="15875" rtlCol="0" anchor="ctr"/>
          <a:lstStyle/>
          <a:p>
            <a:pPr>
              <a:lnSpc>
                <a:spcPct val="110000"/>
              </a:lnSpc>
            </a:pPr>
            <a:r>
              <a:rPr lang="en-US" sz="62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PSI &gt; 0.2 → ML Team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4500" y="5236467"/>
            <a:ext cx="5461000" cy="230188"/>
          </a:xfrm>
          <a:custGeom>
            <a:avLst/>
            <a:gdLst/>
            <a:ahLst/>
            <a:cxnLst/>
            <a:rect l="l" t="t" r="r" b="b"/>
            <a:pathLst>
              <a:path w="5461000" h="230188">
                <a:moveTo>
                  <a:pt x="31750" y="0"/>
                </a:moveTo>
                <a:lnTo>
                  <a:pt x="5429250" y="0"/>
                </a:lnTo>
                <a:cubicBezTo>
                  <a:pt x="5446785" y="0"/>
                  <a:pt x="5461000" y="14215"/>
                  <a:pt x="5461000" y="31750"/>
                </a:cubicBezTo>
                <a:lnTo>
                  <a:pt x="5461000" y="198438"/>
                </a:lnTo>
                <a:cubicBezTo>
                  <a:pt x="5461000" y="215973"/>
                  <a:pt x="5446785" y="230188"/>
                  <a:pt x="5429250" y="230188"/>
                </a:cubicBezTo>
                <a:lnTo>
                  <a:pt x="31750" y="230188"/>
                </a:lnTo>
                <a:cubicBezTo>
                  <a:pt x="14215" y="230188"/>
                  <a:pt x="0" y="215973"/>
                  <a:pt x="0" y="19843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492125" y="5289352"/>
            <a:ext cx="619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ECSCPUHigh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83249" y="5284092"/>
            <a:ext cx="976312" cy="134938"/>
          </a:xfrm>
          <a:custGeom>
            <a:avLst/>
            <a:gdLst/>
            <a:ahLst/>
            <a:cxnLst/>
            <a:rect l="l" t="t" r="r" b="b"/>
            <a:pathLst>
              <a:path w="976312" h="134938">
                <a:moveTo>
                  <a:pt x="31749" y="0"/>
                </a:moveTo>
                <a:lnTo>
                  <a:pt x="944563" y="0"/>
                </a:lnTo>
                <a:cubicBezTo>
                  <a:pt x="962098" y="0"/>
                  <a:pt x="976312" y="14215"/>
                  <a:pt x="976312" y="31749"/>
                </a:cubicBezTo>
                <a:lnTo>
                  <a:pt x="976312" y="103188"/>
                </a:lnTo>
                <a:cubicBezTo>
                  <a:pt x="976312" y="120723"/>
                  <a:pt x="962098" y="134937"/>
                  <a:pt x="944563" y="134938"/>
                </a:cubicBezTo>
                <a:lnTo>
                  <a:pt x="31749" y="134938"/>
                </a:lnTo>
                <a:cubicBezTo>
                  <a:pt x="14215" y="134938"/>
                  <a:pt x="0" y="120723"/>
                  <a:pt x="0" y="103188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26" name="Text 24"/>
          <p:cNvSpPr/>
          <p:nvPr/>
        </p:nvSpPr>
        <p:spPr>
          <a:xfrm>
            <a:off x="4883249" y="5284092"/>
            <a:ext cx="1016000" cy="134938"/>
          </a:xfrm>
          <a:prstGeom prst="rect">
            <a:avLst/>
          </a:prstGeom>
          <a:noFill/>
          <a:ln/>
        </p:spPr>
        <p:txBody>
          <a:bodyPr wrap="square" lIns="63500" tIns="15875" rIns="63500" bIns="15875" rtlCol="0" anchor="ctr"/>
          <a:lstStyle/>
          <a:p>
            <a:pPr>
              <a:lnSpc>
                <a:spcPct val="110000"/>
              </a:lnSpc>
            </a:pPr>
            <a:r>
              <a:rPr lang="en-US" sz="625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&gt; 80% → Scale-out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4500" y="7077076"/>
            <a:ext cx="5461000" cy="254000"/>
          </a:xfrm>
          <a:custGeom>
            <a:avLst/>
            <a:gdLst/>
            <a:ahLst/>
            <a:cxnLst/>
            <a:rect l="l" t="t" r="r" b="b"/>
            <a:pathLst>
              <a:path w="5461000" h="254000">
                <a:moveTo>
                  <a:pt x="63500" y="0"/>
                </a:moveTo>
                <a:lnTo>
                  <a:pt x="5397500" y="0"/>
                </a:lnTo>
                <a:cubicBezTo>
                  <a:pt x="5432547" y="0"/>
                  <a:pt x="5461000" y="28453"/>
                  <a:pt x="5461000" y="63500"/>
                </a:cubicBezTo>
                <a:lnTo>
                  <a:pt x="5461000" y="190500"/>
                </a:lnTo>
                <a:cubicBezTo>
                  <a:pt x="5461000" y="225547"/>
                  <a:pt x="5432547" y="254000"/>
                  <a:pt x="5397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B6CB0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08000" y="7140576"/>
            <a:ext cx="5381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PromQL: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histogram_quantile(0.99, rate(inference_latency_bucket[1m]))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59500" y="920750"/>
            <a:ext cx="5715000" cy="3206750"/>
          </a:xfrm>
          <a:custGeom>
            <a:avLst/>
            <a:gdLst/>
            <a:ahLst/>
            <a:cxnLst/>
            <a:rect l="l" t="t" r="r" b="b"/>
            <a:pathLst>
              <a:path w="5715000" h="3206750">
                <a:moveTo>
                  <a:pt x="95240" y="0"/>
                </a:moveTo>
                <a:lnTo>
                  <a:pt x="5619760" y="0"/>
                </a:lnTo>
                <a:cubicBezTo>
                  <a:pt x="5672359" y="0"/>
                  <a:pt x="5715000" y="42641"/>
                  <a:pt x="5715000" y="95240"/>
                </a:cubicBezTo>
                <a:lnTo>
                  <a:pt x="5715000" y="3111510"/>
                </a:lnTo>
                <a:cubicBezTo>
                  <a:pt x="5715000" y="3164109"/>
                  <a:pt x="5672359" y="3206750"/>
                  <a:pt x="5619760" y="3206750"/>
                </a:cubicBezTo>
                <a:lnTo>
                  <a:pt x="95240" y="3206750"/>
                </a:lnTo>
                <a:cubicBezTo>
                  <a:pt x="42641" y="3206750"/>
                  <a:pt x="0" y="3164109"/>
                  <a:pt x="0" y="3111510"/>
                </a:cubicBezTo>
                <a:lnTo>
                  <a:pt x="0" y="95240"/>
                </a:lnTo>
                <a:cubicBezTo>
                  <a:pt x="0" y="42641"/>
                  <a:pt x="42641" y="0"/>
                  <a:pt x="9524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6344" y="108743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0" y="22324"/>
                </a:moveTo>
                <a:cubicBezTo>
                  <a:pt x="0" y="14929"/>
                  <a:pt x="6000" y="8930"/>
                  <a:pt x="13395" y="8930"/>
                </a:cubicBezTo>
                <a:lnTo>
                  <a:pt x="40184" y="8930"/>
                </a:lnTo>
                <a:cubicBezTo>
                  <a:pt x="47578" y="8930"/>
                  <a:pt x="53578" y="14929"/>
                  <a:pt x="53578" y="22324"/>
                </a:cubicBezTo>
                <a:lnTo>
                  <a:pt x="53578" y="26789"/>
                </a:lnTo>
                <a:lnTo>
                  <a:pt x="89297" y="26789"/>
                </a:lnTo>
                <a:lnTo>
                  <a:pt x="89297" y="22324"/>
                </a:lnTo>
                <a:cubicBezTo>
                  <a:pt x="89297" y="14929"/>
                  <a:pt x="95297" y="8930"/>
                  <a:pt x="102691" y="8930"/>
                </a:cubicBezTo>
                <a:lnTo>
                  <a:pt x="129480" y="8930"/>
                </a:lnTo>
                <a:cubicBezTo>
                  <a:pt x="136875" y="8930"/>
                  <a:pt x="142875" y="14929"/>
                  <a:pt x="142875" y="22324"/>
                </a:cubicBezTo>
                <a:lnTo>
                  <a:pt x="142875" y="49113"/>
                </a:lnTo>
                <a:cubicBezTo>
                  <a:pt x="142875" y="56508"/>
                  <a:pt x="136875" y="62508"/>
                  <a:pt x="129480" y="62508"/>
                </a:cubicBezTo>
                <a:lnTo>
                  <a:pt x="102691" y="62508"/>
                </a:lnTo>
                <a:cubicBezTo>
                  <a:pt x="95297" y="62508"/>
                  <a:pt x="89297" y="56508"/>
                  <a:pt x="89297" y="49113"/>
                </a:cubicBezTo>
                <a:lnTo>
                  <a:pt x="89297" y="44648"/>
                </a:lnTo>
                <a:lnTo>
                  <a:pt x="53578" y="44648"/>
                </a:lnTo>
                <a:lnTo>
                  <a:pt x="53578" y="49113"/>
                </a:lnTo>
                <a:cubicBezTo>
                  <a:pt x="53578" y="51150"/>
                  <a:pt x="53104" y="53104"/>
                  <a:pt x="52294" y="54834"/>
                </a:cubicBezTo>
                <a:lnTo>
                  <a:pt x="71438" y="80367"/>
                </a:lnTo>
                <a:lnTo>
                  <a:pt x="93762" y="80367"/>
                </a:lnTo>
                <a:cubicBezTo>
                  <a:pt x="101157" y="80367"/>
                  <a:pt x="107156" y="86367"/>
                  <a:pt x="107156" y="93762"/>
                </a:cubicBezTo>
                <a:lnTo>
                  <a:pt x="107156" y="120551"/>
                </a:lnTo>
                <a:cubicBezTo>
                  <a:pt x="107156" y="127946"/>
                  <a:pt x="101157" y="133945"/>
                  <a:pt x="93762" y="133945"/>
                </a:cubicBezTo>
                <a:lnTo>
                  <a:pt x="66973" y="133945"/>
                </a:lnTo>
                <a:cubicBezTo>
                  <a:pt x="59578" y="133945"/>
                  <a:pt x="53578" y="127946"/>
                  <a:pt x="53578" y="120551"/>
                </a:cubicBezTo>
                <a:lnTo>
                  <a:pt x="53578" y="93762"/>
                </a:lnTo>
                <a:cubicBezTo>
                  <a:pt x="53578" y="91725"/>
                  <a:pt x="54053" y="89771"/>
                  <a:pt x="54862" y="88041"/>
                </a:cubicBezTo>
                <a:lnTo>
                  <a:pt x="35719" y="62508"/>
                </a:lnTo>
                <a:lnTo>
                  <a:pt x="13395" y="62508"/>
                </a:lnTo>
                <a:cubicBezTo>
                  <a:pt x="6000" y="62508"/>
                  <a:pt x="0" y="56508"/>
                  <a:pt x="0" y="49113"/>
                </a:cubicBezTo>
                <a:lnTo>
                  <a:pt x="0" y="22324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1" name="Text 29"/>
          <p:cNvSpPr/>
          <p:nvPr/>
        </p:nvSpPr>
        <p:spPr>
          <a:xfrm>
            <a:off x="6469063" y="1047750"/>
            <a:ext cx="534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Distributed Tracing — AWS X-Ray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86500" y="1333500"/>
            <a:ext cx="5461000" cy="2476500"/>
          </a:xfrm>
          <a:custGeom>
            <a:avLst/>
            <a:gdLst/>
            <a:ahLst/>
            <a:cxnLst/>
            <a:rect l="l" t="t" r="r" b="b"/>
            <a:pathLst>
              <a:path w="5461000" h="2476500">
                <a:moveTo>
                  <a:pt x="63497" y="0"/>
                </a:moveTo>
                <a:lnTo>
                  <a:pt x="5397503" y="0"/>
                </a:lnTo>
                <a:cubicBezTo>
                  <a:pt x="5432571" y="0"/>
                  <a:pt x="5461000" y="28429"/>
                  <a:pt x="5461000" y="63497"/>
                </a:cubicBezTo>
                <a:lnTo>
                  <a:pt x="5461000" y="2413003"/>
                </a:lnTo>
                <a:cubicBezTo>
                  <a:pt x="5461000" y="2448071"/>
                  <a:pt x="5432571" y="2476500"/>
                  <a:pt x="5397503" y="2476500"/>
                </a:cubicBezTo>
                <a:lnTo>
                  <a:pt x="63497" y="2476500"/>
                </a:lnTo>
                <a:cubicBezTo>
                  <a:pt x="28429" y="2476500"/>
                  <a:pt x="0" y="2448071"/>
                  <a:pt x="0" y="2413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3" name="Text 31"/>
          <p:cNvSpPr/>
          <p:nvPr/>
        </p:nvSpPr>
        <p:spPr>
          <a:xfrm>
            <a:off x="6381750" y="1428750"/>
            <a:ext cx="531812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@Component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 class XRayTraceInterceptor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implements HandlerInterceptor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public boolean preHandle(...)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AWSXRay.beginSubsegment("inference-handler");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return true;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public void afterCompletion(...)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Subsegment sub = AWSXRay.getCurrentSubsegment();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if (sub != null)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sub.putAnnotation("modelId", modelId);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sub.putAnnotation("latencyMs", latency);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sub.putAnnotation("success", ex == null);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    AWSXRay.endSubsegment();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86500" y="3871713"/>
            <a:ext cx="5508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Map: Client → ALB → ECS Task → S3 (on reload)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59500" y="4220866"/>
            <a:ext cx="5715000" cy="2254250"/>
          </a:xfrm>
          <a:custGeom>
            <a:avLst/>
            <a:gdLst/>
            <a:ahLst/>
            <a:cxnLst/>
            <a:rect l="l" t="t" r="r" b="b"/>
            <a:pathLst>
              <a:path w="5715000" h="2254250">
                <a:moveTo>
                  <a:pt x="95242" y="0"/>
                </a:moveTo>
                <a:lnTo>
                  <a:pt x="5619758" y="0"/>
                </a:lnTo>
                <a:cubicBezTo>
                  <a:pt x="5672359" y="0"/>
                  <a:pt x="5715000" y="42641"/>
                  <a:pt x="5715000" y="95242"/>
                </a:cubicBezTo>
                <a:lnTo>
                  <a:pt x="5715000" y="2159008"/>
                </a:lnTo>
                <a:cubicBezTo>
                  <a:pt x="5715000" y="2211609"/>
                  <a:pt x="5672359" y="2254250"/>
                  <a:pt x="5619758" y="2254250"/>
                </a:cubicBezTo>
                <a:lnTo>
                  <a:pt x="95242" y="2254250"/>
                </a:lnTo>
                <a:cubicBezTo>
                  <a:pt x="42641" y="2254250"/>
                  <a:pt x="0" y="2211609"/>
                  <a:pt x="0" y="2159008"/>
                </a:cubicBezTo>
                <a:lnTo>
                  <a:pt x="0" y="95242"/>
                </a:lnTo>
                <a:cubicBezTo>
                  <a:pt x="0" y="42677"/>
                  <a:pt x="42677" y="0"/>
                  <a:pt x="9524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24203" y="4387554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0" y="17859"/>
                </a:moveTo>
                <a:cubicBezTo>
                  <a:pt x="0" y="8009"/>
                  <a:pt x="8009" y="0"/>
                  <a:pt x="17859" y="0"/>
                </a:cubicBezTo>
                <a:lnTo>
                  <a:pt x="59578" y="0"/>
                </a:lnTo>
                <a:cubicBezTo>
                  <a:pt x="64322" y="0"/>
                  <a:pt x="68870" y="1870"/>
                  <a:pt x="72219" y="5218"/>
                </a:cubicBezTo>
                <a:lnTo>
                  <a:pt x="101938" y="34965"/>
                </a:lnTo>
                <a:cubicBezTo>
                  <a:pt x="105287" y="38314"/>
                  <a:pt x="107156" y="42863"/>
                  <a:pt x="107156" y="47606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17859"/>
                </a:lnTo>
                <a:close/>
                <a:moveTo>
                  <a:pt x="58043" y="16325"/>
                </a:moveTo>
                <a:lnTo>
                  <a:pt x="58043" y="42416"/>
                </a:lnTo>
                <a:cubicBezTo>
                  <a:pt x="58043" y="46127"/>
                  <a:pt x="61029" y="49113"/>
                  <a:pt x="64740" y="49113"/>
                </a:cubicBezTo>
                <a:lnTo>
                  <a:pt x="90832" y="49113"/>
                </a:lnTo>
                <a:lnTo>
                  <a:pt x="58043" y="16325"/>
                </a:lnTo>
                <a:close/>
                <a:moveTo>
                  <a:pt x="33486" y="71438"/>
                </a:moveTo>
                <a:cubicBezTo>
                  <a:pt x="29775" y="71438"/>
                  <a:pt x="26789" y="74423"/>
                  <a:pt x="26789" y="78135"/>
                </a:cubicBezTo>
                <a:cubicBezTo>
                  <a:pt x="26789" y="81846"/>
                  <a:pt x="29775" y="84832"/>
                  <a:pt x="33486" y="84832"/>
                </a:cubicBezTo>
                <a:lnTo>
                  <a:pt x="73670" y="84832"/>
                </a:lnTo>
                <a:cubicBezTo>
                  <a:pt x="77381" y="84832"/>
                  <a:pt x="80367" y="81846"/>
                  <a:pt x="80367" y="78135"/>
                </a:cubicBezTo>
                <a:cubicBezTo>
                  <a:pt x="80367" y="74423"/>
                  <a:pt x="77381" y="71438"/>
                  <a:pt x="73670" y="71438"/>
                </a:cubicBezTo>
                <a:lnTo>
                  <a:pt x="33486" y="71438"/>
                </a:lnTo>
                <a:close/>
                <a:moveTo>
                  <a:pt x="33486" y="98227"/>
                </a:moveTo>
                <a:cubicBezTo>
                  <a:pt x="29775" y="98227"/>
                  <a:pt x="26789" y="101212"/>
                  <a:pt x="26789" y="104924"/>
                </a:cubicBezTo>
                <a:cubicBezTo>
                  <a:pt x="26789" y="108635"/>
                  <a:pt x="29775" y="111621"/>
                  <a:pt x="33486" y="111621"/>
                </a:cubicBezTo>
                <a:lnTo>
                  <a:pt x="73670" y="111621"/>
                </a:lnTo>
                <a:cubicBezTo>
                  <a:pt x="77381" y="111621"/>
                  <a:pt x="80367" y="108635"/>
                  <a:pt x="80367" y="104924"/>
                </a:cubicBezTo>
                <a:cubicBezTo>
                  <a:pt x="80367" y="101212"/>
                  <a:pt x="77381" y="98227"/>
                  <a:pt x="73670" y="98227"/>
                </a:cubicBezTo>
                <a:lnTo>
                  <a:pt x="33486" y="98227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7" name="Text 35"/>
          <p:cNvSpPr/>
          <p:nvPr/>
        </p:nvSpPr>
        <p:spPr>
          <a:xfrm>
            <a:off x="6469063" y="4347866"/>
            <a:ext cx="534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Logging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86500" y="4633616"/>
            <a:ext cx="5461000" cy="1714500"/>
          </a:xfrm>
          <a:custGeom>
            <a:avLst/>
            <a:gdLst/>
            <a:ahLst/>
            <a:cxnLst/>
            <a:rect l="l" t="t" r="r" b="b"/>
            <a:pathLst>
              <a:path w="5461000" h="1714500">
                <a:moveTo>
                  <a:pt x="63505" y="0"/>
                </a:moveTo>
                <a:lnTo>
                  <a:pt x="5397495" y="0"/>
                </a:lnTo>
                <a:cubicBezTo>
                  <a:pt x="5432568" y="0"/>
                  <a:pt x="5461000" y="28432"/>
                  <a:pt x="5461000" y="63505"/>
                </a:cubicBezTo>
                <a:lnTo>
                  <a:pt x="5461000" y="1650995"/>
                </a:lnTo>
                <a:cubicBezTo>
                  <a:pt x="5461000" y="1686068"/>
                  <a:pt x="5432568" y="1714500"/>
                  <a:pt x="5397495" y="1714500"/>
                </a:cubicBezTo>
                <a:lnTo>
                  <a:pt x="63505" y="1714500"/>
                </a:lnTo>
                <a:cubicBezTo>
                  <a:pt x="28432" y="1714500"/>
                  <a:pt x="0" y="1686068"/>
                  <a:pt x="0" y="16509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9" name="Text 37"/>
          <p:cNvSpPr/>
          <p:nvPr/>
        </p:nvSpPr>
        <p:spPr>
          <a:xfrm>
            <a:off x="6381750" y="4728866"/>
            <a:ext cx="531812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"timestamp": "2026-03-25T15:30:00.123Z",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"event": "inference",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"requestId": "trade-req-abc123",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"modelId": "credit-risk",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"modelVersion": "2.0.1",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"latencyMs": 1.87,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"success": true,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"driftWarning": false,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"ecsTaskId": "arn:aws:ecs:...",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"traceId": "1-58406520-a0066..."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59500" y="6569177"/>
            <a:ext cx="5715000" cy="889000"/>
          </a:xfrm>
          <a:custGeom>
            <a:avLst/>
            <a:gdLst/>
            <a:ahLst/>
            <a:cxnLst/>
            <a:rect l="l" t="t" r="r" b="b"/>
            <a:pathLst>
              <a:path w="5715000" h="889000">
                <a:moveTo>
                  <a:pt x="95247" y="0"/>
                </a:moveTo>
                <a:lnTo>
                  <a:pt x="5619753" y="0"/>
                </a:lnTo>
                <a:cubicBezTo>
                  <a:pt x="5672356" y="0"/>
                  <a:pt x="5715000" y="42644"/>
                  <a:pt x="5715000" y="95247"/>
                </a:cubicBezTo>
                <a:lnTo>
                  <a:pt x="5715000" y="793753"/>
                </a:lnTo>
                <a:cubicBezTo>
                  <a:pt x="5715000" y="846356"/>
                  <a:pt x="5672356" y="889000"/>
                  <a:pt x="5619753" y="889000"/>
                </a:cubicBezTo>
                <a:lnTo>
                  <a:pt x="95247" y="889000"/>
                </a:lnTo>
                <a:cubicBezTo>
                  <a:pt x="42644" y="889000"/>
                  <a:pt x="0" y="846356"/>
                  <a:pt x="0" y="7937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2375" y="672792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26764"/>
                </a:moveTo>
                <a:lnTo>
                  <a:pt x="59779" y="21605"/>
                </a:lnTo>
                <a:cubicBezTo>
                  <a:pt x="53578" y="13022"/>
                  <a:pt x="43631" y="7938"/>
                  <a:pt x="33015" y="7938"/>
                </a:cubicBezTo>
                <a:cubicBezTo>
                  <a:pt x="14784" y="7938"/>
                  <a:pt x="0" y="22721"/>
                  <a:pt x="0" y="40953"/>
                </a:cubicBezTo>
                <a:lnTo>
                  <a:pt x="0" y="41597"/>
                </a:lnTo>
                <a:cubicBezTo>
                  <a:pt x="0" y="47451"/>
                  <a:pt x="1538" y="53504"/>
                  <a:pt x="4118" y="59531"/>
                </a:cubicBezTo>
                <a:lnTo>
                  <a:pt x="30411" y="59531"/>
                </a:lnTo>
                <a:cubicBezTo>
                  <a:pt x="31204" y="59531"/>
                  <a:pt x="31924" y="59060"/>
                  <a:pt x="32246" y="58316"/>
                </a:cubicBezTo>
                <a:lnTo>
                  <a:pt x="40134" y="39390"/>
                </a:lnTo>
                <a:cubicBezTo>
                  <a:pt x="41052" y="37207"/>
                  <a:pt x="43185" y="35768"/>
                  <a:pt x="45541" y="35719"/>
                </a:cubicBezTo>
                <a:cubicBezTo>
                  <a:pt x="47898" y="35669"/>
                  <a:pt x="50081" y="37058"/>
                  <a:pt x="51048" y="39216"/>
                </a:cubicBezTo>
                <a:lnTo>
                  <a:pt x="63773" y="67469"/>
                </a:lnTo>
                <a:lnTo>
                  <a:pt x="74042" y="46930"/>
                </a:lnTo>
                <a:cubicBezTo>
                  <a:pt x="75059" y="44921"/>
                  <a:pt x="77118" y="43631"/>
                  <a:pt x="79375" y="43631"/>
                </a:cubicBezTo>
                <a:cubicBezTo>
                  <a:pt x="81632" y="43631"/>
                  <a:pt x="83691" y="44896"/>
                  <a:pt x="84708" y="46930"/>
                </a:cubicBezTo>
                <a:lnTo>
                  <a:pt x="90463" y="58415"/>
                </a:lnTo>
                <a:cubicBezTo>
                  <a:pt x="90810" y="59085"/>
                  <a:pt x="91480" y="59506"/>
                  <a:pt x="92249" y="59506"/>
                </a:cubicBezTo>
                <a:lnTo>
                  <a:pt x="122907" y="59506"/>
                </a:lnTo>
                <a:cubicBezTo>
                  <a:pt x="125512" y="53479"/>
                  <a:pt x="127025" y="47427"/>
                  <a:pt x="127025" y="41573"/>
                </a:cubicBezTo>
                <a:lnTo>
                  <a:pt x="127025" y="40928"/>
                </a:lnTo>
                <a:cubicBezTo>
                  <a:pt x="127000" y="22721"/>
                  <a:pt x="112216" y="7938"/>
                  <a:pt x="93985" y="7938"/>
                </a:cubicBezTo>
                <a:cubicBezTo>
                  <a:pt x="83393" y="7938"/>
                  <a:pt x="73422" y="13022"/>
                  <a:pt x="67221" y="21605"/>
                </a:cubicBezTo>
                <a:lnTo>
                  <a:pt x="63500" y="26739"/>
                </a:lnTo>
                <a:close/>
                <a:moveTo>
                  <a:pt x="116483" y="71438"/>
                </a:moveTo>
                <a:lnTo>
                  <a:pt x="92224" y="71438"/>
                </a:lnTo>
                <a:cubicBezTo>
                  <a:pt x="86965" y="71438"/>
                  <a:pt x="82153" y="68461"/>
                  <a:pt x="79797" y="63748"/>
                </a:cubicBezTo>
                <a:lnTo>
                  <a:pt x="79375" y="62905"/>
                </a:lnTo>
                <a:lnTo>
                  <a:pt x="68833" y="84013"/>
                </a:lnTo>
                <a:cubicBezTo>
                  <a:pt x="67816" y="86072"/>
                  <a:pt x="65683" y="87362"/>
                  <a:pt x="63376" y="87313"/>
                </a:cubicBezTo>
                <a:cubicBezTo>
                  <a:pt x="61069" y="87263"/>
                  <a:pt x="59010" y="85899"/>
                  <a:pt x="58068" y="83815"/>
                </a:cubicBezTo>
                <a:lnTo>
                  <a:pt x="45839" y="56654"/>
                </a:lnTo>
                <a:lnTo>
                  <a:pt x="43235" y="62905"/>
                </a:lnTo>
                <a:cubicBezTo>
                  <a:pt x="41077" y="68089"/>
                  <a:pt x="36016" y="71462"/>
                  <a:pt x="30411" y="71462"/>
                </a:cubicBezTo>
                <a:lnTo>
                  <a:pt x="10517" y="71462"/>
                </a:lnTo>
                <a:cubicBezTo>
                  <a:pt x="22225" y="89768"/>
                  <a:pt x="41027" y="106611"/>
                  <a:pt x="52784" y="115590"/>
                </a:cubicBezTo>
                <a:cubicBezTo>
                  <a:pt x="55860" y="117921"/>
                  <a:pt x="59630" y="119087"/>
                  <a:pt x="63475" y="119087"/>
                </a:cubicBezTo>
                <a:cubicBezTo>
                  <a:pt x="67320" y="119087"/>
                  <a:pt x="71115" y="117946"/>
                  <a:pt x="74166" y="115590"/>
                </a:cubicBezTo>
                <a:cubicBezTo>
                  <a:pt x="85973" y="106586"/>
                  <a:pt x="104775" y="89743"/>
                  <a:pt x="116483" y="71438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2" name="Text 40"/>
          <p:cNvSpPr/>
          <p:nvPr/>
        </p:nvSpPr>
        <p:spPr>
          <a:xfrm>
            <a:off x="6445250" y="6696177"/>
            <a:ext cx="536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&amp; Readiness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86500" y="6950177"/>
            <a:ext cx="2698750" cy="381000"/>
          </a:xfrm>
          <a:custGeom>
            <a:avLst/>
            <a:gdLst/>
            <a:ahLst/>
            <a:cxnLst/>
            <a:rect l="l" t="t" r="r" b="b"/>
            <a:pathLst>
              <a:path w="2698750" h="381000">
                <a:moveTo>
                  <a:pt x="31749" y="0"/>
                </a:moveTo>
                <a:lnTo>
                  <a:pt x="2667001" y="0"/>
                </a:lnTo>
                <a:cubicBezTo>
                  <a:pt x="2684536" y="0"/>
                  <a:pt x="2698750" y="14214"/>
                  <a:pt x="2698750" y="31749"/>
                </a:cubicBezTo>
                <a:lnTo>
                  <a:pt x="2698750" y="349251"/>
                </a:lnTo>
                <a:cubicBezTo>
                  <a:pt x="2698750" y="366786"/>
                  <a:pt x="2684536" y="381000"/>
                  <a:pt x="26670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4" name="Text 42"/>
          <p:cNvSpPr/>
          <p:nvPr/>
        </p:nvSpPr>
        <p:spPr>
          <a:xfrm>
            <a:off x="6350000" y="7013677"/>
            <a:ext cx="2619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/actuator/health/liveness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50000" y="7140576"/>
            <a:ext cx="2619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 unless JVM deadlocked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48750" y="6950177"/>
            <a:ext cx="2698750" cy="381000"/>
          </a:xfrm>
          <a:custGeom>
            <a:avLst/>
            <a:gdLst/>
            <a:ahLst/>
            <a:cxnLst/>
            <a:rect l="l" t="t" r="r" b="b"/>
            <a:pathLst>
              <a:path w="2698750" h="381000">
                <a:moveTo>
                  <a:pt x="31749" y="0"/>
                </a:moveTo>
                <a:lnTo>
                  <a:pt x="2667001" y="0"/>
                </a:lnTo>
                <a:cubicBezTo>
                  <a:pt x="2684536" y="0"/>
                  <a:pt x="2698750" y="14214"/>
                  <a:pt x="2698750" y="31749"/>
                </a:cubicBezTo>
                <a:lnTo>
                  <a:pt x="2698750" y="349251"/>
                </a:lnTo>
                <a:cubicBezTo>
                  <a:pt x="2698750" y="366786"/>
                  <a:pt x="2684536" y="381000"/>
                  <a:pt x="266700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7" name="Text 45"/>
          <p:cNvSpPr/>
          <p:nvPr/>
        </p:nvSpPr>
        <p:spPr>
          <a:xfrm>
            <a:off x="9112250" y="7013677"/>
            <a:ext cx="2619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/actuator/health/readiness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12250" y="7140576"/>
            <a:ext cx="2619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DOWN until models loaded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96875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317500"/>
            <a:ext cx="5754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/ HOT RELOAD &amp; SCALING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476250"/>
            <a:ext cx="584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Zero-Downtime Model Swaps &amp; Auto-Scaling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984250"/>
            <a:ext cx="11557000" cy="1397000"/>
          </a:xfrm>
          <a:custGeom>
            <a:avLst/>
            <a:gdLst/>
            <a:ahLst/>
            <a:cxnLst/>
            <a:rect l="l" t="t" r="r" b="b"/>
            <a:pathLst>
              <a:path w="11557000" h="1397000">
                <a:moveTo>
                  <a:pt x="95247" y="0"/>
                </a:moveTo>
                <a:lnTo>
                  <a:pt x="11461753" y="0"/>
                </a:lnTo>
                <a:cubicBezTo>
                  <a:pt x="11514356" y="0"/>
                  <a:pt x="11557000" y="42644"/>
                  <a:pt x="11557000" y="95247"/>
                </a:cubicBezTo>
                <a:lnTo>
                  <a:pt x="11557000" y="1301753"/>
                </a:lnTo>
                <a:cubicBezTo>
                  <a:pt x="11557000" y="1354356"/>
                  <a:pt x="11514356" y="1397000"/>
                  <a:pt x="11461753" y="1397000"/>
                </a:cubicBezTo>
                <a:lnTo>
                  <a:pt x="95247" y="1397000"/>
                </a:lnTo>
                <a:cubicBezTo>
                  <a:pt x="42644" y="1397000"/>
                  <a:pt x="0" y="1354356"/>
                  <a:pt x="0" y="130175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4344" y="115093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3973" y="53578"/>
                </a:moveTo>
                <a:lnTo>
                  <a:pt x="136178" y="53578"/>
                </a:lnTo>
                <a:cubicBezTo>
                  <a:pt x="139889" y="53578"/>
                  <a:pt x="142875" y="50592"/>
                  <a:pt x="142875" y="46881"/>
                </a:cubicBezTo>
                <a:lnTo>
                  <a:pt x="142875" y="6697"/>
                </a:lnTo>
                <a:cubicBezTo>
                  <a:pt x="142875" y="3990"/>
                  <a:pt x="141256" y="1535"/>
                  <a:pt x="138745" y="502"/>
                </a:cubicBezTo>
                <a:cubicBezTo>
                  <a:pt x="136234" y="-530"/>
                  <a:pt x="133359" y="56"/>
                  <a:pt x="131434" y="1953"/>
                </a:cubicBezTo>
                <a:lnTo>
                  <a:pt x="117007" y="16408"/>
                </a:lnTo>
                <a:cubicBezTo>
                  <a:pt x="104645" y="6167"/>
                  <a:pt x="88739" y="0"/>
                  <a:pt x="71438" y="0"/>
                </a:cubicBezTo>
                <a:cubicBezTo>
                  <a:pt x="35440" y="0"/>
                  <a:pt x="5665" y="26622"/>
                  <a:pt x="726" y="61252"/>
                </a:cubicBezTo>
                <a:cubicBezTo>
                  <a:pt x="28" y="66135"/>
                  <a:pt x="3404" y="70656"/>
                  <a:pt x="8288" y="71354"/>
                </a:cubicBezTo>
                <a:cubicBezTo>
                  <a:pt x="13171" y="72051"/>
                  <a:pt x="17692" y="68647"/>
                  <a:pt x="18390" y="63791"/>
                </a:cubicBezTo>
                <a:cubicBezTo>
                  <a:pt x="22101" y="37812"/>
                  <a:pt x="44453" y="17859"/>
                  <a:pt x="71438" y="17859"/>
                </a:cubicBezTo>
                <a:cubicBezTo>
                  <a:pt x="83827" y="17859"/>
                  <a:pt x="95213" y="22045"/>
                  <a:pt x="104282" y="29105"/>
                </a:cubicBezTo>
                <a:lnTo>
                  <a:pt x="91250" y="42137"/>
                </a:lnTo>
                <a:cubicBezTo>
                  <a:pt x="89325" y="44062"/>
                  <a:pt x="88767" y="46937"/>
                  <a:pt x="89799" y="49448"/>
                </a:cubicBezTo>
                <a:cubicBezTo>
                  <a:pt x="90832" y="51960"/>
                  <a:pt x="93287" y="53578"/>
                  <a:pt x="95994" y="53578"/>
                </a:cubicBezTo>
                <a:lnTo>
                  <a:pt x="133973" y="53578"/>
                </a:lnTo>
                <a:close/>
                <a:moveTo>
                  <a:pt x="142177" y="81623"/>
                </a:moveTo>
                <a:cubicBezTo>
                  <a:pt x="142875" y="76740"/>
                  <a:pt x="139471" y="72219"/>
                  <a:pt x="134615" y="71521"/>
                </a:cubicBezTo>
                <a:cubicBezTo>
                  <a:pt x="129760" y="70824"/>
                  <a:pt x="125211" y="74228"/>
                  <a:pt x="124513" y="79084"/>
                </a:cubicBezTo>
                <a:cubicBezTo>
                  <a:pt x="120802" y="105035"/>
                  <a:pt x="98450" y="124988"/>
                  <a:pt x="71465" y="124988"/>
                </a:cubicBezTo>
                <a:cubicBezTo>
                  <a:pt x="59075" y="124988"/>
                  <a:pt x="47690" y="120802"/>
                  <a:pt x="38621" y="113742"/>
                </a:cubicBezTo>
                <a:lnTo>
                  <a:pt x="51625" y="100738"/>
                </a:lnTo>
                <a:cubicBezTo>
                  <a:pt x="53550" y="98813"/>
                  <a:pt x="54108" y="95938"/>
                  <a:pt x="53076" y="93427"/>
                </a:cubicBezTo>
                <a:cubicBezTo>
                  <a:pt x="52043" y="90915"/>
                  <a:pt x="49588" y="89297"/>
                  <a:pt x="46881" y="89297"/>
                </a:cubicBezTo>
                <a:lnTo>
                  <a:pt x="6697" y="89297"/>
                </a:lnTo>
                <a:cubicBezTo>
                  <a:pt x="2986" y="89297"/>
                  <a:pt x="0" y="92283"/>
                  <a:pt x="0" y="95994"/>
                </a:cubicBezTo>
                <a:lnTo>
                  <a:pt x="0" y="136178"/>
                </a:lnTo>
                <a:cubicBezTo>
                  <a:pt x="0" y="138885"/>
                  <a:pt x="1619" y="141340"/>
                  <a:pt x="4130" y="142373"/>
                </a:cubicBezTo>
                <a:cubicBezTo>
                  <a:pt x="6641" y="143405"/>
                  <a:pt x="9516" y="142819"/>
                  <a:pt x="11441" y="140922"/>
                </a:cubicBezTo>
                <a:lnTo>
                  <a:pt x="25896" y="126467"/>
                </a:lnTo>
                <a:cubicBezTo>
                  <a:pt x="38230" y="136708"/>
                  <a:pt x="54136" y="142875"/>
                  <a:pt x="71438" y="142875"/>
                </a:cubicBezTo>
                <a:cubicBezTo>
                  <a:pt x="107435" y="142875"/>
                  <a:pt x="137210" y="116253"/>
                  <a:pt x="142149" y="81623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627063" y="1111250"/>
            <a:ext cx="1119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Reload Triggers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4500" y="1428750"/>
            <a:ext cx="3706813" cy="825500"/>
          </a:xfrm>
          <a:custGeom>
            <a:avLst/>
            <a:gdLst/>
            <a:ahLst/>
            <a:cxnLst/>
            <a:rect l="l" t="t" r="r" b="b"/>
            <a:pathLst>
              <a:path w="3706813" h="825500">
                <a:moveTo>
                  <a:pt x="63497" y="0"/>
                </a:moveTo>
                <a:lnTo>
                  <a:pt x="3643315" y="0"/>
                </a:lnTo>
                <a:cubicBezTo>
                  <a:pt x="3678384" y="0"/>
                  <a:pt x="3706812" y="28429"/>
                  <a:pt x="3706812" y="63497"/>
                </a:cubicBezTo>
                <a:lnTo>
                  <a:pt x="3706813" y="762003"/>
                </a:lnTo>
                <a:cubicBezTo>
                  <a:pt x="3706812" y="797071"/>
                  <a:pt x="3678384" y="825500"/>
                  <a:pt x="3643315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9" name="Shape 7"/>
          <p:cNvSpPr/>
          <p:nvPr/>
        </p:nvSpPr>
        <p:spPr>
          <a:xfrm>
            <a:off x="539750" y="152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511969" y="152400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7250" y="1571625"/>
            <a:ext cx="595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750" y="1841500"/>
            <a:ext cx="3563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 /management/models/{id}/reload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750" y="2031903"/>
            <a:ext cx="3563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for urgent hotfixes or manual promotions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43884" y="1428750"/>
            <a:ext cx="3706813" cy="825500"/>
          </a:xfrm>
          <a:custGeom>
            <a:avLst/>
            <a:gdLst/>
            <a:ahLst/>
            <a:cxnLst/>
            <a:rect l="l" t="t" r="r" b="b"/>
            <a:pathLst>
              <a:path w="3706813" h="825500">
                <a:moveTo>
                  <a:pt x="63497" y="0"/>
                </a:moveTo>
                <a:lnTo>
                  <a:pt x="3643315" y="0"/>
                </a:lnTo>
                <a:cubicBezTo>
                  <a:pt x="3678384" y="0"/>
                  <a:pt x="3706812" y="28429"/>
                  <a:pt x="3706812" y="63497"/>
                </a:cubicBezTo>
                <a:lnTo>
                  <a:pt x="3706813" y="762003"/>
                </a:lnTo>
                <a:cubicBezTo>
                  <a:pt x="3706812" y="797071"/>
                  <a:pt x="3678384" y="825500"/>
                  <a:pt x="3643315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339134" y="152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4311353" y="152400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56634" y="1571625"/>
            <a:ext cx="1293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S3 → Lambda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39134" y="1841500"/>
            <a:ext cx="3563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S3 PutObject → EventBridge → Lambda → API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39134" y="2031903"/>
            <a:ext cx="3563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human intervention, ~30s from upload to live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3267" y="1428750"/>
            <a:ext cx="3706813" cy="825500"/>
          </a:xfrm>
          <a:custGeom>
            <a:avLst/>
            <a:gdLst/>
            <a:ahLst/>
            <a:cxnLst/>
            <a:rect l="l" t="t" r="r" b="b"/>
            <a:pathLst>
              <a:path w="3706813" h="825500">
                <a:moveTo>
                  <a:pt x="63497" y="0"/>
                </a:moveTo>
                <a:lnTo>
                  <a:pt x="3643315" y="0"/>
                </a:lnTo>
                <a:cubicBezTo>
                  <a:pt x="3678384" y="0"/>
                  <a:pt x="3706812" y="28429"/>
                  <a:pt x="3706812" y="63497"/>
                </a:cubicBezTo>
                <a:lnTo>
                  <a:pt x="3706813" y="762003"/>
                </a:lnTo>
                <a:cubicBezTo>
                  <a:pt x="3706812" y="797071"/>
                  <a:pt x="3678384" y="825500"/>
                  <a:pt x="3643315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518" y="152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2" name="Text 20"/>
          <p:cNvSpPr/>
          <p:nvPr/>
        </p:nvSpPr>
        <p:spPr>
          <a:xfrm>
            <a:off x="8110737" y="152400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56018" y="1571625"/>
            <a:ext cx="90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Scheduled Polling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38518" y="1841500"/>
            <a:ext cx="3563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30s: poll manifests/{modelId}/latest.json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38518" y="2031903"/>
            <a:ext cx="3563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Fallback mechanism if Lambda not configured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17500" y="2508052"/>
            <a:ext cx="5715000" cy="5214938"/>
          </a:xfrm>
          <a:custGeom>
            <a:avLst/>
            <a:gdLst/>
            <a:ahLst/>
            <a:cxnLst/>
            <a:rect l="l" t="t" r="r" b="b"/>
            <a:pathLst>
              <a:path w="5715000" h="5214938">
                <a:moveTo>
                  <a:pt x="95225" y="0"/>
                </a:moveTo>
                <a:lnTo>
                  <a:pt x="5619775" y="0"/>
                </a:lnTo>
                <a:cubicBezTo>
                  <a:pt x="5672366" y="0"/>
                  <a:pt x="5715000" y="42634"/>
                  <a:pt x="5715000" y="95225"/>
                </a:cubicBezTo>
                <a:lnTo>
                  <a:pt x="5715000" y="5119713"/>
                </a:lnTo>
                <a:cubicBezTo>
                  <a:pt x="5715000" y="5172304"/>
                  <a:pt x="5672366" y="5214938"/>
                  <a:pt x="5619775" y="5214938"/>
                </a:cubicBezTo>
                <a:lnTo>
                  <a:pt x="95225" y="5214938"/>
                </a:lnTo>
                <a:cubicBezTo>
                  <a:pt x="42634" y="5214938"/>
                  <a:pt x="0" y="5172304"/>
                  <a:pt x="0" y="5119713"/>
                </a:cubicBezTo>
                <a:lnTo>
                  <a:pt x="0" y="95225"/>
                </a:lnTo>
                <a:cubicBezTo>
                  <a:pt x="0" y="42634"/>
                  <a:pt x="42634" y="0"/>
                  <a:pt x="9522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4344" y="267474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0252" y="42025"/>
                </a:moveTo>
                <a:lnTo>
                  <a:pt x="113463" y="68814"/>
                </a:lnTo>
                <a:cubicBezTo>
                  <a:pt x="110896" y="71382"/>
                  <a:pt x="107073" y="72135"/>
                  <a:pt x="103724" y="70740"/>
                </a:cubicBezTo>
                <a:cubicBezTo>
                  <a:pt x="100375" y="69345"/>
                  <a:pt x="98227" y="66108"/>
                  <a:pt x="98227" y="62508"/>
                </a:cubicBezTo>
                <a:lnTo>
                  <a:pt x="98227" y="44648"/>
                </a:lnTo>
                <a:lnTo>
                  <a:pt x="8930" y="44648"/>
                </a:lnTo>
                <a:cubicBezTo>
                  <a:pt x="3990" y="44648"/>
                  <a:pt x="0" y="40658"/>
                  <a:pt x="0" y="35719"/>
                </a:cubicBezTo>
                <a:cubicBezTo>
                  <a:pt x="0" y="30780"/>
                  <a:pt x="3990" y="26789"/>
                  <a:pt x="8930" y="26789"/>
                </a:cubicBezTo>
                <a:lnTo>
                  <a:pt x="98227" y="26789"/>
                </a:lnTo>
                <a:lnTo>
                  <a:pt x="98227" y="8930"/>
                </a:lnTo>
                <a:cubicBezTo>
                  <a:pt x="98227" y="5330"/>
                  <a:pt x="100403" y="2065"/>
                  <a:pt x="103752" y="670"/>
                </a:cubicBezTo>
                <a:cubicBezTo>
                  <a:pt x="107100" y="-726"/>
                  <a:pt x="110923" y="56"/>
                  <a:pt x="113491" y="2595"/>
                </a:cubicBezTo>
                <a:lnTo>
                  <a:pt x="140280" y="29384"/>
                </a:lnTo>
                <a:cubicBezTo>
                  <a:pt x="143768" y="32872"/>
                  <a:pt x="143768" y="38537"/>
                  <a:pt x="140280" y="42025"/>
                </a:cubicBezTo>
                <a:close/>
                <a:moveTo>
                  <a:pt x="29384" y="140252"/>
                </a:moveTo>
                <a:lnTo>
                  <a:pt x="2595" y="113463"/>
                </a:lnTo>
                <a:cubicBezTo>
                  <a:pt x="-893" y="109975"/>
                  <a:pt x="-893" y="104310"/>
                  <a:pt x="2595" y="100822"/>
                </a:cubicBezTo>
                <a:lnTo>
                  <a:pt x="29384" y="74033"/>
                </a:lnTo>
                <a:cubicBezTo>
                  <a:pt x="31952" y="71465"/>
                  <a:pt x="35775" y="70712"/>
                  <a:pt x="39123" y="72107"/>
                </a:cubicBezTo>
                <a:cubicBezTo>
                  <a:pt x="42472" y="73502"/>
                  <a:pt x="44648" y="76767"/>
                  <a:pt x="44648" y="80367"/>
                </a:cubicBezTo>
                <a:lnTo>
                  <a:pt x="44648" y="98227"/>
                </a:lnTo>
                <a:lnTo>
                  <a:pt x="133945" y="98227"/>
                </a:lnTo>
                <a:cubicBezTo>
                  <a:pt x="138885" y="98227"/>
                  <a:pt x="142875" y="102217"/>
                  <a:pt x="142875" y="107156"/>
                </a:cubicBezTo>
                <a:cubicBezTo>
                  <a:pt x="142875" y="112095"/>
                  <a:pt x="138885" y="116086"/>
                  <a:pt x="133945" y="116086"/>
                </a:cubicBezTo>
                <a:lnTo>
                  <a:pt x="44648" y="116086"/>
                </a:lnTo>
                <a:lnTo>
                  <a:pt x="44648" y="133945"/>
                </a:lnTo>
                <a:cubicBezTo>
                  <a:pt x="44648" y="137545"/>
                  <a:pt x="42472" y="140810"/>
                  <a:pt x="39123" y="142205"/>
                </a:cubicBezTo>
                <a:cubicBezTo>
                  <a:pt x="35775" y="143601"/>
                  <a:pt x="31952" y="142819"/>
                  <a:pt x="29384" y="14028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8" name="Text 26"/>
          <p:cNvSpPr/>
          <p:nvPr/>
        </p:nvSpPr>
        <p:spPr>
          <a:xfrm>
            <a:off x="627063" y="2635052"/>
            <a:ext cx="534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Zero-Downtime Swap Mechanism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4500" y="29525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1751" y="0"/>
                </a:moveTo>
                <a:lnTo>
                  <a:pt x="158749" y="0"/>
                </a:lnTo>
                <a:cubicBezTo>
                  <a:pt x="176273" y="0"/>
                  <a:pt x="190500" y="14227"/>
                  <a:pt x="190500" y="31751"/>
                </a:cubicBezTo>
                <a:lnTo>
                  <a:pt x="190500" y="158749"/>
                </a:lnTo>
                <a:cubicBezTo>
                  <a:pt x="190500" y="176273"/>
                  <a:pt x="176273" y="190500"/>
                  <a:pt x="158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0" name="Text 28"/>
          <p:cNvSpPr/>
          <p:nvPr/>
        </p:nvSpPr>
        <p:spPr>
          <a:xfrm>
            <a:off x="424656" y="2952552"/>
            <a:ext cx="230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6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0ms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8500" y="2952552"/>
            <a:ext cx="1508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 /reload received by ECS task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4500" y="32065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1751" y="0"/>
                </a:moveTo>
                <a:lnTo>
                  <a:pt x="158749" y="0"/>
                </a:lnTo>
                <a:cubicBezTo>
                  <a:pt x="176273" y="0"/>
                  <a:pt x="190500" y="14227"/>
                  <a:pt x="190500" y="31751"/>
                </a:cubicBezTo>
                <a:lnTo>
                  <a:pt x="190500" y="158749"/>
                </a:lnTo>
                <a:cubicBezTo>
                  <a:pt x="190500" y="176273"/>
                  <a:pt x="176273" y="190500"/>
                  <a:pt x="158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3" name="Text 31"/>
          <p:cNvSpPr/>
          <p:nvPr/>
        </p:nvSpPr>
        <p:spPr>
          <a:xfrm>
            <a:off x="424656" y="3206552"/>
            <a:ext cx="230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6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50ms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8500" y="3206552"/>
            <a:ext cx="2508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model.onnx streamed from S3 (EFS cache check first)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4500" y="34605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1751" y="0"/>
                </a:moveTo>
                <a:lnTo>
                  <a:pt x="158749" y="0"/>
                </a:lnTo>
                <a:cubicBezTo>
                  <a:pt x="176273" y="0"/>
                  <a:pt x="190500" y="14227"/>
                  <a:pt x="190500" y="31751"/>
                </a:cubicBezTo>
                <a:lnTo>
                  <a:pt x="190500" y="158749"/>
                </a:lnTo>
                <a:cubicBezTo>
                  <a:pt x="190500" y="176273"/>
                  <a:pt x="176273" y="190500"/>
                  <a:pt x="158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6" name="Text 34"/>
          <p:cNvSpPr/>
          <p:nvPr/>
        </p:nvSpPr>
        <p:spPr>
          <a:xfrm>
            <a:off x="424656" y="3460552"/>
            <a:ext cx="230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6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200ms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8500" y="3460552"/>
            <a:ext cx="2738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OrtSession created and graph-optimized by ONNX Runtime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4500" y="37145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1751" y="0"/>
                </a:moveTo>
                <a:lnTo>
                  <a:pt x="158749" y="0"/>
                </a:lnTo>
                <a:cubicBezTo>
                  <a:pt x="176273" y="0"/>
                  <a:pt x="190500" y="14227"/>
                  <a:pt x="190500" y="31751"/>
                </a:cubicBezTo>
                <a:lnTo>
                  <a:pt x="190500" y="158749"/>
                </a:lnTo>
                <a:cubicBezTo>
                  <a:pt x="190500" y="176273"/>
                  <a:pt x="176273" y="190500"/>
                  <a:pt x="158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9" name="Text 37"/>
          <p:cNvSpPr/>
          <p:nvPr/>
        </p:nvSpPr>
        <p:spPr>
          <a:xfrm>
            <a:off x="424656" y="3714552"/>
            <a:ext cx="230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6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201ms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8500" y="3714552"/>
            <a:ext cx="5207000" cy="412750"/>
          </a:xfrm>
          <a:custGeom>
            <a:avLst/>
            <a:gdLst/>
            <a:ahLst/>
            <a:cxnLst/>
            <a:rect l="l" t="t" r="r" b="b"/>
            <a:pathLst>
              <a:path w="5207000" h="412750">
                <a:moveTo>
                  <a:pt x="31749" y="0"/>
                </a:moveTo>
                <a:lnTo>
                  <a:pt x="5175251" y="0"/>
                </a:lnTo>
                <a:cubicBezTo>
                  <a:pt x="5192786" y="0"/>
                  <a:pt x="5207000" y="14214"/>
                  <a:pt x="5207000" y="31749"/>
                </a:cubicBezTo>
                <a:lnTo>
                  <a:pt x="5207000" y="381001"/>
                </a:lnTo>
                <a:cubicBezTo>
                  <a:pt x="5207000" y="398536"/>
                  <a:pt x="5192786" y="412750"/>
                  <a:pt x="5175251" y="412750"/>
                </a:cubicBezTo>
                <a:lnTo>
                  <a:pt x="31749" y="412750"/>
                </a:lnTo>
                <a:cubicBezTo>
                  <a:pt x="14214" y="412750"/>
                  <a:pt x="0" y="398536"/>
                  <a:pt x="0" y="3810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62000" y="3778052"/>
            <a:ext cx="5127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AtomicReference.getAndSet(newSession)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62000" y="3936702"/>
            <a:ext cx="5127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Before: threads read oldSession | After: new threads read newSession | Mid-inference threads finish on oldSession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4500" y="419060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1751" y="0"/>
                </a:moveTo>
                <a:lnTo>
                  <a:pt x="158749" y="0"/>
                </a:lnTo>
                <a:cubicBezTo>
                  <a:pt x="176273" y="0"/>
                  <a:pt x="190500" y="14227"/>
                  <a:pt x="190500" y="31751"/>
                </a:cubicBezTo>
                <a:lnTo>
                  <a:pt x="190500" y="158749"/>
                </a:lnTo>
                <a:cubicBezTo>
                  <a:pt x="190500" y="176273"/>
                  <a:pt x="176273" y="190500"/>
                  <a:pt x="158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44" name="Text 42"/>
          <p:cNvSpPr/>
          <p:nvPr/>
        </p:nvSpPr>
        <p:spPr>
          <a:xfrm>
            <a:off x="424656" y="4190605"/>
            <a:ext cx="230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6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500ms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8500" y="4190605"/>
            <a:ext cx="3135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in-flight requests complete, oldSession.close() releases native memory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44500" y="7249023"/>
            <a:ext cx="5461000" cy="349250"/>
          </a:xfrm>
          <a:custGeom>
            <a:avLst/>
            <a:gdLst/>
            <a:ahLst/>
            <a:cxnLst/>
            <a:rect l="l" t="t" r="r" b="b"/>
            <a:pathLst>
              <a:path w="5461000" h="349250">
                <a:moveTo>
                  <a:pt x="63501" y="0"/>
                </a:moveTo>
                <a:lnTo>
                  <a:pt x="5397499" y="0"/>
                </a:lnTo>
                <a:cubicBezTo>
                  <a:pt x="5432570" y="0"/>
                  <a:pt x="5461000" y="28430"/>
                  <a:pt x="5461000" y="63501"/>
                </a:cubicBezTo>
                <a:lnTo>
                  <a:pt x="5461000" y="285749"/>
                </a:lnTo>
                <a:cubicBezTo>
                  <a:pt x="5461000" y="320820"/>
                  <a:pt x="5432570" y="349250"/>
                  <a:pt x="5397499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511969" y="7344273"/>
            <a:ext cx="532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reload time: ~500ms | No locks, no waiting, no dropped requests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59500" y="2508052"/>
            <a:ext cx="5715000" cy="5214938"/>
          </a:xfrm>
          <a:custGeom>
            <a:avLst/>
            <a:gdLst/>
            <a:ahLst/>
            <a:cxnLst/>
            <a:rect l="l" t="t" r="r" b="b"/>
            <a:pathLst>
              <a:path w="5715000" h="5214938">
                <a:moveTo>
                  <a:pt x="95225" y="0"/>
                </a:moveTo>
                <a:lnTo>
                  <a:pt x="5619775" y="0"/>
                </a:lnTo>
                <a:cubicBezTo>
                  <a:pt x="5672366" y="0"/>
                  <a:pt x="5715000" y="42634"/>
                  <a:pt x="5715000" y="95225"/>
                </a:cubicBezTo>
                <a:lnTo>
                  <a:pt x="5715000" y="5119713"/>
                </a:lnTo>
                <a:cubicBezTo>
                  <a:pt x="5715000" y="5172304"/>
                  <a:pt x="5672366" y="5214938"/>
                  <a:pt x="5619775" y="5214938"/>
                </a:cubicBezTo>
                <a:lnTo>
                  <a:pt x="95225" y="5214938"/>
                </a:lnTo>
                <a:cubicBezTo>
                  <a:pt x="42634" y="5214938"/>
                  <a:pt x="0" y="5172304"/>
                  <a:pt x="0" y="5119713"/>
                </a:cubicBezTo>
                <a:lnTo>
                  <a:pt x="0" y="95225"/>
                </a:lnTo>
                <a:cubicBezTo>
                  <a:pt x="0" y="42634"/>
                  <a:pt x="42634" y="0"/>
                  <a:pt x="9522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19063" dist="79375" dir="540000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315273" y="267474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46881" y="8930"/>
                </a:moveTo>
                <a:lnTo>
                  <a:pt x="6697" y="8930"/>
                </a:lnTo>
                <a:cubicBezTo>
                  <a:pt x="2986" y="8930"/>
                  <a:pt x="0" y="11916"/>
                  <a:pt x="0" y="15627"/>
                </a:cubicBezTo>
                <a:lnTo>
                  <a:pt x="0" y="55811"/>
                </a:lnTo>
                <a:cubicBezTo>
                  <a:pt x="0" y="58517"/>
                  <a:pt x="1619" y="60973"/>
                  <a:pt x="4130" y="62006"/>
                </a:cubicBezTo>
                <a:cubicBezTo>
                  <a:pt x="6641" y="63038"/>
                  <a:pt x="9516" y="62452"/>
                  <a:pt x="11441" y="60554"/>
                </a:cubicBezTo>
                <a:lnTo>
                  <a:pt x="22603" y="49392"/>
                </a:lnTo>
                <a:lnTo>
                  <a:pt x="44648" y="71438"/>
                </a:lnTo>
                <a:lnTo>
                  <a:pt x="22603" y="93483"/>
                </a:lnTo>
                <a:lnTo>
                  <a:pt x="11441" y="82321"/>
                </a:lnTo>
                <a:cubicBezTo>
                  <a:pt x="9516" y="80395"/>
                  <a:pt x="6641" y="79837"/>
                  <a:pt x="4130" y="80869"/>
                </a:cubicBezTo>
                <a:cubicBezTo>
                  <a:pt x="1619" y="81902"/>
                  <a:pt x="0" y="84358"/>
                  <a:pt x="0" y="87064"/>
                </a:cubicBezTo>
                <a:lnTo>
                  <a:pt x="0" y="127248"/>
                </a:lnTo>
                <a:cubicBezTo>
                  <a:pt x="0" y="130959"/>
                  <a:pt x="2986" y="133945"/>
                  <a:pt x="6697" y="133945"/>
                </a:cubicBezTo>
                <a:lnTo>
                  <a:pt x="46881" y="133945"/>
                </a:lnTo>
                <a:cubicBezTo>
                  <a:pt x="49588" y="133945"/>
                  <a:pt x="52043" y="132327"/>
                  <a:pt x="53076" y="129815"/>
                </a:cubicBezTo>
                <a:cubicBezTo>
                  <a:pt x="54108" y="127304"/>
                  <a:pt x="53550" y="124430"/>
                  <a:pt x="51625" y="122504"/>
                </a:cubicBezTo>
                <a:lnTo>
                  <a:pt x="40463" y="111342"/>
                </a:lnTo>
                <a:lnTo>
                  <a:pt x="62508" y="89297"/>
                </a:lnTo>
                <a:lnTo>
                  <a:pt x="84553" y="111342"/>
                </a:lnTo>
                <a:lnTo>
                  <a:pt x="73391" y="122504"/>
                </a:lnTo>
                <a:cubicBezTo>
                  <a:pt x="71465" y="124430"/>
                  <a:pt x="70907" y="127304"/>
                  <a:pt x="71940" y="129815"/>
                </a:cubicBezTo>
                <a:cubicBezTo>
                  <a:pt x="72972" y="132327"/>
                  <a:pt x="75428" y="133945"/>
                  <a:pt x="78135" y="133945"/>
                </a:cubicBezTo>
                <a:lnTo>
                  <a:pt x="118318" y="133945"/>
                </a:lnTo>
                <a:cubicBezTo>
                  <a:pt x="122030" y="133945"/>
                  <a:pt x="125016" y="130959"/>
                  <a:pt x="125016" y="127248"/>
                </a:cubicBezTo>
                <a:lnTo>
                  <a:pt x="125016" y="87064"/>
                </a:lnTo>
                <a:cubicBezTo>
                  <a:pt x="125016" y="84358"/>
                  <a:pt x="123397" y="81902"/>
                  <a:pt x="120886" y="80869"/>
                </a:cubicBezTo>
                <a:cubicBezTo>
                  <a:pt x="118374" y="79837"/>
                  <a:pt x="115500" y="80395"/>
                  <a:pt x="113574" y="82321"/>
                </a:cubicBezTo>
                <a:lnTo>
                  <a:pt x="102412" y="93483"/>
                </a:lnTo>
                <a:lnTo>
                  <a:pt x="80367" y="71438"/>
                </a:lnTo>
                <a:lnTo>
                  <a:pt x="102412" y="49392"/>
                </a:lnTo>
                <a:lnTo>
                  <a:pt x="113574" y="60554"/>
                </a:lnTo>
                <a:cubicBezTo>
                  <a:pt x="115500" y="62480"/>
                  <a:pt x="118374" y="63038"/>
                  <a:pt x="120886" y="62006"/>
                </a:cubicBezTo>
                <a:cubicBezTo>
                  <a:pt x="123397" y="60973"/>
                  <a:pt x="125016" y="58517"/>
                  <a:pt x="125016" y="55811"/>
                </a:cubicBezTo>
                <a:lnTo>
                  <a:pt x="125016" y="15627"/>
                </a:lnTo>
                <a:cubicBezTo>
                  <a:pt x="125016" y="11916"/>
                  <a:pt x="122030" y="8930"/>
                  <a:pt x="118318" y="8930"/>
                </a:cubicBezTo>
                <a:lnTo>
                  <a:pt x="78135" y="8930"/>
                </a:lnTo>
                <a:cubicBezTo>
                  <a:pt x="75428" y="8930"/>
                  <a:pt x="72972" y="10548"/>
                  <a:pt x="71940" y="13060"/>
                </a:cubicBezTo>
                <a:cubicBezTo>
                  <a:pt x="70907" y="15571"/>
                  <a:pt x="71493" y="18445"/>
                  <a:pt x="73391" y="20371"/>
                </a:cubicBezTo>
                <a:lnTo>
                  <a:pt x="84553" y="31533"/>
                </a:lnTo>
                <a:lnTo>
                  <a:pt x="62508" y="53578"/>
                </a:lnTo>
                <a:lnTo>
                  <a:pt x="40463" y="31533"/>
                </a:lnTo>
                <a:lnTo>
                  <a:pt x="51625" y="20371"/>
                </a:lnTo>
                <a:cubicBezTo>
                  <a:pt x="53550" y="18445"/>
                  <a:pt x="54108" y="15571"/>
                  <a:pt x="53076" y="13060"/>
                </a:cubicBezTo>
                <a:cubicBezTo>
                  <a:pt x="52043" y="10548"/>
                  <a:pt x="49588" y="8930"/>
                  <a:pt x="46881" y="893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50" name="Text 48"/>
          <p:cNvSpPr/>
          <p:nvPr/>
        </p:nvSpPr>
        <p:spPr>
          <a:xfrm>
            <a:off x="6469063" y="2635052"/>
            <a:ext cx="534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Auto-Scaling Strategy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86500" y="2952552"/>
            <a:ext cx="5461000" cy="2603500"/>
          </a:xfrm>
          <a:custGeom>
            <a:avLst/>
            <a:gdLst/>
            <a:ahLst/>
            <a:cxnLst/>
            <a:rect l="l" t="t" r="r" b="b"/>
            <a:pathLst>
              <a:path w="5461000" h="2603500">
                <a:moveTo>
                  <a:pt x="63499" y="0"/>
                </a:moveTo>
                <a:lnTo>
                  <a:pt x="5397501" y="0"/>
                </a:lnTo>
                <a:cubicBezTo>
                  <a:pt x="5432570" y="0"/>
                  <a:pt x="5461000" y="28430"/>
                  <a:pt x="5461000" y="63499"/>
                </a:cubicBezTo>
                <a:lnTo>
                  <a:pt x="5461000" y="2540001"/>
                </a:lnTo>
                <a:cubicBezTo>
                  <a:pt x="5461000" y="2575070"/>
                  <a:pt x="5432570" y="2603500"/>
                  <a:pt x="5397501" y="2603500"/>
                </a:cubicBezTo>
                <a:lnTo>
                  <a:pt x="63499" y="2603500"/>
                </a:lnTo>
                <a:cubicBezTo>
                  <a:pt x="28430" y="2603500"/>
                  <a:pt x="0" y="2575070"/>
                  <a:pt x="0" y="2540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52" name="Text 50"/>
          <p:cNvSpPr/>
          <p:nvPr/>
        </p:nvSpPr>
        <p:spPr>
          <a:xfrm>
            <a:off x="6381750" y="3047802"/>
            <a:ext cx="5318125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 scaling = service.autoScaleTaskCount({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minCapacity: 2,   // Multi-AZ minimum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maxCapacity: 20,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Scale on CPU utilization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scaling.scaleOnCpuUtilization('CpuScaling',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targetUtilizationPercent: 60,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scaleInCooldown: Duration.minutes(5),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scaleOutCooldown: Duration.seconds(30),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Scale on requests per task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scaling.scaleOnRequestCount('RequestScaling',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requestsPerTarget: 3000,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targetGroup: targetGroup,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scaleOutCooldown: Duration.seconds(30),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scaleInCooldown: Duration.minutes(5),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5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286500" y="5649419"/>
            <a:ext cx="551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Capacity at Scale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86500" y="5871669"/>
            <a:ext cx="5461000" cy="254000"/>
          </a:xfrm>
          <a:custGeom>
            <a:avLst/>
            <a:gdLst/>
            <a:ahLst/>
            <a:cxnLst/>
            <a:rect l="l" t="t" r="r" b="b"/>
            <a:pathLst>
              <a:path w="5461000" h="254000">
                <a:moveTo>
                  <a:pt x="31750" y="0"/>
                </a:moveTo>
                <a:lnTo>
                  <a:pt x="5429250" y="0"/>
                </a:lnTo>
                <a:cubicBezTo>
                  <a:pt x="5446773" y="0"/>
                  <a:pt x="5461000" y="14227"/>
                  <a:pt x="5461000" y="31750"/>
                </a:cubicBezTo>
                <a:lnTo>
                  <a:pt x="5461000" y="222250"/>
                </a:lnTo>
                <a:cubicBezTo>
                  <a:pt x="5461000" y="239773"/>
                  <a:pt x="5446773" y="254000"/>
                  <a:pt x="5429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55" name="Text 53"/>
          <p:cNvSpPr/>
          <p:nvPr/>
        </p:nvSpPr>
        <p:spPr>
          <a:xfrm>
            <a:off x="6350000" y="5935169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429500" y="5935169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vCPUs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509000" y="5935169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Throughput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588500" y="5935169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P99 Latency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668000" y="5935169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Monthly Cost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286500" y="6157318"/>
            <a:ext cx="5461000" cy="254000"/>
          </a:xfrm>
          <a:custGeom>
            <a:avLst/>
            <a:gdLst/>
            <a:ahLst/>
            <a:cxnLst/>
            <a:rect l="l" t="t" r="r" b="b"/>
            <a:pathLst>
              <a:path w="5461000" h="254000">
                <a:moveTo>
                  <a:pt x="31750" y="0"/>
                </a:moveTo>
                <a:lnTo>
                  <a:pt x="5429250" y="0"/>
                </a:lnTo>
                <a:cubicBezTo>
                  <a:pt x="5446773" y="0"/>
                  <a:pt x="5461000" y="14227"/>
                  <a:pt x="5461000" y="31750"/>
                </a:cubicBezTo>
                <a:lnTo>
                  <a:pt x="5461000" y="222250"/>
                </a:lnTo>
                <a:cubicBezTo>
                  <a:pt x="5461000" y="239773"/>
                  <a:pt x="5446773" y="254000"/>
                  <a:pt x="5429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61" name="Text 59"/>
          <p:cNvSpPr/>
          <p:nvPr/>
        </p:nvSpPr>
        <p:spPr>
          <a:xfrm>
            <a:off x="6350000" y="6220818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429500" y="6220818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509000" y="6220818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~6,600 rps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588500" y="6220818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30 ms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668000" y="6220818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~$1,000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289675" y="6446142"/>
            <a:ext cx="5451475" cy="260350"/>
          </a:xfrm>
          <a:custGeom>
            <a:avLst/>
            <a:gdLst/>
            <a:ahLst/>
            <a:cxnLst/>
            <a:rect l="l" t="t" r="r" b="b"/>
            <a:pathLst>
              <a:path w="5451475" h="260350">
                <a:moveTo>
                  <a:pt x="31750" y="0"/>
                </a:moveTo>
                <a:lnTo>
                  <a:pt x="5419725" y="0"/>
                </a:lnTo>
                <a:cubicBezTo>
                  <a:pt x="5437260" y="0"/>
                  <a:pt x="5451475" y="14215"/>
                  <a:pt x="5451475" y="31750"/>
                </a:cubicBezTo>
                <a:lnTo>
                  <a:pt x="5451475" y="228600"/>
                </a:lnTo>
                <a:cubicBezTo>
                  <a:pt x="5451475" y="246135"/>
                  <a:pt x="5437260" y="260350"/>
                  <a:pt x="5419725" y="260350"/>
                </a:cubicBezTo>
                <a:lnTo>
                  <a:pt x="31750" y="260350"/>
                </a:lnTo>
                <a:cubicBezTo>
                  <a:pt x="14215" y="260350"/>
                  <a:pt x="0" y="246135"/>
                  <a:pt x="0" y="2286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 w="10160">
            <a:solidFill>
              <a:srgbClr val="4299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56350" y="6512820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433271" y="6512820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48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510191" y="6512820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~10,000 rps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587210" y="6512820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20 ms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664131" y="6512820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~$1,500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286500" y="6741317"/>
            <a:ext cx="5461000" cy="254000"/>
          </a:xfrm>
          <a:custGeom>
            <a:avLst/>
            <a:gdLst/>
            <a:ahLst/>
            <a:cxnLst/>
            <a:rect l="l" t="t" r="r" b="b"/>
            <a:pathLst>
              <a:path w="5461000" h="254000">
                <a:moveTo>
                  <a:pt x="31750" y="0"/>
                </a:moveTo>
                <a:lnTo>
                  <a:pt x="5429250" y="0"/>
                </a:lnTo>
                <a:cubicBezTo>
                  <a:pt x="5446773" y="0"/>
                  <a:pt x="5461000" y="14227"/>
                  <a:pt x="5461000" y="31750"/>
                </a:cubicBezTo>
                <a:lnTo>
                  <a:pt x="5461000" y="222250"/>
                </a:lnTo>
                <a:cubicBezTo>
                  <a:pt x="5461000" y="239773"/>
                  <a:pt x="5446773" y="254000"/>
                  <a:pt x="5429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73" name="Text 71"/>
          <p:cNvSpPr/>
          <p:nvPr/>
        </p:nvSpPr>
        <p:spPr>
          <a:xfrm>
            <a:off x="6350000" y="6804817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429500" y="6804817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160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509000" y="6804817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~33,000 rps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588500" y="6804817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10 ms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0668000" y="6804817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~$4,900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286500" y="7026974"/>
            <a:ext cx="5461000" cy="254000"/>
          </a:xfrm>
          <a:custGeom>
            <a:avLst/>
            <a:gdLst/>
            <a:ahLst/>
            <a:cxnLst/>
            <a:rect l="l" t="t" r="r" b="b"/>
            <a:pathLst>
              <a:path w="5461000" h="254000">
                <a:moveTo>
                  <a:pt x="31750" y="0"/>
                </a:moveTo>
                <a:lnTo>
                  <a:pt x="5429250" y="0"/>
                </a:lnTo>
                <a:cubicBezTo>
                  <a:pt x="5446773" y="0"/>
                  <a:pt x="5461000" y="14227"/>
                  <a:pt x="5461000" y="31750"/>
                </a:cubicBezTo>
                <a:lnTo>
                  <a:pt x="5461000" y="222250"/>
                </a:lnTo>
                <a:cubicBezTo>
                  <a:pt x="5461000" y="239773"/>
                  <a:pt x="5446773" y="254000"/>
                  <a:pt x="5429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79" name="Text 77"/>
          <p:cNvSpPr/>
          <p:nvPr/>
        </p:nvSpPr>
        <p:spPr>
          <a:xfrm>
            <a:off x="6350000" y="7090474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7429500" y="7090474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320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509000" y="7090474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~66,000 rps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9588500" y="7090474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10 ms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10668000" y="7090474"/>
            <a:ext cx="1063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~$9,800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286500" y="7344373"/>
            <a:ext cx="5461000" cy="254000"/>
          </a:xfrm>
          <a:custGeom>
            <a:avLst/>
            <a:gdLst/>
            <a:ahLst/>
            <a:cxnLst/>
            <a:rect l="l" t="t" r="r" b="b"/>
            <a:pathLst>
              <a:path w="5461000" h="254000">
                <a:moveTo>
                  <a:pt x="63500" y="0"/>
                </a:moveTo>
                <a:lnTo>
                  <a:pt x="5397500" y="0"/>
                </a:lnTo>
                <a:cubicBezTo>
                  <a:pt x="5432547" y="0"/>
                  <a:pt x="5461000" y="28453"/>
                  <a:pt x="5461000" y="63500"/>
                </a:cubicBezTo>
                <a:lnTo>
                  <a:pt x="5461000" y="190500"/>
                </a:lnTo>
                <a:cubicBezTo>
                  <a:pt x="5461000" y="225547"/>
                  <a:pt x="5432547" y="254000"/>
                  <a:pt x="5397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6350000" y="7407873"/>
            <a:ext cx="5381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lower P99 on AWS?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Auto-scaling prevents queue buildup — servers never overloaded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486" y="418001"/>
            <a:ext cx="33449" cy="267588"/>
          </a:xfrm>
          <a:custGeom>
            <a:avLst/>
            <a:gdLst/>
            <a:ahLst/>
            <a:cxnLst/>
            <a:rect l="l" t="t" r="r" b="b"/>
            <a:pathLst>
              <a:path w="33449" h="267588">
                <a:moveTo>
                  <a:pt x="0" y="0"/>
                </a:moveTo>
                <a:lnTo>
                  <a:pt x="33449" y="0"/>
                </a:lnTo>
                <a:lnTo>
                  <a:pt x="33449" y="267588"/>
                </a:lnTo>
                <a:lnTo>
                  <a:pt x="0" y="267588"/>
                </a:lnTo>
                <a:lnTo>
                  <a:pt x="0" y="0"/>
                </a:ln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68280" y="334486"/>
            <a:ext cx="5485564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b="1" spc="40" kern="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 / SECURITY &amp; DEPLOYMENT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8280" y="468174"/>
            <a:ext cx="5560823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75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IAM, Network Security &amp; ECS Fargate Deployment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486" y="869556"/>
            <a:ext cx="5694617" cy="5552461"/>
          </a:xfrm>
          <a:custGeom>
            <a:avLst/>
            <a:gdLst/>
            <a:ahLst/>
            <a:cxnLst/>
            <a:rect l="l" t="t" r="r" b="b"/>
            <a:pathLst>
              <a:path w="5694617" h="5552461">
                <a:moveTo>
                  <a:pt x="100333" y="0"/>
                </a:moveTo>
                <a:lnTo>
                  <a:pt x="5594284" y="0"/>
                </a:lnTo>
                <a:cubicBezTo>
                  <a:pt x="5649697" y="0"/>
                  <a:pt x="5694617" y="44921"/>
                  <a:pt x="5694617" y="100333"/>
                </a:cubicBezTo>
                <a:lnTo>
                  <a:pt x="5694617" y="5452128"/>
                </a:lnTo>
                <a:cubicBezTo>
                  <a:pt x="5694617" y="5507540"/>
                  <a:pt x="5649697" y="5552461"/>
                  <a:pt x="5594284" y="5552461"/>
                </a:cubicBezTo>
                <a:lnTo>
                  <a:pt x="100333" y="5552461"/>
                </a:lnTo>
                <a:cubicBezTo>
                  <a:pt x="44921" y="5552461"/>
                  <a:pt x="0" y="5507540"/>
                  <a:pt x="0" y="5452128"/>
                </a:cubicBezTo>
                <a:lnTo>
                  <a:pt x="0" y="100333"/>
                </a:lnTo>
                <a:cubicBezTo>
                  <a:pt x="0" y="44958"/>
                  <a:pt x="44958" y="0"/>
                  <a:pt x="1003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5432" dist="83621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6642" y="1036799"/>
            <a:ext cx="150519" cy="133794"/>
          </a:xfrm>
          <a:custGeom>
            <a:avLst/>
            <a:gdLst/>
            <a:ahLst/>
            <a:cxnLst/>
            <a:rect l="l" t="t" r="r" b="b"/>
            <a:pathLst>
              <a:path w="150519" h="133794">
                <a:moveTo>
                  <a:pt x="0" y="25086"/>
                </a:moveTo>
                <a:cubicBezTo>
                  <a:pt x="0" y="15862"/>
                  <a:pt x="7500" y="8362"/>
                  <a:pt x="16724" y="8362"/>
                </a:cubicBezTo>
                <a:lnTo>
                  <a:pt x="133794" y="8362"/>
                </a:lnTo>
                <a:cubicBezTo>
                  <a:pt x="143019" y="8362"/>
                  <a:pt x="150519" y="15862"/>
                  <a:pt x="150519" y="25086"/>
                </a:cubicBezTo>
                <a:lnTo>
                  <a:pt x="0" y="25086"/>
                </a:lnTo>
                <a:close/>
                <a:moveTo>
                  <a:pt x="0" y="37630"/>
                </a:moveTo>
                <a:lnTo>
                  <a:pt x="150519" y="37630"/>
                </a:lnTo>
                <a:lnTo>
                  <a:pt x="150519" y="108708"/>
                </a:lnTo>
                <a:cubicBezTo>
                  <a:pt x="150519" y="117932"/>
                  <a:pt x="143019" y="125432"/>
                  <a:pt x="133794" y="125432"/>
                </a:cubicBezTo>
                <a:lnTo>
                  <a:pt x="16724" y="125432"/>
                </a:lnTo>
                <a:cubicBezTo>
                  <a:pt x="7500" y="125432"/>
                  <a:pt x="0" y="117932"/>
                  <a:pt x="0" y="108708"/>
                </a:cubicBezTo>
                <a:lnTo>
                  <a:pt x="0" y="37630"/>
                </a:lnTo>
                <a:close/>
                <a:moveTo>
                  <a:pt x="64624" y="108708"/>
                </a:moveTo>
                <a:cubicBezTo>
                  <a:pt x="69902" y="108708"/>
                  <a:pt x="73848" y="103638"/>
                  <a:pt x="70477" y="99562"/>
                </a:cubicBezTo>
                <a:cubicBezTo>
                  <a:pt x="66636" y="94936"/>
                  <a:pt x="60835" y="91984"/>
                  <a:pt x="54354" y="91984"/>
                </a:cubicBezTo>
                <a:lnTo>
                  <a:pt x="37630" y="91984"/>
                </a:lnTo>
                <a:cubicBezTo>
                  <a:pt x="31149" y="91984"/>
                  <a:pt x="25348" y="94936"/>
                  <a:pt x="21506" y="99562"/>
                </a:cubicBezTo>
                <a:cubicBezTo>
                  <a:pt x="18135" y="103638"/>
                  <a:pt x="22081" y="108708"/>
                  <a:pt x="27360" y="108708"/>
                </a:cubicBezTo>
                <a:lnTo>
                  <a:pt x="64598" y="108708"/>
                </a:lnTo>
                <a:close/>
                <a:moveTo>
                  <a:pt x="45992" y="81531"/>
                </a:moveTo>
                <a:cubicBezTo>
                  <a:pt x="54068" y="81531"/>
                  <a:pt x="60626" y="74974"/>
                  <a:pt x="60626" y="66897"/>
                </a:cubicBezTo>
                <a:cubicBezTo>
                  <a:pt x="60626" y="58821"/>
                  <a:pt x="54068" y="52263"/>
                  <a:pt x="45992" y="52263"/>
                </a:cubicBezTo>
                <a:cubicBezTo>
                  <a:pt x="37915" y="52263"/>
                  <a:pt x="31358" y="58821"/>
                  <a:pt x="31358" y="66897"/>
                </a:cubicBezTo>
                <a:cubicBezTo>
                  <a:pt x="31358" y="74974"/>
                  <a:pt x="37915" y="81531"/>
                  <a:pt x="45992" y="81531"/>
                </a:cubicBezTo>
                <a:close/>
                <a:moveTo>
                  <a:pt x="94074" y="54354"/>
                </a:moveTo>
                <a:cubicBezTo>
                  <a:pt x="90599" y="54354"/>
                  <a:pt x="87802" y="57150"/>
                  <a:pt x="87802" y="60626"/>
                </a:cubicBezTo>
                <a:cubicBezTo>
                  <a:pt x="87802" y="64101"/>
                  <a:pt x="90599" y="66897"/>
                  <a:pt x="94074" y="66897"/>
                </a:cubicBezTo>
                <a:lnTo>
                  <a:pt x="123342" y="66897"/>
                </a:lnTo>
                <a:cubicBezTo>
                  <a:pt x="126817" y="66897"/>
                  <a:pt x="129613" y="64101"/>
                  <a:pt x="129613" y="60626"/>
                </a:cubicBezTo>
                <a:cubicBezTo>
                  <a:pt x="129613" y="57150"/>
                  <a:pt x="126817" y="54354"/>
                  <a:pt x="123342" y="54354"/>
                </a:cubicBezTo>
                <a:lnTo>
                  <a:pt x="94074" y="54354"/>
                </a:lnTo>
                <a:close/>
                <a:moveTo>
                  <a:pt x="94074" y="79440"/>
                </a:moveTo>
                <a:cubicBezTo>
                  <a:pt x="90599" y="79440"/>
                  <a:pt x="87802" y="82236"/>
                  <a:pt x="87802" y="85712"/>
                </a:cubicBezTo>
                <a:cubicBezTo>
                  <a:pt x="87802" y="89187"/>
                  <a:pt x="90599" y="91984"/>
                  <a:pt x="94074" y="91984"/>
                </a:cubicBezTo>
                <a:lnTo>
                  <a:pt x="123342" y="91984"/>
                </a:lnTo>
                <a:cubicBezTo>
                  <a:pt x="126817" y="91984"/>
                  <a:pt x="129613" y="89187"/>
                  <a:pt x="129613" y="85712"/>
                </a:cubicBezTo>
                <a:cubicBezTo>
                  <a:pt x="129613" y="82236"/>
                  <a:pt x="126817" y="79440"/>
                  <a:pt x="123342" y="79440"/>
                </a:cubicBezTo>
                <a:lnTo>
                  <a:pt x="94074" y="79440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635523" y="1003351"/>
            <a:ext cx="5326683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IAM Task Role — Least Privilege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8280" y="1270939"/>
            <a:ext cx="5427029" cy="5017284"/>
          </a:xfrm>
          <a:custGeom>
            <a:avLst/>
            <a:gdLst/>
            <a:ahLst/>
            <a:cxnLst/>
            <a:rect l="l" t="t" r="r" b="b"/>
            <a:pathLst>
              <a:path w="5427029" h="5017284">
                <a:moveTo>
                  <a:pt x="66880" y="0"/>
                </a:moveTo>
                <a:lnTo>
                  <a:pt x="5360148" y="0"/>
                </a:lnTo>
                <a:cubicBezTo>
                  <a:pt x="5397085" y="0"/>
                  <a:pt x="5427029" y="29943"/>
                  <a:pt x="5427029" y="66880"/>
                </a:cubicBezTo>
                <a:lnTo>
                  <a:pt x="5427029" y="4950404"/>
                </a:lnTo>
                <a:cubicBezTo>
                  <a:pt x="5427029" y="4987341"/>
                  <a:pt x="5397085" y="5017284"/>
                  <a:pt x="5360148" y="5017284"/>
                </a:cubicBezTo>
                <a:lnTo>
                  <a:pt x="66880" y="5017284"/>
                </a:lnTo>
                <a:cubicBezTo>
                  <a:pt x="29943" y="5017284"/>
                  <a:pt x="0" y="4987341"/>
                  <a:pt x="0" y="4950404"/>
                </a:cubicBezTo>
                <a:lnTo>
                  <a:pt x="0" y="66880"/>
                </a:lnTo>
                <a:cubicBezTo>
                  <a:pt x="0" y="29968"/>
                  <a:pt x="29968" y="0"/>
                  <a:pt x="6688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568626" y="1371285"/>
            <a:ext cx="5276510" cy="4816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"Version": "2012-10-17",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"Statement": [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"Sid": "ReadModelFiles",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"Effect": "Allow",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"Action": ["s3:GetObject"],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"Resource": [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"arn:aws:s3:::octaura-ml-models/models/*",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"arn:aws:s3:::octaura-ml-models/manifests/*",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"arn:aws:s3:::octaura-ml-models/baselines/*"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]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"Sid": "ReadConfig",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"Effect": "Allow",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"Action": ["ssm:GetParametersByPath"],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"Resource": "arn:aws:ssm:*:*:parameter/octaura/inference/prod/*"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"Sid": "WriteMetrics",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"Effect": "Allow",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"Action": ["cloudwatch:PutMetricData"],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"Resource": "*",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"Condition":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"StringEquals": { "cloudwatch:namespace": "Octaura/InferenceService"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"Sid": "XRayTracing",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"Effect": "Allow",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"Action": ["xray:PutTraceSegments"],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"Resource": "*"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]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4486" y="6518607"/>
            <a:ext cx="5694617" cy="267588"/>
          </a:xfrm>
          <a:custGeom>
            <a:avLst/>
            <a:gdLst/>
            <a:ahLst/>
            <a:cxnLst/>
            <a:rect l="l" t="t" r="r" b="b"/>
            <a:pathLst>
              <a:path w="5694617" h="267588">
                <a:moveTo>
                  <a:pt x="100346" y="0"/>
                </a:moveTo>
                <a:lnTo>
                  <a:pt x="5594272" y="0"/>
                </a:lnTo>
                <a:cubicBezTo>
                  <a:pt x="5649691" y="0"/>
                  <a:pt x="5694617" y="44926"/>
                  <a:pt x="5694617" y="100346"/>
                </a:cubicBezTo>
                <a:lnTo>
                  <a:pt x="5694617" y="167243"/>
                </a:lnTo>
                <a:cubicBezTo>
                  <a:pt x="5694617" y="222662"/>
                  <a:pt x="5649691" y="267588"/>
                  <a:pt x="5594272" y="267588"/>
                </a:cubicBezTo>
                <a:lnTo>
                  <a:pt x="100346" y="267588"/>
                </a:lnTo>
                <a:cubicBezTo>
                  <a:pt x="44963" y="267588"/>
                  <a:pt x="0" y="222625"/>
                  <a:pt x="0" y="167243"/>
                </a:cubicBezTo>
                <a:lnTo>
                  <a:pt x="0" y="100346"/>
                </a:lnTo>
                <a:cubicBezTo>
                  <a:pt x="0" y="44963"/>
                  <a:pt x="44963" y="0"/>
                  <a:pt x="10034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5432" dist="83621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5004" y="6685849"/>
            <a:ext cx="133794" cy="133794"/>
          </a:xfrm>
          <a:custGeom>
            <a:avLst/>
            <a:gdLst/>
            <a:ahLst/>
            <a:cxnLst/>
            <a:rect l="l" t="t" r="r" b="b"/>
            <a:pathLst>
              <a:path w="133794" h="133794">
                <a:moveTo>
                  <a:pt x="66897" y="0"/>
                </a:moveTo>
                <a:cubicBezTo>
                  <a:pt x="68099" y="0"/>
                  <a:pt x="69301" y="261"/>
                  <a:pt x="70399" y="758"/>
                </a:cubicBezTo>
                <a:lnTo>
                  <a:pt x="119631" y="21637"/>
                </a:lnTo>
                <a:cubicBezTo>
                  <a:pt x="125380" y="24067"/>
                  <a:pt x="129665" y="29738"/>
                  <a:pt x="129639" y="36584"/>
                </a:cubicBezTo>
                <a:cubicBezTo>
                  <a:pt x="129509" y="62507"/>
                  <a:pt x="118847" y="109936"/>
                  <a:pt x="73822" y="131495"/>
                </a:cubicBezTo>
                <a:cubicBezTo>
                  <a:pt x="69458" y="133585"/>
                  <a:pt x="64388" y="133585"/>
                  <a:pt x="60024" y="131495"/>
                </a:cubicBezTo>
                <a:cubicBezTo>
                  <a:pt x="14973" y="109936"/>
                  <a:pt x="4338" y="62507"/>
                  <a:pt x="4207" y="36584"/>
                </a:cubicBezTo>
                <a:cubicBezTo>
                  <a:pt x="4181" y="29738"/>
                  <a:pt x="8467" y="24067"/>
                  <a:pt x="14216" y="21637"/>
                </a:cubicBezTo>
                <a:lnTo>
                  <a:pt x="63422" y="758"/>
                </a:lnTo>
                <a:cubicBezTo>
                  <a:pt x="64519" y="261"/>
                  <a:pt x="65695" y="0"/>
                  <a:pt x="66897" y="0"/>
                </a:cubicBezTo>
                <a:close/>
                <a:moveTo>
                  <a:pt x="66897" y="17456"/>
                </a:moveTo>
                <a:lnTo>
                  <a:pt x="66897" y="116260"/>
                </a:lnTo>
                <a:cubicBezTo>
                  <a:pt x="102959" y="98804"/>
                  <a:pt x="112654" y="60129"/>
                  <a:pt x="112889" y="36976"/>
                </a:cubicBezTo>
                <a:lnTo>
                  <a:pt x="66897" y="17482"/>
                </a:lnTo>
                <a:lnTo>
                  <a:pt x="66897" y="17482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23" y="6652401"/>
            <a:ext cx="5326683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Security Layers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8280" y="6919989"/>
            <a:ext cx="5301597" cy="401383"/>
          </a:xfrm>
          <a:custGeom>
            <a:avLst/>
            <a:gdLst/>
            <a:ahLst/>
            <a:cxnLst/>
            <a:rect l="l" t="t" r="r" b="b"/>
            <a:pathLst>
              <a:path w="5301597" h="401383">
                <a:moveTo>
                  <a:pt x="33447" y="0"/>
                </a:moveTo>
                <a:lnTo>
                  <a:pt x="5268149" y="0"/>
                </a:lnTo>
                <a:cubicBezTo>
                  <a:pt x="5286622" y="0"/>
                  <a:pt x="5301597" y="14975"/>
                  <a:pt x="5301597" y="33447"/>
                </a:cubicBezTo>
                <a:lnTo>
                  <a:pt x="5301597" y="367935"/>
                </a:lnTo>
                <a:cubicBezTo>
                  <a:pt x="5301597" y="386408"/>
                  <a:pt x="5286622" y="401383"/>
                  <a:pt x="5268149" y="401383"/>
                </a:cubicBezTo>
                <a:lnTo>
                  <a:pt x="33447" y="401383"/>
                </a:lnTo>
                <a:cubicBezTo>
                  <a:pt x="14975" y="401383"/>
                  <a:pt x="0" y="386408"/>
                  <a:pt x="0" y="367935"/>
                </a:cubicBezTo>
                <a:lnTo>
                  <a:pt x="0" y="33447"/>
                </a:lnTo>
                <a:cubicBezTo>
                  <a:pt x="0" y="14975"/>
                  <a:pt x="14975" y="0"/>
                  <a:pt x="3344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560263" y="7003611"/>
            <a:ext cx="75259" cy="100346"/>
          </a:xfrm>
          <a:custGeom>
            <a:avLst/>
            <a:gdLst/>
            <a:ahLst/>
            <a:cxnLst/>
            <a:rect l="l" t="t" r="r" b="b"/>
            <a:pathLst>
              <a:path w="75259" h="100346">
                <a:moveTo>
                  <a:pt x="25086" y="18815"/>
                </a:moveTo>
                <a:lnTo>
                  <a:pt x="25086" y="31358"/>
                </a:lnTo>
                <a:lnTo>
                  <a:pt x="50173" y="31358"/>
                </a:lnTo>
                <a:lnTo>
                  <a:pt x="50173" y="18815"/>
                </a:lnTo>
                <a:cubicBezTo>
                  <a:pt x="50173" y="11896"/>
                  <a:pt x="44548" y="6272"/>
                  <a:pt x="37630" y="6272"/>
                </a:cubicBezTo>
                <a:cubicBezTo>
                  <a:pt x="30711" y="6272"/>
                  <a:pt x="25086" y="11896"/>
                  <a:pt x="25086" y="18815"/>
                </a:cubicBezTo>
                <a:close/>
                <a:moveTo>
                  <a:pt x="12543" y="31358"/>
                </a:moveTo>
                <a:lnTo>
                  <a:pt x="12543" y="18815"/>
                </a:lnTo>
                <a:cubicBezTo>
                  <a:pt x="12543" y="4958"/>
                  <a:pt x="23773" y="-6272"/>
                  <a:pt x="37630" y="-6272"/>
                </a:cubicBezTo>
                <a:cubicBezTo>
                  <a:pt x="51486" y="-6272"/>
                  <a:pt x="62716" y="4958"/>
                  <a:pt x="62716" y="18815"/>
                </a:cubicBezTo>
                <a:lnTo>
                  <a:pt x="62716" y="31358"/>
                </a:lnTo>
                <a:cubicBezTo>
                  <a:pt x="69634" y="31358"/>
                  <a:pt x="75259" y="36983"/>
                  <a:pt x="75259" y="43901"/>
                </a:cubicBezTo>
                <a:lnTo>
                  <a:pt x="75259" y="87802"/>
                </a:lnTo>
                <a:cubicBezTo>
                  <a:pt x="75259" y="94721"/>
                  <a:pt x="69634" y="100346"/>
                  <a:pt x="62716" y="100346"/>
                </a:cubicBezTo>
                <a:lnTo>
                  <a:pt x="12543" y="100346"/>
                </a:lnTo>
                <a:cubicBezTo>
                  <a:pt x="5625" y="100346"/>
                  <a:pt x="0" y="94721"/>
                  <a:pt x="0" y="87802"/>
                </a:cubicBezTo>
                <a:lnTo>
                  <a:pt x="0" y="43901"/>
                </a:lnTo>
                <a:cubicBezTo>
                  <a:pt x="0" y="36983"/>
                  <a:pt x="5625" y="31358"/>
                  <a:pt x="12543" y="31358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727506" y="6986886"/>
            <a:ext cx="1672428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Subnets Only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7506" y="7120574"/>
            <a:ext cx="1672428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ECS tasks have no public IP assigned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8280" y="7371332"/>
            <a:ext cx="5301597" cy="401383"/>
          </a:xfrm>
          <a:custGeom>
            <a:avLst/>
            <a:gdLst/>
            <a:ahLst/>
            <a:cxnLst/>
            <a:rect l="l" t="t" r="r" b="b"/>
            <a:pathLst>
              <a:path w="5301597" h="401383">
                <a:moveTo>
                  <a:pt x="33447" y="0"/>
                </a:moveTo>
                <a:lnTo>
                  <a:pt x="5268149" y="0"/>
                </a:lnTo>
                <a:cubicBezTo>
                  <a:pt x="5286622" y="0"/>
                  <a:pt x="5301597" y="14975"/>
                  <a:pt x="5301597" y="33447"/>
                </a:cubicBezTo>
                <a:lnTo>
                  <a:pt x="5301597" y="367935"/>
                </a:lnTo>
                <a:cubicBezTo>
                  <a:pt x="5301597" y="386408"/>
                  <a:pt x="5286622" y="401383"/>
                  <a:pt x="5268149" y="401383"/>
                </a:cubicBezTo>
                <a:lnTo>
                  <a:pt x="33447" y="401383"/>
                </a:lnTo>
                <a:cubicBezTo>
                  <a:pt x="14975" y="401383"/>
                  <a:pt x="0" y="386408"/>
                  <a:pt x="0" y="367935"/>
                </a:cubicBezTo>
                <a:lnTo>
                  <a:pt x="0" y="33447"/>
                </a:lnTo>
                <a:cubicBezTo>
                  <a:pt x="0" y="14975"/>
                  <a:pt x="14975" y="0"/>
                  <a:pt x="3344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1449" y="7454954"/>
            <a:ext cx="112889" cy="100346"/>
          </a:xfrm>
          <a:custGeom>
            <a:avLst/>
            <a:gdLst/>
            <a:ahLst/>
            <a:cxnLst/>
            <a:rect l="l" t="t" r="r" b="b"/>
            <a:pathLst>
              <a:path w="112889" h="100346">
                <a:moveTo>
                  <a:pt x="48605" y="17247"/>
                </a:moveTo>
                <a:lnTo>
                  <a:pt x="64284" y="17247"/>
                </a:lnTo>
                <a:lnTo>
                  <a:pt x="64284" y="26654"/>
                </a:lnTo>
                <a:lnTo>
                  <a:pt x="48605" y="26654"/>
                </a:lnTo>
                <a:lnTo>
                  <a:pt x="48605" y="17247"/>
                </a:lnTo>
                <a:close/>
                <a:moveTo>
                  <a:pt x="47037" y="6272"/>
                </a:moveTo>
                <a:cubicBezTo>
                  <a:pt x="41843" y="6272"/>
                  <a:pt x="37630" y="10485"/>
                  <a:pt x="37630" y="15679"/>
                </a:cubicBezTo>
                <a:lnTo>
                  <a:pt x="37630" y="28222"/>
                </a:lnTo>
                <a:cubicBezTo>
                  <a:pt x="37630" y="33416"/>
                  <a:pt x="41843" y="37630"/>
                  <a:pt x="47037" y="37630"/>
                </a:cubicBezTo>
                <a:lnTo>
                  <a:pt x="50173" y="37630"/>
                </a:lnTo>
                <a:lnTo>
                  <a:pt x="50173" y="43901"/>
                </a:lnTo>
                <a:lnTo>
                  <a:pt x="6272" y="43901"/>
                </a:lnTo>
                <a:cubicBezTo>
                  <a:pt x="2803" y="43901"/>
                  <a:pt x="0" y="46704"/>
                  <a:pt x="0" y="50173"/>
                </a:cubicBezTo>
                <a:cubicBezTo>
                  <a:pt x="0" y="53642"/>
                  <a:pt x="2803" y="56444"/>
                  <a:pt x="6272" y="56444"/>
                </a:cubicBezTo>
                <a:lnTo>
                  <a:pt x="25086" y="56444"/>
                </a:lnTo>
                <a:lnTo>
                  <a:pt x="25086" y="62716"/>
                </a:lnTo>
                <a:lnTo>
                  <a:pt x="21951" y="62716"/>
                </a:lnTo>
                <a:cubicBezTo>
                  <a:pt x="16757" y="62716"/>
                  <a:pt x="12543" y="66930"/>
                  <a:pt x="12543" y="72123"/>
                </a:cubicBezTo>
                <a:lnTo>
                  <a:pt x="12543" y="84667"/>
                </a:lnTo>
                <a:cubicBezTo>
                  <a:pt x="12543" y="89860"/>
                  <a:pt x="16757" y="94074"/>
                  <a:pt x="21951" y="94074"/>
                </a:cubicBezTo>
                <a:lnTo>
                  <a:pt x="40765" y="94074"/>
                </a:lnTo>
                <a:cubicBezTo>
                  <a:pt x="45959" y="94074"/>
                  <a:pt x="50173" y="89860"/>
                  <a:pt x="50173" y="84667"/>
                </a:cubicBezTo>
                <a:lnTo>
                  <a:pt x="50173" y="72123"/>
                </a:lnTo>
                <a:cubicBezTo>
                  <a:pt x="50173" y="66930"/>
                  <a:pt x="45959" y="62716"/>
                  <a:pt x="40765" y="62716"/>
                </a:cubicBezTo>
                <a:lnTo>
                  <a:pt x="37630" y="62716"/>
                </a:lnTo>
                <a:lnTo>
                  <a:pt x="37630" y="56444"/>
                </a:lnTo>
                <a:lnTo>
                  <a:pt x="75259" y="56444"/>
                </a:lnTo>
                <a:lnTo>
                  <a:pt x="75259" y="62716"/>
                </a:lnTo>
                <a:lnTo>
                  <a:pt x="72123" y="62716"/>
                </a:lnTo>
                <a:cubicBezTo>
                  <a:pt x="66930" y="62716"/>
                  <a:pt x="62716" y="66930"/>
                  <a:pt x="62716" y="72123"/>
                </a:cubicBezTo>
                <a:lnTo>
                  <a:pt x="62716" y="84667"/>
                </a:lnTo>
                <a:cubicBezTo>
                  <a:pt x="62716" y="89860"/>
                  <a:pt x="66930" y="94074"/>
                  <a:pt x="72123" y="94074"/>
                </a:cubicBezTo>
                <a:lnTo>
                  <a:pt x="90938" y="94074"/>
                </a:lnTo>
                <a:cubicBezTo>
                  <a:pt x="96132" y="94074"/>
                  <a:pt x="100346" y="89860"/>
                  <a:pt x="100346" y="84667"/>
                </a:cubicBezTo>
                <a:lnTo>
                  <a:pt x="100346" y="72123"/>
                </a:lnTo>
                <a:cubicBezTo>
                  <a:pt x="100346" y="66930"/>
                  <a:pt x="96132" y="62716"/>
                  <a:pt x="90938" y="62716"/>
                </a:cubicBezTo>
                <a:lnTo>
                  <a:pt x="87802" y="62716"/>
                </a:lnTo>
                <a:lnTo>
                  <a:pt x="87802" y="56444"/>
                </a:lnTo>
                <a:lnTo>
                  <a:pt x="106617" y="56444"/>
                </a:lnTo>
                <a:cubicBezTo>
                  <a:pt x="110086" y="56444"/>
                  <a:pt x="112889" y="53642"/>
                  <a:pt x="112889" y="50173"/>
                </a:cubicBezTo>
                <a:cubicBezTo>
                  <a:pt x="112889" y="46704"/>
                  <a:pt x="110086" y="43901"/>
                  <a:pt x="106617" y="43901"/>
                </a:cubicBezTo>
                <a:lnTo>
                  <a:pt x="62716" y="43901"/>
                </a:lnTo>
                <a:lnTo>
                  <a:pt x="62716" y="37630"/>
                </a:lnTo>
                <a:lnTo>
                  <a:pt x="65852" y="37630"/>
                </a:lnTo>
                <a:cubicBezTo>
                  <a:pt x="71046" y="37630"/>
                  <a:pt x="75259" y="33416"/>
                  <a:pt x="75259" y="28222"/>
                </a:cubicBezTo>
                <a:lnTo>
                  <a:pt x="75259" y="15679"/>
                </a:lnTo>
                <a:cubicBezTo>
                  <a:pt x="75259" y="10485"/>
                  <a:pt x="71046" y="6272"/>
                  <a:pt x="65852" y="6272"/>
                </a:cubicBezTo>
                <a:lnTo>
                  <a:pt x="47037" y="6272"/>
                </a:lnTo>
                <a:close/>
                <a:moveTo>
                  <a:pt x="87802" y="73691"/>
                </a:moveTo>
                <a:lnTo>
                  <a:pt x="89370" y="73691"/>
                </a:lnTo>
                <a:lnTo>
                  <a:pt x="89370" y="83099"/>
                </a:lnTo>
                <a:lnTo>
                  <a:pt x="73691" y="83099"/>
                </a:lnTo>
                <a:lnTo>
                  <a:pt x="73691" y="73691"/>
                </a:lnTo>
                <a:lnTo>
                  <a:pt x="87802" y="73691"/>
                </a:lnTo>
                <a:close/>
                <a:moveTo>
                  <a:pt x="37630" y="73691"/>
                </a:moveTo>
                <a:lnTo>
                  <a:pt x="39198" y="73691"/>
                </a:lnTo>
                <a:lnTo>
                  <a:pt x="39198" y="83099"/>
                </a:lnTo>
                <a:lnTo>
                  <a:pt x="23519" y="83099"/>
                </a:lnTo>
                <a:lnTo>
                  <a:pt x="23519" y="73691"/>
                </a:lnTo>
                <a:lnTo>
                  <a:pt x="37630" y="73691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727506" y="7438230"/>
            <a:ext cx="1538634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VPC Gateway Endpoint (S3)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7506" y="7571918"/>
            <a:ext cx="1538634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never leaves AWS network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8280" y="7822676"/>
            <a:ext cx="5301597" cy="401383"/>
          </a:xfrm>
          <a:custGeom>
            <a:avLst/>
            <a:gdLst/>
            <a:ahLst/>
            <a:cxnLst/>
            <a:rect l="l" t="t" r="r" b="b"/>
            <a:pathLst>
              <a:path w="5301597" h="401383">
                <a:moveTo>
                  <a:pt x="33447" y="0"/>
                </a:moveTo>
                <a:lnTo>
                  <a:pt x="5268149" y="0"/>
                </a:lnTo>
                <a:cubicBezTo>
                  <a:pt x="5286622" y="0"/>
                  <a:pt x="5301597" y="14975"/>
                  <a:pt x="5301597" y="33447"/>
                </a:cubicBezTo>
                <a:lnTo>
                  <a:pt x="5301597" y="367935"/>
                </a:lnTo>
                <a:cubicBezTo>
                  <a:pt x="5301597" y="386408"/>
                  <a:pt x="5286622" y="401383"/>
                  <a:pt x="5268149" y="401383"/>
                </a:cubicBezTo>
                <a:lnTo>
                  <a:pt x="33447" y="401383"/>
                </a:lnTo>
                <a:cubicBezTo>
                  <a:pt x="14975" y="401383"/>
                  <a:pt x="0" y="386408"/>
                  <a:pt x="0" y="367935"/>
                </a:cubicBezTo>
                <a:lnTo>
                  <a:pt x="0" y="33447"/>
                </a:lnTo>
                <a:cubicBezTo>
                  <a:pt x="0" y="14975"/>
                  <a:pt x="14975" y="0"/>
                  <a:pt x="3344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547720" y="7906297"/>
            <a:ext cx="100346" cy="100346"/>
          </a:xfrm>
          <a:custGeom>
            <a:avLst/>
            <a:gdLst/>
            <a:ahLst/>
            <a:cxnLst/>
            <a:rect l="l" t="t" r="r" b="b"/>
            <a:pathLst>
              <a:path w="100346" h="100346">
                <a:moveTo>
                  <a:pt x="65852" y="68988"/>
                </a:moveTo>
                <a:cubicBezTo>
                  <a:pt x="84902" y="68988"/>
                  <a:pt x="100346" y="53544"/>
                  <a:pt x="100346" y="34494"/>
                </a:cubicBezTo>
                <a:cubicBezTo>
                  <a:pt x="100346" y="15444"/>
                  <a:pt x="84902" y="0"/>
                  <a:pt x="65852" y="0"/>
                </a:cubicBezTo>
                <a:cubicBezTo>
                  <a:pt x="46802" y="0"/>
                  <a:pt x="31358" y="15444"/>
                  <a:pt x="31358" y="34494"/>
                </a:cubicBezTo>
                <a:cubicBezTo>
                  <a:pt x="31358" y="38159"/>
                  <a:pt x="31926" y="41706"/>
                  <a:pt x="32985" y="45018"/>
                </a:cubicBezTo>
                <a:lnTo>
                  <a:pt x="1372" y="76631"/>
                </a:lnTo>
                <a:cubicBezTo>
                  <a:pt x="490" y="77513"/>
                  <a:pt x="0" y="78709"/>
                  <a:pt x="0" y="79963"/>
                </a:cubicBezTo>
                <a:lnTo>
                  <a:pt x="0" y="95642"/>
                </a:lnTo>
                <a:cubicBezTo>
                  <a:pt x="0" y="98249"/>
                  <a:pt x="2097" y="100346"/>
                  <a:pt x="4704" y="100346"/>
                </a:cubicBezTo>
                <a:lnTo>
                  <a:pt x="20383" y="100346"/>
                </a:lnTo>
                <a:cubicBezTo>
                  <a:pt x="22989" y="100346"/>
                  <a:pt x="25086" y="98249"/>
                  <a:pt x="25086" y="95642"/>
                </a:cubicBezTo>
                <a:lnTo>
                  <a:pt x="25086" y="87802"/>
                </a:lnTo>
                <a:lnTo>
                  <a:pt x="32926" y="87802"/>
                </a:lnTo>
                <a:cubicBezTo>
                  <a:pt x="35533" y="87802"/>
                  <a:pt x="37630" y="85705"/>
                  <a:pt x="37630" y="83099"/>
                </a:cubicBezTo>
                <a:lnTo>
                  <a:pt x="37630" y="75259"/>
                </a:lnTo>
                <a:lnTo>
                  <a:pt x="45469" y="75259"/>
                </a:lnTo>
                <a:cubicBezTo>
                  <a:pt x="46723" y="75259"/>
                  <a:pt x="47919" y="74769"/>
                  <a:pt x="48801" y="73887"/>
                </a:cubicBezTo>
                <a:lnTo>
                  <a:pt x="55327" y="67361"/>
                </a:lnTo>
                <a:cubicBezTo>
                  <a:pt x="58640" y="68419"/>
                  <a:pt x="62187" y="68988"/>
                  <a:pt x="65852" y="68988"/>
                </a:cubicBezTo>
                <a:close/>
                <a:moveTo>
                  <a:pt x="73691" y="18815"/>
                </a:moveTo>
                <a:cubicBezTo>
                  <a:pt x="78018" y="18815"/>
                  <a:pt x="81531" y="22328"/>
                  <a:pt x="81531" y="26654"/>
                </a:cubicBezTo>
                <a:cubicBezTo>
                  <a:pt x="81531" y="30981"/>
                  <a:pt x="78018" y="34494"/>
                  <a:pt x="73691" y="34494"/>
                </a:cubicBezTo>
                <a:cubicBezTo>
                  <a:pt x="69365" y="34494"/>
                  <a:pt x="65852" y="30981"/>
                  <a:pt x="65852" y="26654"/>
                </a:cubicBezTo>
                <a:cubicBezTo>
                  <a:pt x="65852" y="22328"/>
                  <a:pt x="69365" y="18815"/>
                  <a:pt x="73691" y="18815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3" name="Text 21"/>
          <p:cNvSpPr/>
          <p:nvPr/>
        </p:nvSpPr>
        <p:spPr>
          <a:xfrm>
            <a:off x="727506" y="7889573"/>
            <a:ext cx="1772774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VPC Interface Endpoint (SSM)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7506" y="8023269"/>
            <a:ext cx="1772774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connectivity to Parameter Store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8280" y="8274027"/>
            <a:ext cx="5301597" cy="401383"/>
          </a:xfrm>
          <a:custGeom>
            <a:avLst/>
            <a:gdLst/>
            <a:ahLst/>
            <a:cxnLst/>
            <a:rect l="l" t="t" r="r" b="b"/>
            <a:pathLst>
              <a:path w="5301597" h="401383">
                <a:moveTo>
                  <a:pt x="33447" y="0"/>
                </a:moveTo>
                <a:lnTo>
                  <a:pt x="5268149" y="0"/>
                </a:lnTo>
                <a:cubicBezTo>
                  <a:pt x="5286622" y="0"/>
                  <a:pt x="5301597" y="14975"/>
                  <a:pt x="5301597" y="33447"/>
                </a:cubicBezTo>
                <a:lnTo>
                  <a:pt x="5301597" y="367935"/>
                </a:lnTo>
                <a:cubicBezTo>
                  <a:pt x="5301597" y="386408"/>
                  <a:pt x="5286622" y="401383"/>
                  <a:pt x="5268149" y="401383"/>
                </a:cubicBezTo>
                <a:lnTo>
                  <a:pt x="33447" y="401383"/>
                </a:lnTo>
                <a:cubicBezTo>
                  <a:pt x="14975" y="401383"/>
                  <a:pt x="0" y="386408"/>
                  <a:pt x="0" y="367935"/>
                </a:cubicBezTo>
                <a:lnTo>
                  <a:pt x="0" y="33447"/>
                </a:lnTo>
                <a:cubicBezTo>
                  <a:pt x="0" y="14975"/>
                  <a:pt x="14975" y="0"/>
                  <a:pt x="3344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541449" y="8357649"/>
            <a:ext cx="112889" cy="100346"/>
          </a:xfrm>
          <a:custGeom>
            <a:avLst/>
            <a:gdLst/>
            <a:ahLst/>
            <a:cxnLst/>
            <a:rect l="l" t="t" r="r" b="b"/>
            <a:pathLst>
              <a:path w="112889" h="100346">
                <a:moveTo>
                  <a:pt x="46880" y="-1568"/>
                </a:moveTo>
                <a:cubicBezTo>
                  <a:pt x="45685" y="-2783"/>
                  <a:pt x="43940" y="-3273"/>
                  <a:pt x="42294" y="-2822"/>
                </a:cubicBezTo>
                <a:cubicBezTo>
                  <a:pt x="40648" y="-2371"/>
                  <a:pt x="39374" y="-1098"/>
                  <a:pt x="38962" y="549"/>
                </a:cubicBezTo>
                <a:lnTo>
                  <a:pt x="35964" y="12347"/>
                </a:lnTo>
                <a:cubicBezTo>
                  <a:pt x="35748" y="13210"/>
                  <a:pt x="34866" y="13719"/>
                  <a:pt x="34023" y="13464"/>
                </a:cubicBezTo>
                <a:lnTo>
                  <a:pt x="22303" y="10172"/>
                </a:lnTo>
                <a:cubicBezTo>
                  <a:pt x="20657" y="9701"/>
                  <a:pt x="18893" y="10172"/>
                  <a:pt x="17698" y="11367"/>
                </a:cubicBezTo>
                <a:cubicBezTo>
                  <a:pt x="16502" y="12563"/>
                  <a:pt x="16032" y="14327"/>
                  <a:pt x="16502" y="15973"/>
                </a:cubicBezTo>
                <a:lnTo>
                  <a:pt x="19814" y="27693"/>
                </a:lnTo>
                <a:cubicBezTo>
                  <a:pt x="20050" y="28536"/>
                  <a:pt x="19540" y="29418"/>
                  <a:pt x="18697" y="29633"/>
                </a:cubicBezTo>
                <a:lnTo>
                  <a:pt x="6879" y="32632"/>
                </a:lnTo>
                <a:cubicBezTo>
                  <a:pt x="5233" y="33044"/>
                  <a:pt x="3939" y="34337"/>
                  <a:pt x="3489" y="35983"/>
                </a:cubicBezTo>
                <a:cubicBezTo>
                  <a:pt x="3038" y="37630"/>
                  <a:pt x="3528" y="39374"/>
                  <a:pt x="4743" y="40569"/>
                </a:cubicBezTo>
                <a:lnTo>
                  <a:pt x="13464" y="49056"/>
                </a:lnTo>
                <a:cubicBezTo>
                  <a:pt x="14092" y="49663"/>
                  <a:pt x="14092" y="50682"/>
                  <a:pt x="13464" y="51310"/>
                </a:cubicBezTo>
                <a:lnTo>
                  <a:pt x="4763" y="59796"/>
                </a:lnTo>
                <a:cubicBezTo>
                  <a:pt x="3547" y="60991"/>
                  <a:pt x="3057" y="62736"/>
                  <a:pt x="3508" y="64382"/>
                </a:cubicBezTo>
                <a:cubicBezTo>
                  <a:pt x="3959" y="66028"/>
                  <a:pt x="5252" y="67302"/>
                  <a:pt x="6899" y="67733"/>
                </a:cubicBezTo>
                <a:lnTo>
                  <a:pt x="18697" y="70732"/>
                </a:lnTo>
                <a:cubicBezTo>
                  <a:pt x="19560" y="70948"/>
                  <a:pt x="20069" y="71829"/>
                  <a:pt x="19814" y="72672"/>
                </a:cubicBezTo>
                <a:lnTo>
                  <a:pt x="16502" y="84373"/>
                </a:lnTo>
                <a:cubicBezTo>
                  <a:pt x="16032" y="86019"/>
                  <a:pt x="16502" y="87783"/>
                  <a:pt x="17698" y="88978"/>
                </a:cubicBezTo>
                <a:cubicBezTo>
                  <a:pt x="18893" y="90174"/>
                  <a:pt x="20657" y="90644"/>
                  <a:pt x="22303" y="90174"/>
                </a:cubicBezTo>
                <a:lnTo>
                  <a:pt x="34023" y="86862"/>
                </a:lnTo>
                <a:cubicBezTo>
                  <a:pt x="34866" y="86627"/>
                  <a:pt x="35748" y="87136"/>
                  <a:pt x="35964" y="87979"/>
                </a:cubicBezTo>
                <a:lnTo>
                  <a:pt x="38962" y="99777"/>
                </a:lnTo>
                <a:cubicBezTo>
                  <a:pt x="39374" y="101424"/>
                  <a:pt x="40667" y="102717"/>
                  <a:pt x="42314" y="103168"/>
                </a:cubicBezTo>
                <a:cubicBezTo>
                  <a:pt x="43960" y="103619"/>
                  <a:pt x="45704" y="103129"/>
                  <a:pt x="46900" y="101914"/>
                </a:cubicBezTo>
                <a:lnTo>
                  <a:pt x="55386" y="93192"/>
                </a:lnTo>
                <a:cubicBezTo>
                  <a:pt x="55994" y="92565"/>
                  <a:pt x="57013" y="92565"/>
                  <a:pt x="57640" y="93192"/>
                </a:cubicBezTo>
                <a:lnTo>
                  <a:pt x="66107" y="101914"/>
                </a:lnTo>
                <a:cubicBezTo>
                  <a:pt x="67302" y="103129"/>
                  <a:pt x="69046" y="103619"/>
                  <a:pt x="70693" y="103168"/>
                </a:cubicBezTo>
                <a:cubicBezTo>
                  <a:pt x="72339" y="102717"/>
                  <a:pt x="73613" y="101424"/>
                  <a:pt x="74044" y="99777"/>
                </a:cubicBezTo>
                <a:lnTo>
                  <a:pt x="77043" y="87998"/>
                </a:lnTo>
                <a:cubicBezTo>
                  <a:pt x="77258" y="87136"/>
                  <a:pt x="78140" y="86627"/>
                  <a:pt x="78983" y="86881"/>
                </a:cubicBezTo>
                <a:lnTo>
                  <a:pt x="90703" y="90194"/>
                </a:lnTo>
                <a:cubicBezTo>
                  <a:pt x="92349" y="90664"/>
                  <a:pt x="94113" y="90194"/>
                  <a:pt x="95309" y="88998"/>
                </a:cubicBezTo>
                <a:cubicBezTo>
                  <a:pt x="96504" y="87802"/>
                  <a:pt x="96975" y="86039"/>
                  <a:pt x="96504" y="84392"/>
                </a:cubicBezTo>
                <a:lnTo>
                  <a:pt x="93192" y="72672"/>
                </a:lnTo>
                <a:cubicBezTo>
                  <a:pt x="92957" y="71829"/>
                  <a:pt x="93467" y="70948"/>
                  <a:pt x="94309" y="70732"/>
                </a:cubicBezTo>
                <a:lnTo>
                  <a:pt x="106108" y="67733"/>
                </a:lnTo>
                <a:cubicBezTo>
                  <a:pt x="107754" y="67322"/>
                  <a:pt x="109048" y="66028"/>
                  <a:pt x="109498" y="64382"/>
                </a:cubicBezTo>
                <a:cubicBezTo>
                  <a:pt x="109949" y="62736"/>
                  <a:pt x="109459" y="60972"/>
                  <a:pt x="108244" y="59796"/>
                </a:cubicBezTo>
                <a:lnTo>
                  <a:pt x="99523" y="51310"/>
                </a:lnTo>
                <a:cubicBezTo>
                  <a:pt x="98895" y="50702"/>
                  <a:pt x="98895" y="49683"/>
                  <a:pt x="99523" y="49056"/>
                </a:cubicBezTo>
                <a:lnTo>
                  <a:pt x="108244" y="40569"/>
                </a:lnTo>
                <a:cubicBezTo>
                  <a:pt x="109459" y="39374"/>
                  <a:pt x="109949" y="37630"/>
                  <a:pt x="109498" y="35983"/>
                </a:cubicBezTo>
                <a:cubicBezTo>
                  <a:pt x="109048" y="34337"/>
                  <a:pt x="107754" y="33063"/>
                  <a:pt x="106108" y="32632"/>
                </a:cubicBezTo>
                <a:lnTo>
                  <a:pt x="94309" y="29633"/>
                </a:lnTo>
                <a:cubicBezTo>
                  <a:pt x="93447" y="29418"/>
                  <a:pt x="92937" y="28536"/>
                  <a:pt x="93192" y="27693"/>
                </a:cubicBezTo>
                <a:lnTo>
                  <a:pt x="96504" y="15973"/>
                </a:lnTo>
                <a:cubicBezTo>
                  <a:pt x="96975" y="14327"/>
                  <a:pt x="96504" y="12563"/>
                  <a:pt x="95309" y="11367"/>
                </a:cubicBezTo>
                <a:cubicBezTo>
                  <a:pt x="94113" y="10172"/>
                  <a:pt x="92349" y="9701"/>
                  <a:pt x="90703" y="10172"/>
                </a:cubicBezTo>
                <a:lnTo>
                  <a:pt x="78983" y="13484"/>
                </a:lnTo>
                <a:cubicBezTo>
                  <a:pt x="78140" y="13719"/>
                  <a:pt x="77258" y="13210"/>
                  <a:pt x="77043" y="12367"/>
                </a:cubicBezTo>
                <a:lnTo>
                  <a:pt x="74044" y="549"/>
                </a:lnTo>
                <a:cubicBezTo>
                  <a:pt x="73633" y="-1098"/>
                  <a:pt x="72339" y="-2391"/>
                  <a:pt x="70693" y="-2842"/>
                </a:cubicBezTo>
                <a:cubicBezTo>
                  <a:pt x="69046" y="-3293"/>
                  <a:pt x="67302" y="-2803"/>
                  <a:pt x="66107" y="-1587"/>
                </a:cubicBezTo>
                <a:lnTo>
                  <a:pt x="57620" y="7154"/>
                </a:lnTo>
                <a:cubicBezTo>
                  <a:pt x="57013" y="7781"/>
                  <a:pt x="55994" y="7781"/>
                  <a:pt x="55367" y="7154"/>
                </a:cubicBezTo>
                <a:lnTo>
                  <a:pt x="46880" y="-1568"/>
                </a:ln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727506" y="8340924"/>
            <a:ext cx="1312856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ALB TLS Termination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7506" y="8474612"/>
            <a:ext cx="1312856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ACM certificate, HTTPS only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8280" y="8725370"/>
            <a:ext cx="5301597" cy="401383"/>
          </a:xfrm>
          <a:custGeom>
            <a:avLst/>
            <a:gdLst/>
            <a:ahLst/>
            <a:cxnLst/>
            <a:rect l="l" t="t" r="r" b="b"/>
            <a:pathLst>
              <a:path w="5301597" h="401383">
                <a:moveTo>
                  <a:pt x="33447" y="0"/>
                </a:moveTo>
                <a:lnTo>
                  <a:pt x="5268149" y="0"/>
                </a:lnTo>
                <a:cubicBezTo>
                  <a:pt x="5286622" y="0"/>
                  <a:pt x="5301597" y="14975"/>
                  <a:pt x="5301597" y="33447"/>
                </a:cubicBezTo>
                <a:lnTo>
                  <a:pt x="5301597" y="367935"/>
                </a:lnTo>
                <a:cubicBezTo>
                  <a:pt x="5301597" y="386408"/>
                  <a:pt x="5286622" y="401383"/>
                  <a:pt x="5268149" y="401383"/>
                </a:cubicBezTo>
                <a:lnTo>
                  <a:pt x="33447" y="401383"/>
                </a:lnTo>
                <a:cubicBezTo>
                  <a:pt x="14975" y="401383"/>
                  <a:pt x="0" y="386408"/>
                  <a:pt x="0" y="367935"/>
                </a:cubicBezTo>
                <a:lnTo>
                  <a:pt x="0" y="33447"/>
                </a:lnTo>
                <a:cubicBezTo>
                  <a:pt x="0" y="14975"/>
                  <a:pt x="14975" y="0"/>
                  <a:pt x="3344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0" name="Shape 28"/>
          <p:cNvSpPr/>
          <p:nvPr/>
        </p:nvSpPr>
        <p:spPr>
          <a:xfrm>
            <a:off x="541449" y="8808992"/>
            <a:ext cx="112889" cy="100346"/>
          </a:xfrm>
          <a:custGeom>
            <a:avLst/>
            <a:gdLst/>
            <a:ahLst/>
            <a:cxnLst/>
            <a:rect l="l" t="t" r="r" b="b"/>
            <a:pathLst>
              <a:path w="112889" h="100346">
                <a:moveTo>
                  <a:pt x="43901" y="48605"/>
                </a:moveTo>
                <a:cubicBezTo>
                  <a:pt x="56881" y="48605"/>
                  <a:pt x="67420" y="38067"/>
                  <a:pt x="67420" y="25086"/>
                </a:cubicBezTo>
                <a:cubicBezTo>
                  <a:pt x="67420" y="12106"/>
                  <a:pt x="56881" y="1568"/>
                  <a:pt x="43901" y="1568"/>
                </a:cubicBezTo>
                <a:cubicBezTo>
                  <a:pt x="30921" y="1568"/>
                  <a:pt x="20383" y="12106"/>
                  <a:pt x="20383" y="25086"/>
                </a:cubicBezTo>
                <a:cubicBezTo>
                  <a:pt x="20383" y="38067"/>
                  <a:pt x="30921" y="48605"/>
                  <a:pt x="43901" y="48605"/>
                </a:cubicBezTo>
                <a:close/>
                <a:moveTo>
                  <a:pt x="38080" y="59580"/>
                </a:moveTo>
                <a:cubicBezTo>
                  <a:pt x="18776" y="59580"/>
                  <a:pt x="3136" y="75220"/>
                  <a:pt x="3136" y="94525"/>
                </a:cubicBezTo>
                <a:cubicBezTo>
                  <a:pt x="3136" y="97739"/>
                  <a:pt x="5742" y="100346"/>
                  <a:pt x="8957" y="100346"/>
                </a:cubicBezTo>
                <a:lnTo>
                  <a:pt x="58248" y="100346"/>
                </a:lnTo>
                <a:cubicBezTo>
                  <a:pt x="51153" y="91997"/>
                  <a:pt x="47037" y="81237"/>
                  <a:pt x="47037" y="69850"/>
                </a:cubicBezTo>
                <a:lnTo>
                  <a:pt x="47037" y="63755"/>
                </a:lnTo>
                <a:cubicBezTo>
                  <a:pt x="47037" y="62324"/>
                  <a:pt x="47233" y="60913"/>
                  <a:pt x="47605" y="59580"/>
                </a:cubicBezTo>
                <a:lnTo>
                  <a:pt x="38080" y="59580"/>
                </a:lnTo>
                <a:close/>
                <a:moveTo>
                  <a:pt x="87273" y="95740"/>
                </a:moveTo>
                <a:lnTo>
                  <a:pt x="84667" y="96975"/>
                </a:lnTo>
                <a:lnTo>
                  <a:pt x="84667" y="60109"/>
                </a:lnTo>
                <a:lnTo>
                  <a:pt x="103481" y="66381"/>
                </a:lnTo>
                <a:lnTo>
                  <a:pt x="103481" y="70222"/>
                </a:lnTo>
                <a:cubicBezTo>
                  <a:pt x="103481" y="81158"/>
                  <a:pt x="97171" y="91095"/>
                  <a:pt x="87273" y="95760"/>
                </a:cubicBezTo>
                <a:close/>
                <a:moveTo>
                  <a:pt x="82687" y="50859"/>
                </a:moveTo>
                <a:lnTo>
                  <a:pt x="60737" y="58169"/>
                </a:lnTo>
                <a:cubicBezTo>
                  <a:pt x="58169" y="59031"/>
                  <a:pt x="56444" y="61423"/>
                  <a:pt x="56444" y="64127"/>
                </a:cubicBezTo>
                <a:lnTo>
                  <a:pt x="56444" y="70222"/>
                </a:lnTo>
                <a:cubicBezTo>
                  <a:pt x="56444" y="84804"/>
                  <a:pt x="64872" y="98072"/>
                  <a:pt x="78042" y="104265"/>
                </a:cubicBezTo>
                <a:lnTo>
                  <a:pt x="81668" y="105971"/>
                </a:lnTo>
                <a:cubicBezTo>
                  <a:pt x="82609" y="106402"/>
                  <a:pt x="83628" y="106637"/>
                  <a:pt x="84647" y="106637"/>
                </a:cubicBezTo>
                <a:cubicBezTo>
                  <a:pt x="85666" y="106637"/>
                  <a:pt x="86705" y="106402"/>
                  <a:pt x="87626" y="105971"/>
                </a:cubicBezTo>
                <a:lnTo>
                  <a:pt x="91252" y="104265"/>
                </a:lnTo>
                <a:cubicBezTo>
                  <a:pt x="104461" y="98053"/>
                  <a:pt x="112889" y="84784"/>
                  <a:pt x="112889" y="70203"/>
                </a:cubicBezTo>
                <a:lnTo>
                  <a:pt x="112889" y="64108"/>
                </a:lnTo>
                <a:cubicBezTo>
                  <a:pt x="112889" y="61403"/>
                  <a:pt x="111164" y="59012"/>
                  <a:pt x="108597" y="58150"/>
                </a:cubicBezTo>
                <a:lnTo>
                  <a:pt x="86646" y="50839"/>
                </a:lnTo>
                <a:cubicBezTo>
                  <a:pt x="85353" y="50408"/>
                  <a:pt x="83961" y="50408"/>
                  <a:pt x="82687" y="50839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1" name="Text 29"/>
          <p:cNvSpPr/>
          <p:nvPr/>
        </p:nvSpPr>
        <p:spPr>
          <a:xfrm>
            <a:off x="727506" y="8792267"/>
            <a:ext cx="1555358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 ALB for Management API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7506" y="8925956"/>
            <a:ext cx="1555358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reachable from public internet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68280" y="9176722"/>
            <a:ext cx="5301597" cy="401383"/>
          </a:xfrm>
          <a:custGeom>
            <a:avLst/>
            <a:gdLst/>
            <a:ahLst/>
            <a:cxnLst/>
            <a:rect l="l" t="t" r="r" b="b"/>
            <a:pathLst>
              <a:path w="5301597" h="401383">
                <a:moveTo>
                  <a:pt x="33447" y="0"/>
                </a:moveTo>
                <a:lnTo>
                  <a:pt x="5268149" y="0"/>
                </a:lnTo>
                <a:cubicBezTo>
                  <a:pt x="5286622" y="0"/>
                  <a:pt x="5301597" y="14975"/>
                  <a:pt x="5301597" y="33447"/>
                </a:cubicBezTo>
                <a:lnTo>
                  <a:pt x="5301597" y="367935"/>
                </a:lnTo>
                <a:cubicBezTo>
                  <a:pt x="5301597" y="386408"/>
                  <a:pt x="5286622" y="401383"/>
                  <a:pt x="5268149" y="401383"/>
                </a:cubicBezTo>
                <a:lnTo>
                  <a:pt x="33447" y="401383"/>
                </a:lnTo>
                <a:cubicBezTo>
                  <a:pt x="14975" y="401383"/>
                  <a:pt x="0" y="386408"/>
                  <a:pt x="0" y="367935"/>
                </a:cubicBezTo>
                <a:lnTo>
                  <a:pt x="0" y="33447"/>
                </a:lnTo>
                <a:cubicBezTo>
                  <a:pt x="0" y="14975"/>
                  <a:pt x="14975" y="0"/>
                  <a:pt x="33447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4" name="Shape 32"/>
          <p:cNvSpPr/>
          <p:nvPr/>
        </p:nvSpPr>
        <p:spPr>
          <a:xfrm>
            <a:off x="547720" y="9260343"/>
            <a:ext cx="100346" cy="100346"/>
          </a:xfrm>
          <a:custGeom>
            <a:avLst/>
            <a:gdLst/>
            <a:ahLst/>
            <a:cxnLst/>
            <a:rect l="l" t="t" r="r" b="b"/>
            <a:pathLst>
              <a:path w="100346" h="100346">
                <a:moveTo>
                  <a:pt x="71967" y="80845"/>
                </a:moveTo>
                <a:lnTo>
                  <a:pt x="19501" y="28379"/>
                </a:lnTo>
                <a:cubicBezTo>
                  <a:pt x="15111" y="34533"/>
                  <a:pt x="12543" y="42059"/>
                  <a:pt x="12543" y="50173"/>
                </a:cubicBezTo>
                <a:cubicBezTo>
                  <a:pt x="12543" y="70948"/>
                  <a:pt x="29398" y="87802"/>
                  <a:pt x="50173" y="87802"/>
                </a:cubicBezTo>
                <a:cubicBezTo>
                  <a:pt x="58306" y="87802"/>
                  <a:pt x="65832" y="85235"/>
                  <a:pt x="71967" y="80845"/>
                </a:cubicBezTo>
                <a:close/>
                <a:moveTo>
                  <a:pt x="80845" y="71967"/>
                </a:moveTo>
                <a:cubicBezTo>
                  <a:pt x="85235" y="65813"/>
                  <a:pt x="87802" y="58287"/>
                  <a:pt x="87802" y="50173"/>
                </a:cubicBezTo>
                <a:cubicBezTo>
                  <a:pt x="87802" y="29398"/>
                  <a:pt x="70948" y="12543"/>
                  <a:pt x="50173" y="12543"/>
                </a:cubicBezTo>
                <a:cubicBezTo>
                  <a:pt x="42039" y="12543"/>
                  <a:pt x="34513" y="15111"/>
                  <a:pt x="28379" y="19501"/>
                </a:cubicBezTo>
                <a:lnTo>
                  <a:pt x="80845" y="71967"/>
                </a:lnTo>
                <a:close/>
                <a:moveTo>
                  <a:pt x="0" y="50173"/>
                </a:moveTo>
                <a:cubicBezTo>
                  <a:pt x="0" y="22482"/>
                  <a:pt x="22482" y="0"/>
                  <a:pt x="50173" y="0"/>
                </a:cubicBezTo>
                <a:cubicBezTo>
                  <a:pt x="77864" y="0"/>
                  <a:pt x="100346" y="22482"/>
                  <a:pt x="100346" y="50173"/>
                </a:cubicBezTo>
                <a:cubicBezTo>
                  <a:pt x="100346" y="77864"/>
                  <a:pt x="77864" y="100346"/>
                  <a:pt x="50173" y="100346"/>
                </a:cubicBezTo>
                <a:cubicBezTo>
                  <a:pt x="22482" y="100346"/>
                  <a:pt x="0" y="77864"/>
                  <a:pt x="0" y="50173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5" name="Text 33"/>
          <p:cNvSpPr/>
          <p:nvPr/>
        </p:nvSpPr>
        <p:spPr>
          <a:xfrm>
            <a:off x="727506" y="9243619"/>
            <a:ext cx="1831309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S3 Block All Public Access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7506" y="9377307"/>
            <a:ext cx="1831309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dirty="0">
                <a:solidFill>
                  <a:srgbClr val="102A4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Only inference task role can read models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61956" y="869556"/>
            <a:ext cx="5694617" cy="3144165"/>
          </a:xfrm>
          <a:custGeom>
            <a:avLst/>
            <a:gdLst/>
            <a:ahLst/>
            <a:cxnLst/>
            <a:rect l="l" t="t" r="r" b="b"/>
            <a:pathLst>
              <a:path w="5694617" h="3144165">
                <a:moveTo>
                  <a:pt x="100330" y="0"/>
                </a:moveTo>
                <a:lnTo>
                  <a:pt x="5594287" y="0"/>
                </a:lnTo>
                <a:cubicBezTo>
                  <a:pt x="5649698" y="0"/>
                  <a:pt x="5694617" y="44919"/>
                  <a:pt x="5694617" y="100330"/>
                </a:cubicBezTo>
                <a:lnTo>
                  <a:pt x="5694617" y="3043834"/>
                </a:lnTo>
                <a:cubicBezTo>
                  <a:pt x="5694617" y="3099245"/>
                  <a:pt x="5649698" y="3144165"/>
                  <a:pt x="5594287" y="3144165"/>
                </a:cubicBezTo>
                <a:lnTo>
                  <a:pt x="100330" y="3144165"/>
                </a:lnTo>
                <a:cubicBezTo>
                  <a:pt x="44956" y="3144165"/>
                  <a:pt x="0" y="3099208"/>
                  <a:pt x="0" y="3043834"/>
                </a:cubicBezTo>
                <a:lnTo>
                  <a:pt x="0" y="100330"/>
                </a:lnTo>
                <a:cubicBezTo>
                  <a:pt x="0" y="44956"/>
                  <a:pt x="44956" y="0"/>
                  <a:pt x="1003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5432" dist="83621" dir="540000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95751" y="1036799"/>
            <a:ext cx="167243" cy="133794"/>
          </a:xfrm>
          <a:custGeom>
            <a:avLst/>
            <a:gdLst/>
            <a:ahLst/>
            <a:cxnLst/>
            <a:rect l="l" t="t" r="r" b="b"/>
            <a:pathLst>
              <a:path w="167243" h="133794">
                <a:moveTo>
                  <a:pt x="91435" y="61749"/>
                </a:moveTo>
                <a:lnTo>
                  <a:pt x="74162" y="61749"/>
                </a:lnTo>
                <a:lnTo>
                  <a:pt x="74162" y="46227"/>
                </a:lnTo>
                <a:lnTo>
                  <a:pt x="91435" y="46227"/>
                </a:lnTo>
                <a:lnTo>
                  <a:pt x="91435" y="61749"/>
                </a:lnTo>
                <a:close/>
                <a:moveTo>
                  <a:pt x="91435" y="8362"/>
                </a:moveTo>
                <a:lnTo>
                  <a:pt x="74162" y="8362"/>
                </a:lnTo>
                <a:lnTo>
                  <a:pt x="74162" y="24224"/>
                </a:lnTo>
                <a:lnTo>
                  <a:pt x="91435" y="24224"/>
                </a:lnTo>
                <a:lnTo>
                  <a:pt x="91435" y="8362"/>
                </a:lnTo>
                <a:close/>
                <a:moveTo>
                  <a:pt x="111870" y="46201"/>
                </a:moveTo>
                <a:lnTo>
                  <a:pt x="94597" y="46201"/>
                </a:lnTo>
                <a:lnTo>
                  <a:pt x="94597" y="61723"/>
                </a:lnTo>
                <a:lnTo>
                  <a:pt x="111870" y="61723"/>
                </a:lnTo>
                <a:lnTo>
                  <a:pt x="111870" y="46201"/>
                </a:lnTo>
                <a:close/>
                <a:moveTo>
                  <a:pt x="71026" y="27360"/>
                </a:moveTo>
                <a:lnTo>
                  <a:pt x="53753" y="27360"/>
                </a:lnTo>
                <a:lnTo>
                  <a:pt x="53753" y="43065"/>
                </a:lnTo>
                <a:lnTo>
                  <a:pt x="71026" y="43065"/>
                </a:lnTo>
                <a:lnTo>
                  <a:pt x="71026" y="27360"/>
                </a:lnTo>
                <a:close/>
                <a:moveTo>
                  <a:pt x="91435" y="27360"/>
                </a:moveTo>
                <a:lnTo>
                  <a:pt x="74162" y="27360"/>
                </a:lnTo>
                <a:lnTo>
                  <a:pt x="74162" y="43065"/>
                </a:lnTo>
                <a:lnTo>
                  <a:pt x="91435" y="43065"/>
                </a:lnTo>
                <a:lnTo>
                  <a:pt x="91435" y="27360"/>
                </a:lnTo>
                <a:close/>
                <a:moveTo>
                  <a:pt x="163767" y="53492"/>
                </a:moveTo>
                <a:cubicBezTo>
                  <a:pt x="160004" y="50957"/>
                  <a:pt x="151329" y="50042"/>
                  <a:pt x="144665" y="51297"/>
                </a:cubicBezTo>
                <a:cubicBezTo>
                  <a:pt x="143803" y="45025"/>
                  <a:pt x="140301" y="39563"/>
                  <a:pt x="133925" y="34651"/>
                </a:cubicBezTo>
                <a:lnTo>
                  <a:pt x="130266" y="32220"/>
                </a:lnTo>
                <a:lnTo>
                  <a:pt x="127836" y="35879"/>
                </a:lnTo>
                <a:cubicBezTo>
                  <a:pt x="123028" y="43143"/>
                  <a:pt x="121721" y="55112"/>
                  <a:pt x="126869" y="63003"/>
                </a:cubicBezTo>
                <a:cubicBezTo>
                  <a:pt x="124596" y="64232"/>
                  <a:pt x="120127" y="65904"/>
                  <a:pt x="114222" y="65800"/>
                </a:cubicBezTo>
                <a:lnTo>
                  <a:pt x="627" y="65800"/>
                </a:lnTo>
                <a:cubicBezTo>
                  <a:pt x="-1646" y="79074"/>
                  <a:pt x="2143" y="96321"/>
                  <a:pt x="12125" y="108159"/>
                </a:cubicBezTo>
                <a:cubicBezTo>
                  <a:pt x="21820" y="119631"/>
                  <a:pt x="36349" y="125458"/>
                  <a:pt x="55347" y="125458"/>
                </a:cubicBezTo>
                <a:cubicBezTo>
                  <a:pt x="96478" y="125458"/>
                  <a:pt x="126922" y="106513"/>
                  <a:pt x="141163" y="72097"/>
                </a:cubicBezTo>
                <a:cubicBezTo>
                  <a:pt x="146756" y="72202"/>
                  <a:pt x="158828" y="72123"/>
                  <a:pt x="165022" y="60286"/>
                </a:cubicBezTo>
                <a:cubicBezTo>
                  <a:pt x="165414" y="59633"/>
                  <a:pt x="166746" y="56836"/>
                  <a:pt x="167243" y="55817"/>
                </a:cubicBezTo>
                <a:lnTo>
                  <a:pt x="163767" y="53492"/>
                </a:lnTo>
                <a:close/>
                <a:moveTo>
                  <a:pt x="30208" y="46201"/>
                </a:moveTo>
                <a:lnTo>
                  <a:pt x="12961" y="46201"/>
                </a:lnTo>
                <a:lnTo>
                  <a:pt x="12961" y="61723"/>
                </a:lnTo>
                <a:lnTo>
                  <a:pt x="30234" y="61723"/>
                </a:lnTo>
                <a:lnTo>
                  <a:pt x="30234" y="46201"/>
                </a:lnTo>
                <a:lnTo>
                  <a:pt x="30208" y="46201"/>
                </a:lnTo>
                <a:close/>
                <a:moveTo>
                  <a:pt x="50617" y="46201"/>
                </a:moveTo>
                <a:lnTo>
                  <a:pt x="33344" y="46201"/>
                </a:lnTo>
                <a:lnTo>
                  <a:pt x="33344" y="61723"/>
                </a:lnTo>
                <a:lnTo>
                  <a:pt x="50617" y="61723"/>
                </a:lnTo>
                <a:lnTo>
                  <a:pt x="50617" y="46201"/>
                </a:lnTo>
                <a:close/>
                <a:moveTo>
                  <a:pt x="71026" y="46201"/>
                </a:moveTo>
                <a:lnTo>
                  <a:pt x="53753" y="46201"/>
                </a:lnTo>
                <a:lnTo>
                  <a:pt x="53753" y="61723"/>
                </a:lnTo>
                <a:lnTo>
                  <a:pt x="71026" y="61723"/>
                </a:lnTo>
                <a:lnTo>
                  <a:pt x="71026" y="46201"/>
                </a:lnTo>
                <a:close/>
                <a:moveTo>
                  <a:pt x="50617" y="27360"/>
                </a:moveTo>
                <a:lnTo>
                  <a:pt x="33344" y="27360"/>
                </a:lnTo>
                <a:lnTo>
                  <a:pt x="33344" y="43065"/>
                </a:lnTo>
                <a:lnTo>
                  <a:pt x="50617" y="43065"/>
                </a:lnTo>
                <a:lnTo>
                  <a:pt x="50617" y="2736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9" name="Text 37"/>
          <p:cNvSpPr/>
          <p:nvPr/>
        </p:nvSpPr>
        <p:spPr>
          <a:xfrm>
            <a:off x="6462994" y="1003351"/>
            <a:ext cx="5326683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Dockerfile — JVM Tuning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95751" y="1270939"/>
            <a:ext cx="5427029" cy="2608988"/>
          </a:xfrm>
          <a:custGeom>
            <a:avLst/>
            <a:gdLst/>
            <a:ahLst/>
            <a:cxnLst/>
            <a:rect l="l" t="t" r="r" b="b"/>
            <a:pathLst>
              <a:path w="5427029" h="2608988">
                <a:moveTo>
                  <a:pt x="66894" y="0"/>
                </a:moveTo>
                <a:lnTo>
                  <a:pt x="5360134" y="0"/>
                </a:lnTo>
                <a:cubicBezTo>
                  <a:pt x="5397079" y="0"/>
                  <a:pt x="5427029" y="29950"/>
                  <a:pt x="5427029" y="66894"/>
                </a:cubicBezTo>
                <a:lnTo>
                  <a:pt x="5427029" y="2542093"/>
                </a:lnTo>
                <a:cubicBezTo>
                  <a:pt x="5427029" y="2579038"/>
                  <a:pt x="5397079" y="2608988"/>
                  <a:pt x="5360134" y="2608988"/>
                </a:cubicBezTo>
                <a:lnTo>
                  <a:pt x="66894" y="2608988"/>
                </a:lnTo>
                <a:cubicBezTo>
                  <a:pt x="29950" y="2608988"/>
                  <a:pt x="0" y="2579038"/>
                  <a:pt x="0" y="2542093"/>
                </a:cubicBezTo>
                <a:lnTo>
                  <a:pt x="0" y="66894"/>
                </a:lnTo>
                <a:cubicBezTo>
                  <a:pt x="0" y="29950"/>
                  <a:pt x="29950" y="0"/>
                  <a:pt x="66894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41" name="Text 39"/>
          <p:cNvSpPr/>
          <p:nvPr/>
        </p:nvSpPr>
        <p:spPr>
          <a:xfrm>
            <a:off x="6396096" y="1371285"/>
            <a:ext cx="5276510" cy="240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 eclipse-temurin:21-jre-alpine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WORKDIR /app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ENV JAVA_OPTS="-Xms4g -Xmx8g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-XX:+UseG1GC -XX:MaxGCPauseMillis=100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-XX:ParallelGCThreads=4 -XX:ConcGCThreads=2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-XX:+UseStringDeduplication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-XX:+HeapDumpOnOutOfMemoryError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-Dspring.profiles.active=prod"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COPY build/libs/inference-service.jar app.jar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EXPOSE 8080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SIGTERM triggers graceful shutdown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STOPSIGNAL SIGTERM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ENTRYPOINT ["sh", "-c", "exec java $JAVA_OPTS -jar app.jar"]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61956" y="4112188"/>
            <a:ext cx="5694617" cy="2408296"/>
          </a:xfrm>
          <a:custGeom>
            <a:avLst/>
            <a:gdLst/>
            <a:ahLst/>
            <a:cxnLst/>
            <a:rect l="l" t="t" r="r" b="b"/>
            <a:pathLst>
              <a:path w="5694617" h="2408296">
                <a:moveTo>
                  <a:pt x="100354" y="0"/>
                </a:moveTo>
                <a:lnTo>
                  <a:pt x="5594264" y="0"/>
                </a:lnTo>
                <a:cubicBezTo>
                  <a:pt x="5649687" y="0"/>
                  <a:pt x="5694617" y="44930"/>
                  <a:pt x="5694617" y="100354"/>
                </a:cubicBezTo>
                <a:lnTo>
                  <a:pt x="5694617" y="2307943"/>
                </a:lnTo>
                <a:cubicBezTo>
                  <a:pt x="5694617" y="2363366"/>
                  <a:pt x="5649687" y="2408296"/>
                  <a:pt x="5594264" y="2408296"/>
                </a:cubicBezTo>
                <a:lnTo>
                  <a:pt x="100354" y="2408296"/>
                </a:lnTo>
                <a:cubicBezTo>
                  <a:pt x="44930" y="2408296"/>
                  <a:pt x="0" y="2363366"/>
                  <a:pt x="0" y="2307943"/>
                </a:cubicBezTo>
                <a:lnTo>
                  <a:pt x="0" y="100354"/>
                </a:lnTo>
                <a:cubicBezTo>
                  <a:pt x="0" y="44930"/>
                  <a:pt x="44930" y="0"/>
                  <a:pt x="10035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5432" dist="83621" dir="540000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04113" y="4279431"/>
            <a:ext cx="150519" cy="133794"/>
          </a:xfrm>
          <a:custGeom>
            <a:avLst/>
            <a:gdLst/>
            <a:ahLst/>
            <a:cxnLst/>
            <a:rect l="l" t="t" r="r" b="b"/>
            <a:pathLst>
              <a:path w="150519" h="133794">
                <a:moveTo>
                  <a:pt x="94283" y="314"/>
                </a:moveTo>
                <a:cubicBezTo>
                  <a:pt x="89841" y="-967"/>
                  <a:pt x="85215" y="1620"/>
                  <a:pt x="83935" y="6063"/>
                </a:cubicBezTo>
                <a:lnTo>
                  <a:pt x="50486" y="123133"/>
                </a:lnTo>
                <a:cubicBezTo>
                  <a:pt x="49206" y="127575"/>
                  <a:pt x="51793" y="132200"/>
                  <a:pt x="56235" y="133481"/>
                </a:cubicBezTo>
                <a:cubicBezTo>
                  <a:pt x="60678" y="134761"/>
                  <a:pt x="65303" y="132174"/>
                  <a:pt x="66584" y="127732"/>
                </a:cubicBezTo>
                <a:lnTo>
                  <a:pt x="100032" y="10662"/>
                </a:lnTo>
                <a:cubicBezTo>
                  <a:pt x="101313" y="6219"/>
                  <a:pt x="98726" y="1594"/>
                  <a:pt x="94283" y="314"/>
                </a:cubicBezTo>
                <a:close/>
                <a:moveTo>
                  <a:pt x="111164" y="35879"/>
                </a:moveTo>
                <a:cubicBezTo>
                  <a:pt x="107898" y="39145"/>
                  <a:pt x="107898" y="44450"/>
                  <a:pt x="111164" y="47716"/>
                </a:cubicBezTo>
                <a:lnTo>
                  <a:pt x="130345" y="66897"/>
                </a:lnTo>
                <a:lnTo>
                  <a:pt x="111164" y="86078"/>
                </a:lnTo>
                <a:cubicBezTo>
                  <a:pt x="107898" y="89344"/>
                  <a:pt x="107898" y="94649"/>
                  <a:pt x="111164" y="97915"/>
                </a:cubicBezTo>
                <a:cubicBezTo>
                  <a:pt x="114431" y="101182"/>
                  <a:pt x="119735" y="101182"/>
                  <a:pt x="123002" y="97915"/>
                </a:cubicBezTo>
                <a:lnTo>
                  <a:pt x="148088" y="72829"/>
                </a:lnTo>
                <a:cubicBezTo>
                  <a:pt x="151355" y="69563"/>
                  <a:pt x="151355" y="64258"/>
                  <a:pt x="148088" y="60991"/>
                </a:cubicBezTo>
                <a:lnTo>
                  <a:pt x="123002" y="35905"/>
                </a:lnTo>
                <a:cubicBezTo>
                  <a:pt x="119735" y="32638"/>
                  <a:pt x="114431" y="32638"/>
                  <a:pt x="111164" y="35905"/>
                </a:cubicBezTo>
                <a:close/>
                <a:moveTo>
                  <a:pt x="39380" y="35879"/>
                </a:moveTo>
                <a:cubicBezTo>
                  <a:pt x="36114" y="32612"/>
                  <a:pt x="30809" y="32612"/>
                  <a:pt x="27543" y="35879"/>
                </a:cubicBezTo>
                <a:lnTo>
                  <a:pt x="2456" y="60965"/>
                </a:lnTo>
                <a:cubicBezTo>
                  <a:pt x="-810" y="64232"/>
                  <a:pt x="-810" y="69536"/>
                  <a:pt x="2456" y="72803"/>
                </a:cubicBezTo>
                <a:lnTo>
                  <a:pt x="27543" y="97889"/>
                </a:lnTo>
                <a:cubicBezTo>
                  <a:pt x="30809" y="101156"/>
                  <a:pt x="36114" y="101156"/>
                  <a:pt x="39380" y="97889"/>
                </a:cubicBezTo>
                <a:cubicBezTo>
                  <a:pt x="42647" y="94623"/>
                  <a:pt x="42647" y="89318"/>
                  <a:pt x="39380" y="86052"/>
                </a:cubicBezTo>
                <a:lnTo>
                  <a:pt x="20200" y="66897"/>
                </a:lnTo>
                <a:lnTo>
                  <a:pt x="39354" y="47716"/>
                </a:lnTo>
                <a:cubicBezTo>
                  <a:pt x="42621" y="44450"/>
                  <a:pt x="42621" y="39145"/>
                  <a:pt x="39354" y="35879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44" name="Text 42"/>
          <p:cNvSpPr/>
          <p:nvPr/>
        </p:nvSpPr>
        <p:spPr>
          <a:xfrm>
            <a:off x="6462994" y="4245983"/>
            <a:ext cx="5326683" cy="200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4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CDK Stack — ECS Fargate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95751" y="4513571"/>
            <a:ext cx="5301597" cy="1538634"/>
          </a:xfrm>
          <a:custGeom>
            <a:avLst/>
            <a:gdLst/>
            <a:ahLst/>
            <a:cxnLst/>
            <a:rect l="l" t="t" r="r" b="b"/>
            <a:pathLst>
              <a:path w="5301597" h="1538634">
                <a:moveTo>
                  <a:pt x="66900" y="0"/>
                </a:moveTo>
                <a:lnTo>
                  <a:pt x="5234697" y="0"/>
                </a:lnTo>
                <a:cubicBezTo>
                  <a:pt x="5271645" y="0"/>
                  <a:pt x="5301597" y="29952"/>
                  <a:pt x="5301597" y="66900"/>
                </a:cubicBezTo>
                <a:lnTo>
                  <a:pt x="5301597" y="1471734"/>
                </a:lnTo>
                <a:cubicBezTo>
                  <a:pt x="5301597" y="1508682"/>
                  <a:pt x="5271645" y="1538634"/>
                  <a:pt x="5234697" y="1538634"/>
                </a:cubicBezTo>
                <a:lnTo>
                  <a:pt x="66900" y="1538634"/>
                </a:lnTo>
                <a:cubicBezTo>
                  <a:pt x="29952" y="1538634"/>
                  <a:pt x="0" y="1508682"/>
                  <a:pt x="0" y="1471734"/>
                </a:cubicBezTo>
                <a:lnTo>
                  <a:pt x="0" y="66900"/>
                </a:lnTo>
                <a:cubicBezTo>
                  <a:pt x="0" y="29952"/>
                  <a:pt x="29952" y="0"/>
                  <a:pt x="669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46" name="Text 44"/>
          <p:cNvSpPr/>
          <p:nvPr/>
        </p:nvSpPr>
        <p:spPr>
          <a:xfrm>
            <a:off x="6396096" y="4613917"/>
            <a:ext cx="5151078" cy="5217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 taskDef = new ecs.FargateTaskDefinition(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this, 'TaskDef',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cpu: 16384,        // 16 vCPU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memoryLimitMiB: 32768,  // 32 GB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taskRole: inferenceTaskRole,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taskDef.addContainer('app',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image: ecs.ContainerImage.fromEcrRepository(repo),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portMappings: [{ containerPort: 8080 }],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logging: ecs.LogDrivers.awsLogs({...}),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environment: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INFERENCE_MODEL_BUCKET: modelBucket.bucketName,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},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stopTimeout: Duration.seconds(30),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healthCheck: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command: ['CMD-SHELL',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'curl -f http://localhost:8080/actuator/health/readiness'],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startPeriod: Duration.seconds(90),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},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 EFS for shared model cache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taskDef.addVolume({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name: 'efs-cache',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efsVolumeConfiguration: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fileSystemId: efsFilesystem.fileSystemId,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 service = new ecs.FargateService(this, 'Service',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cluster, taskDefinition: taskDef,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desiredCount: 2,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assignPublicIp: false,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deploymentController: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type: ecs.DeploymentControllerType.CODE_DEPLOY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},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circuitBreaker: { rollback: true },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9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95751" y="6121193"/>
            <a:ext cx="5427029" cy="267588"/>
          </a:xfrm>
          <a:custGeom>
            <a:avLst/>
            <a:gdLst/>
            <a:ahLst/>
            <a:cxnLst/>
            <a:rect l="l" t="t" r="r" b="b"/>
            <a:pathLst>
              <a:path w="5427029" h="267588">
                <a:moveTo>
                  <a:pt x="66897" y="0"/>
                </a:moveTo>
                <a:lnTo>
                  <a:pt x="5360132" y="0"/>
                </a:lnTo>
                <a:cubicBezTo>
                  <a:pt x="5397078" y="0"/>
                  <a:pt x="5427029" y="29951"/>
                  <a:pt x="5427029" y="66897"/>
                </a:cubicBezTo>
                <a:lnTo>
                  <a:pt x="5427029" y="200691"/>
                </a:lnTo>
                <a:cubicBezTo>
                  <a:pt x="5427029" y="237638"/>
                  <a:pt x="5397078" y="267588"/>
                  <a:pt x="5360132" y="267588"/>
                </a:cubicBezTo>
                <a:lnTo>
                  <a:pt x="66897" y="267588"/>
                </a:lnTo>
                <a:cubicBezTo>
                  <a:pt x="29951" y="267588"/>
                  <a:pt x="0" y="237638"/>
                  <a:pt x="0" y="200691"/>
                </a:cubicBezTo>
                <a:lnTo>
                  <a:pt x="0" y="66897"/>
                </a:lnTo>
                <a:cubicBezTo>
                  <a:pt x="0" y="29951"/>
                  <a:pt x="29951" y="0"/>
                  <a:pt x="66897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362648" y="6188090"/>
            <a:ext cx="5343407" cy="13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Features:</a:t>
            </a:r>
            <a:pPr>
              <a:lnSpc>
                <a:spcPct val="110000"/>
              </a:lnSpc>
            </a:pPr>
            <a:r>
              <a:rPr lang="en-US" sz="79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Blue/green deployment, auto-rollback, graceful shutdown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73e641c9ae51cedc7273f528891b8c7d38955e6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5556" r="5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365D">
                  <a:alpha val="95000"/>
                </a:srgbClr>
              </a:gs>
              <a:gs pos="50000">
                <a:srgbClr val="2B6CB0">
                  <a:alpha val="90000"/>
                </a:srgbClr>
              </a:gs>
              <a:gs pos="100000">
                <a:srgbClr val="4299E1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/ KEY DESIGN DECISIONS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Architectural Decisions &amp; Rationale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7" name="Shape 4"/>
          <p:cNvSpPr/>
          <p:nvPr/>
        </p:nvSpPr>
        <p:spPr>
          <a:xfrm>
            <a:off x="384810" y="1337310"/>
            <a:ext cx="3722370" cy="950595"/>
          </a:xfrm>
          <a:custGeom>
            <a:avLst/>
            <a:gdLst/>
            <a:ahLst/>
            <a:cxnLst/>
            <a:rect l="l" t="t" r="r" b="b"/>
            <a:pathLst>
              <a:path w="3722370" h="950595">
                <a:moveTo>
                  <a:pt x="76200" y="0"/>
                </a:moveTo>
                <a:lnTo>
                  <a:pt x="3646170" y="0"/>
                </a:lnTo>
                <a:cubicBezTo>
                  <a:pt x="3688254" y="0"/>
                  <a:pt x="3722370" y="34116"/>
                  <a:pt x="3722370" y="76200"/>
                </a:cubicBezTo>
                <a:lnTo>
                  <a:pt x="3722370" y="874395"/>
                </a:lnTo>
                <a:cubicBezTo>
                  <a:pt x="3722370" y="916479"/>
                  <a:pt x="3688254" y="950595"/>
                  <a:pt x="3646170" y="950595"/>
                </a:cubicBezTo>
                <a:lnTo>
                  <a:pt x="76200" y="950595"/>
                </a:lnTo>
                <a:cubicBezTo>
                  <a:pt x="34116" y="950595"/>
                  <a:pt x="0" y="916479"/>
                  <a:pt x="0" y="87439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455418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9" name="Text 6"/>
          <p:cNvSpPr/>
          <p:nvPr/>
        </p:nvSpPr>
        <p:spPr>
          <a:xfrm>
            <a:off x="469582" y="1455418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5820" y="1493518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Platform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1798318"/>
            <a:ext cx="3543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ECS Fargate c6i.4xlarge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16 vCPUs, linear scaling with ONNX, no EC2 management overhead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4810" y="2371731"/>
            <a:ext cx="3722370" cy="950595"/>
          </a:xfrm>
          <a:custGeom>
            <a:avLst/>
            <a:gdLst/>
            <a:ahLst/>
            <a:cxnLst/>
            <a:rect l="l" t="t" r="r" b="b"/>
            <a:pathLst>
              <a:path w="3722370" h="950595">
                <a:moveTo>
                  <a:pt x="76200" y="0"/>
                </a:moveTo>
                <a:lnTo>
                  <a:pt x="3646170" y="0"/>
                </a:lnTo>
                <a:cubicBezTo>
                  <a:pt x="3688254" y="0"/>
                  <a:pt x="3722370" y="34116"/>
                  <a:pt x="3722370" y="76200"/>
                </a:cubicBezTo>
                <a:lnTo>
                  <a:pt x="3722370" y="874395"/>
                </a:lnTo>
                <a:cubicBezTo>
                  <a:pt x="3722370" y="916479"/>
                  <a:pt x="3688254" y="950595"/>
                  <a:pt x="3646170" y="950595"/>
                </a:cubicBezTo>
                <a:lnTo>
                  <a:pt x="76200" y="950595"/>
                </a:lnTo>
                <a:cubicBezTo>
                  <a:pt x="34116" y="950595"/>
                  <a:pt x="0" y="916479"/>
                  <a:pt x="0" y="87439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248983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4" name="Text 11"/>
          <p:cNvSpPr/>
          <p:nvPr/>
        </p:nvSpPr>
        <p:spPr>
          <a:xfrm>
            <a:off x="469582" y="2489839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5820" y="2527939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ONNX Thread Allocation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2920" y="2832739"/>
            <a:ext cx="3543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intra-op=14, inter-op=2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14/16 vCPUs for inference, 2 reserved for Tomcat/GC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4810" y="3406142"/>
            <a:ext cx="3722370" cy="950595"/>
          </a:xfrm>
          <a:custGeom>
            <a:avLst/>
            <a:gdLst/>
            <a:ahLst/>
            <a:cxnLst/>
            <a:rect l="l" t="t" r="r" b="b"/>
            <a:pathLst>
              <a:path w="3722370" h="950595">
                <a:moveTo>
                  <a:pt x="76200" y="0"/>
                </a:moveTo>
                <a:lnTo>
                  <a:pt x="3646170" y="0"/>
                </a:lnTo>
                <a:cubicBezTo>
                  <a:pt x="3688254" y="0"/>
                  <a:pt x="3722370" y="34116"/>
                  <a:pt x="3722370" y="76200"/>
                </a:cubicBezTo>
                <a:lnTo>
                  <a:pt x="3722370" y="874395"/>
                </a:lnTo>
                <a:cubicBezTo>
                  <a:pt x="3722370" y="916479"/>
                  <a:pt x="3688254" y="950595"/>
                  <a:pt x="3646170" y="950595"/>
                </a:cubicBezTo>
                <a:lnTo>
                  <a:pt x="76200" y="950595"/>
                </a:lnTo>
                <a:cubicBezTo>
                  <a:pt x="34116" y="950595"/>
                  <a:pt x="0" y="916479"/>
                  <a:pt x="0" y="87439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35242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9" name="Text 16"/>
          <p:cNvSpPr/>
          <p:nvPr/>
        </p:nvSpPr>
        <p:spPr>
          <a:xfrm>
            <a:off x="469582" y="35242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5820" y="356235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Tomcat Configuration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02920" y="3867150"/>
            <a:ext cx="3543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 threads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appropriate for 16-core at 3,300 rps with ~1ms inference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4810" y="4440553"/>
            <a:ext cx="3722370" cy="950595"/>
          </a:xfrm>
          <a:custGeom>
            <a:avLst/>
            <a:gdLst/>
            <a:ahLst/>
            <a:cxnLst/>
            <a:rect l="l" t="t" r="r" b="b"/>
            <a:pathLst>
              <a:path w="3722370" h="950595">
                <a:moveTo>
                  <a:pt x="76200" y="0"/>
                </a:moveTo>
                <a:lnTo>
                  <a:pt x="3646170" y="0"/>
                </a:lnTo>
                <a:cubicBezTo>
                  <a:pt x="3688254" y="0"/>
                  <a:pt x="3722370" y="34116"/>
                  <a:pt x="3722370" y="76200"/>
                </a:cubicBezTo>
                <a:lnTo>
                  <a:pt x="3722370" y="874395"/>
                </a:lnTo>
                <a:cubicBezTo>
                  <a:pt x="3722370" y="916479"/>
                  <a:pt x="3688254" y="950595"/>
                  <a:pt x="3646170" y="950595"/>
                </a:cubicBezTo>
                <a:lnTo>
                  <a:pt x="76200" y="950595"/>
                </a:lnTo>
                <a:cubicBezTo>
                  <a:pt x="34116" y="950595"/>
                  <a:pt x="0" y="916479"/>
                  <a:pt x="0" y="87439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2920" y="4558671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4" name="Text 21"/>
          <p:cNvSpPr/>
          <p:nvPr/>
        </p:nvSpPr>
        <p:spPr>
          <a:xfrm>
            <a:off x="469582" y="4558671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45820" y="4596771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Configuration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02920" y="4901571"/>
            <a:ext cx="3543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SSM Parameter Store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swap version without redeployment, per-environment paths, CloudTrail audit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232910" y="1337310"/>
            <a:ext cx="3722370" cy="950595"/>
          </a:xfrm>
          <a:custGeom>
            <a:avLst/>
            <a:gdLst/>
            <a:ahLst/>
            <a:cxnLst/>
            <a:rect l="l" t="t" r="r" b="b"/>
            <a:pathLst>
              <a:path w="3722370" h="950595">
                <a:moveTo>
                  <a:pt x="76200" y="0"/>
                </a:moveTo>
                <a:lnTo>
                  <a:pt x="3646170" y="0"/>
                </a:lnTo>
                <a:cubicBezTo>
                  <a:pt x="3688254" y="0"/>
                  <a:pt x="3722370" y="34116"/>
                  <a:pt x="3722370" y="76200"/>
                </a:cubicBezTo>
                <a:lnTo>
                  <a:pt x="3722370" y="874395"/>
                </a:lnTo>
                <a:cubicBezTo>
                  <a:pt x="3722370" y="916479"/>
                  <a:pt x="3688254" y="950595"/>
                  <a:pt x="3646170" y="950595"/>
                </a:cubicBezTo>
                <a:lnTo>
                  <a:pt x="76200" y="950595"/>
                </a:lnTo>
                <a:cubicBezTo>
                  <a:pt x="34116" y="950595"/>
                  <a:pt x="0" y="916479"/>
                  <a:pt x="0" y="87439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51020" y="1455418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9" name="Text 26"/>
          <p:cNvSpPr/>
          <p:nvPr/>
        </p:nvSpPr>
        <p:spPr>
          <a:xfrm>
            <a:off x="4317683" y="1455418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693920" y="1493518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Storage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351020" y="1798318"/>
            <a:ext cx="3543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S3 + EFS shared cache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S3 as source of truth, EFS shared across tasks, download once use everywhere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232910" y="2371731"/>
            <a:ext cx="3722370" cy="950595"/>
          </a:xfrm>
          <a:custGeom>
            <a:avLst/>
            <a:gdLst/>
            <a:ahLst/>
            <a:cxnLst/>
            <a:rect l="l" t="t" r="r" b="b"/>
            <a:pathLst>
              <a:path w="3722370" h="950595">
                <a:moveTo>
                  <a:pt x="76200" y="0"/>
                </a:moveTo>
                <a:lnTo>
                  <a:pt x="3646170" y="0"/>
                </a:lnTo>
                <a:cubicBezTo>
                  <a:pt x="3688254" y="0"/>
                  <a:pt x="3722370" y="34116"/>
                  <a:pt x="3722370" y="76200"/>
                </a:cubicBezTo>
                <a:lnTo>
                  <a:pt x="3722370" y="874395"/>
                </a:lnTo>
                <a:cubicBezTo>
                  <a:pt x="3722370" y="916479"/>
                  <a:pt x="3688254" y="950595"/>
                  <a:pt x="3646170" y="950595"/>
                </a:cubicBezTo>
                <a:lnTo>
                  <a:pt x="76200" y="950595"/>
                </a:lnTo>
                <a:cubicBezTo>
                  <a:pt x="34116" y="950595"/>
                  <a:pt x="0" y="916479"/>
                  <a:pt x="0" y="87439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1020" y="248983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4" name="Text 31"/>
          <p:cNvSpPr/>
          <p:nvPr/>
        </p:nvSpPr>
        <p:spPr>
          <a:xfrm>
            <a:off x="4317683" y="2489839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693920" y="2527939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 Reload Trigger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351020" y="2832739"/>
            <a:ext cx="3543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S3 → EventBridge → Lambda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ML pipeline promotes by S3 write, Lambda fans out to all tasks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4232910" y="3406142"/>
            <a:ext cx="3722370" cy="950595"/>
          </a:xfrm>
          <a:custGeom>
            <a:avLst/>
            <a:gdLst/>
            <a:ahLst/>
            <a:cxnLst/>
            <a:rect l="l" t="t" r="r" b="b"/>
            <a:pathLst>
              <a:path w="3722370" h="950595">
                <a:moveTo>
                  <a:pt x="76200" y="0"/>
                </a:moveTo>
                <a:lnTo>
                  <a:pt x="3646170" y="0"/>
                </a:lnTo>
                <a:cubicBezTo>
                  <a:pt x="3688254" y="0"/>
                  <a:pt x="3722370" y="34116"/>
                  <a:pt x="3722370" y="76200"/>
                </a:cubicBezTo>
                <a:lnTo>
                  <a:pt x="3722370" y="874395"/>
                </a:lnTo>
                <a:cubicBezTo>
                  <a:pt x="3722370" y="916479"/>
                  <a:pt x="3688254" y="950595"/>
                  <a:pt x="3646170" y="950595"/>
                </a:cubicBezTo>
                <a:lnTo>
                  <a:pt x="76200" y="950595"/>
                </a:lnTo>
                <a:cubicBezTo>
                  <a:pt x="34116" y="950595"/>
                  <a:pt x="0" y="916479"/>
                  <a:pt x="0" y="87439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351020" y="35242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9" name="Text 36"/>
          <p:cNvSpPr/>
          <p:nvPr/>
        </p:nvSpPr>
        <p:spPr>
          <a:xfrm>
            <a:off x="4317683" y="35242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4693920" y="356235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Concurrency Safety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4351020" y="3867150"/>
            <a:ext cx="3543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ConcurrentHashMap + AtomicReference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lock-free reads, atomic swap for zero-downtime reload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4232910" y="4440553"/>
            <a:ext cx="3722370" cy="950595"/>
          </a:xfrm>
          <a:custGeom>
            <a:avLst/>
            <a:gdLst/>
            <a:ahLst/>
            <a:cxnLst/>
            <a:rect l="l" t="t" r="r" b="b"/>
            <a:pathLst>
              <a:path w="3722370" h="950595">
                <a:moveTo>
                  <a:pt x="76200" y="0"/>
                </a:moveTo>
                <a:lnTo>
                  <a:pt x="3646170" y="0"/>
                </a:lnTo>
                <a:cubicBezTo>
                  <a:pt x="3688254" y="0"/>
                  <a:pt x="3722370" y="34116"/>
                  <a:pt x="3722370" y="76200"/>
                </a:cubicBezTo>
                <a:lnTo>
                  <a:pt x="3722370" y="874395"/>
                </a:lnTo>
                <a:cubicBezTo>
                  <a:pt x="3722370" y="916479"/>
                  <a:pt x="3688254" y="950595"/>
                  <a:pt x="3646170" y="950595"/>
                </a:cubicBezTo>
                <a:lnTo>
                  <a:pt x="76200" y="950595"/>
                </a:lnTo>
                <a:cubicBezTo>
                  <a:pt x="34116" y="950595"/>
                  <a:pt x="0" y="916479"/>
                  <a:pt x="0" y="87439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351020" y="4558671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4" name="Text 41"/>
          <p:cNvSpPr/>
          <p:nvPr/>
        </p:nvSpPr>
        <p:spPr>
          <a:xfrm>
            <a:off x="4317683" y="4558671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4693920" y="4596771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Auto-Scaling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4351020" y="4901571"/>
            <a:ext cx="3543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60% + requests/target 3,000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headroom + inference-demand scaling, 30s scale-out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081010" y="1337310"/>
            <a:ext cx="3722370" cy="950595"/>
          </a:xfrm>
          <a:custGeom>
            <a:avLst/>
            <a:gdLst/>
            <a:ahLst/>
            <a:cxnLst/>
            <a:rect l="l" t="t" r="r" b="b"/>
            <a:pathLst>
              <a:path w="3722370" h="950595">
                <a:moveTo>
                  <a:pt x="76200" y="0"/>
                </a:moveTo>
                <a:lnTo>
                  <a:pt x="3646170" y="0"/>
                </a:lnTo>
                <a:cubicBezTo>
                  <a:pt x="3688254" y="0"/>
                  <a:pt x="3722370" y="34116"/>
                  <a:pt x="3722370" y="76200"/>
                </a:cubicBezTo>
                <a:lnTo>
                  <a:pt x="3722370" y="874395"/>
                </a:lnTo>
                <a:cubicBezTo>
                  <a:pt x="3722370" y="916479"/>
                  <a:pt x="3688254" y="950595"/>
                  <a:pt x="3646170" y="950595"/>
                </a:cubicBezTo>
                <a:lnTo>
                  <a:pt x="76200" y="950595"/>
                </a:lnTo>
                <a:cubicBezTo>
                  <a:pt x="34116" y="950595"/>
                  <a:pt x="0" y="916479"/>
                  <a:pt x="0" y="87439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199120" y="1455418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9" name="Text 46"/>
          <p:cNvSpPr/>
          <p:nvPr/>
        </p:nvSpPr>
        <p:spPr>
          <a:xfrm>
            <a:off x="8165782" y="1455418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8542020" y="1493518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Observability Stack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199120" y="1798318"/>
            <a:ext cx="3543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 + X-Ray + Prometheus → Grafana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ops alarms, trace debugging, business dashboards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081010" y="2371731"/>
            <a:ext cx="3722370" cy="950595"/>
          </a:xfrm>
          <a:custGeom>
            <a:avLst/>
            <a:gdLst/>
            <a:ahLst/>
            <a:cxnLst/>
            <a:rect l="l" t="t" r="r" b="b"/>
            <a:pathLst>
              <a:path w="3722370" h="950595">
                <a:moveTo>
                  <a:pt x="76200" y="0"/>
                </a:moveTo>
                <a:lnTo>
                  <a:pt x="3646170" y="0"/>
                </a:lnTo>
                <a:cubicBezTo>
                  <a:pt x="3688254" y="0"/>
                  <a:pt x="3722370" y="34116"/>
                  <a:pt x="3722370" y="76200"/>
                </a:cubicBezTo>
                <a:lnTo>
                  <a:pt x="3722370" y="874395"/>
                </a:lnTo>
                <a:cubicBezTo>
                  <a:pt x="3722370" y="916479"/>
                  <a:pt x="3688254" y="950595"/>
                  <a:pt x="3646170" y="950595"/>
                </a:cubicBezTo>
                <a:lnTo>
                  <a:pt x="76200" y="950595"/>
                </a:lnTo>
                <a:cubicBezTo>
                  <a:pt x="34116" y="950595"/>
                  <a:pt x="0" y="916479"/>
                  <a:pt x="0" y="87439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199120" y="248983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4" name="Text 51"/>
          <p:cNvSpPr/>
          <p:nvPr/>
        </p:nvSpPr>
        <p:spPr>
          <a:xfrm>
            <a:off x="8165782" y="2489839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8542020" y="2527939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Drift Detection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8199120" y="2832739"/>
            <a:ext cx="3543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PSI on 5,000-sample window, async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financial ML standard, zero inference latency impact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081010" y="3406142"/>
            <a:ext cx="3722370" cy="950595"/>
          </a:xfrm>
          <a:custGeom>
            <a:avLst/>
            <a:gdLst/>
            <a:ahLst/>
            <a:cxnLst/>
            <a:rect l="l" t="t" r="r" b="b"/>
            <a:pathLst>
              <a:path w="3722370" h="950595">
                <a:moveTo>
                  <a:pt x="76200" y="0"/>
                </a:moveTo>
                <a:lnTo>
                  <a:pt x="3646170" y="0"/>
                </a:lnTo>
                <a:cubicBezTo>
                  <a:pt x="3688254" y="0"/>
                  <a:pt x="3722370" y="34116"/>
                  <a:pt x="3722370" y="76200"/>
                </a:cubicBezTo>
                <a:lnTo>
                  <a:pt x="3722370" y="874395"/>
                </a:lnTo>
                <a:cubicBezTo>
                  <a:pt x="3722370" y="916479"/>
                  <a:pt x="3688254" y="950595"/>
                  <a:pt x="3646170" y="950595"/>
                </a:cubicBezTo>
                <a:lnTo>
                  <a:pt x="76200" y="950595"/>
                </a:lnTo>
                <a:cubicBezTo>
                  <a:pt x="34116" y="950595"/>
                  <a:pt x="0" y="916479"/>
                  <a:pt x="0" y="87439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199120" y="35242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9" name="Text 56"/>
          <p:cNvSpPr/>
          <p:nvPr/>
        </p:nvSpPr>
        <p:spPr>
          <a:xfrm>
            <a:off x="8165782" y="352425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8542020" y="3562350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8199120" y="3867150"/>
            <a:ext cx="3543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subnets, task IAM role, VPC endpoints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no public access, traffic never leaves AWS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8081010" y="4440553"/>
            <a:ext cx="3722370" cy="950595"/>
          </a:xfrm>
          <a:custGeom>
            <a:avLst/>
            <a:gdLst/>
            <a:ahLst/>
            <a:cxnLst/>
            <a:rect l="l" t="t" r="r" b="b"/>
            <a:pathLst>
              <a:path w="3722370" h="950595">
                <a:moveTo>
                  <a:pt x="76200" y="0"/>
                </a:moveTo>
                <a:lnTo>
                  <a:pt x="3646170" y="0"/>
                </a:lnTo>
                <a:cubicBezTo>
                  <a:pt x="3688254" y="0"/>
                  <a:pt x="3722370" y="34116"/>
                  <a:pt x="3722370" y="76200"/>
                </a:cubicBezTo>
                <a:lnTo>
                  <a:pt x="3722370" y="874395"/>
                </a:lnTo>
                <a:cubicBezTo>
                  <a:pt x="3722370" y="916479"/>
                  <a:pt x="3688254" y="950595"/>
                  <a:pt x="3646170" y="950595"/>
                </a:cubicBezTo>
                <a:lnTo>
                  <a:pt x="76200" y="950595"/>
                </a:lnTo>
                <a:cubicBezTo>
                  <a:pt x="34116" y="950595"/>
                  <a:pt x="0" y="916479"/>
                  <a:pt x="0" y="87439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199120" y="4558671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76199" y="0"/>
                </a:moveTo>
                <a:lnTo>
                  <a:pt x="190501" y="0"/>
                </a:lnTo>
                <a:cubicBezTo>
                  <a:pt x="232556" y="0"/>
                  <a:pt x="266700" y="34144"/>
                  <a:pt x="266700" y="76199"/>
                </a:cubicBezTo>
                <a:lnTo>
                  <a:pt x="266700" y="190501"/>
                </a:lnTo>
                <a:cubicBezTo>
                  <a:pt x="266700" y="232556"/>
                  <a:pt x="232556" y="266700"/>
                  <a:pt x="1905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4" name="Text 61"/>
          <p:cNvSpPr/>
          <p:nvPr/>
        </p:nvSpPr>
        <p:spPr>
          <a:xfrm>
            <a:off x="8165782" y="4558671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8542020" y="4596771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8199120" y="4901571"/>
            <a:ext cx="3543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b="1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CodeDeploy blue/green + circuit breaker</a:t>
            </a:r>
            <a:pPr>
              <a:lnSpc>
                <a:spcPct val="140000"/>
              </a:lnSpc>
            </a:pPr>
            <a:r>
              <a:rPr lang="en-US" sz="9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zero downtime, auto-rollback on health check failure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384810" y="5703574"/>
            <a:ext cx="11418570" cy="769620"/>
          </a:xfrm>
          <a:custGeom>
            <a:avLst/>
            <a:gdLst/>
            <a:ahLst/>
            <a:cxnLst/>
            <a:rect l="l" t="t" r="r" b="b"/>
            <a:pathLst>
              <a:path w="11418570" h="769620">
                <a:moveTo>
                  <a:pt x="76200" y="0"/>
                </a:moveTo>
                <a:lnTo>
                  <a:pt x="11342370" y="0"/>
                </a:lnTo>
                <a:cubicBezTo>
                  <a:pt x="11384454" y="0"/>
                  <a:pt x="11418570" y="34116"/>
                  <a:pt x="11418570" y="76200"/>
                </a:cubicBezTo>
                <a:lnTo>
                  <a:pt x="11418570" y="693420"/>
                </a:lnTo>
                <a:cubicBezTo>
                  <a:pt x="11418570" y="735504"/>
                  <a:pt x="11384454" y="769620"/>
                  <a:pt x="1134237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79120" y="594550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9" name="Text 66"/>
          <p:cNvSpPr/>
          <p:nvPr/>
        </p:nvSpPr>
        <p:spPr>
          <a:xfrm>
            <a:off x="1050608" y="5859782"/>
            <a:ext cx="431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Production-Ready ML Inference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1050608" y="6126482"/>
            <a:ext cx="4295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10,000+ rps at P99 &lt; 20ms | Auto-scaling | Zero-downtime deployments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10735152" y="5859903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66K rps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10792302" y="6164582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Maximum Scale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Inference Service — AWS-Native Architecture Design</dc:title>
  <dc:subject>ML Inference Service — AWS-Native Architecture Design</dc:subject>
  <dc:creator>Kimi</dc:creator>
  <cp:lastModifiedBy>Kimi</cp:lastModifiedBy>
  <cp:revision>1</cp:revision>
  <dcterms:created xsi:type="dcterms:W3CDTF">2026-03-26T13:01:47Z</dcterms:created>
  <dcterms:modified xsi:type="dcterms:W3CDTF">2026-03-26T13:01:47Z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{"Label":"ML Inference Service — AWS-Native Architecture Design","ContentProducer":"001191110108MACG2KBH8F10000","ProduceID":"19d2a2fa-cf02-8fa8-8000-0000a8801cbe","ReservedCode1":"","ContentPropagator":"001191110108MACG2KBH8F20000","PropagateID":"19d2a2fa-cf02-8fa8-8000-0000a8801cbe","ReservedCode2":""}</vt:lpwstr>
  </property>
</Properties>
</file>